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4" r:id="rId3"/>
    <p:sldId id="409" r:id="rId4"/>
    <p:sldId id="259" r:id="rId5"/>
    <p:sldId id="469" r:id="rId6"/>
    <p:sldId id="468" r:id="rId7"/>
    <p:sldId id="437" r:id="rId8"/>
    <p:sldId id="463" r:id="rId9"/>
    <p:sldId id="464" r:id="rId10"/>
    <p:sldId id="466" r:id="rId11"/>
    <p:sldId id="465" r:id="rId12"/>
    <p:sldId id="470" r:id="rId13"/>
    <p:sldId id="455" r:id="rId14"/>
    <p:sldId id="28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D750D8-680B-4CF7-8E2D-CE4C2363BC62}" type="datetimeFigureOut">
              <a:rPr lang="en-GB" smtClean="0"/>
              <a:t>28/01/2022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79DDD0-BAA7-475F-BCBF-ED2C7F95D3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2700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68359-9CDA-4D9F-8827-1F3A9208B6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2230D5-1814-4125-8E3F-9F722228E2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B0357-6938-4A26-A284-06F403A5A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DDEB5-D878-42A4-8315-7CE1CCF1BD1B}" type="datetime1">
              <a:rPr lang="en-GB" smtClean="0"/>
              <a:t>28/01/2022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095FF-1807-4AFA-9D8E-59DE7E052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4404A-0F22-4F31-99F8-6F57AFFC0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6547-234A-4271-BB97-B6C1DF6290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1984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B2A4B-4D4C-43BD-82C0-48037AF97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CA334-8DAF-4070-A715-2BE70EA90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89611-C875-429D-95B6-54E7AF212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4CBD3-1185-42F7-97CD-3D0681FCDA45}" type="datetime1">
              <a:rPr lang="en-GB" smtClean="0"/>
              <a:t>28/01/2022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7DEF0-977F-4E6F-BB2A-C8463A2E7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36480-C6DA-456E-B960-045CA35C2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6547-234A-4271-BB97-B6C1DF6290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7137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A9247-100F-4DDC-BA8B-76C833A4C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09D859-6711-485B-956E-3FAA00466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25ADF-C30D-44F6-8C19-9567FBD5E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0B417-FC5B-4D1B-99A2-BD36C2D4596E}" type="datetime1">
              <a:rPr lang="en-GB" smtClean="0"/>
              <a:t>28/01/2022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102C5-8D34-4CEE-9B2A-386C2A99B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E3EBC-D754-4731-9AD8-99DA815B1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6547-234A-4271-BB97-B6C1DF6290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8068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C5D0D-3E53-40A4-96BA-589CF70E9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ABB78-4259-49F4-A884-009101A208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FBE87D-0E33-49F0-AA32-B6F8C6E8A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49537A-EBD6-4022-91B6-E542C265E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7430-E0D0-410C-AA0D-2E2F810A2854}" type="datetime1">
              <a:rPr lang="en-GB" smtClean="0"/>
              <a:t>28/01/2022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ED304C-F0DF-4C2A-BC6B-94EF51BC1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9EE960-E1BB-4B3C-A722-DA274385A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6547-234A-4271-BB97-B6C1DF6290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7045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54AF5-3892-4954-81E0-6B2F36A02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6AED80-CB11-4386-8B73-AB5E9B4AA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B55364-E16A-4C41-BB66-986824254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B7DA5F-EEC4-46ED-94A1-3778CA8AF5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02D264-169E-48D4-85E8-1345E0D684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B92AB3-76EE-4F44-AE2F-62F24F878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3FFB7-7CDC-4CD6-BDB1-988650C9AC94}" type="datetime1">
              <a:rPr lang="en-GB" smtClean="0"/>
              <a:t>28/01/2022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62C8F-4E80-4FD9-96C2-54D96528A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B9AC67-CED3-4369-8ADC-0F7AA6F26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6547-234A-4271-BB97-B6C1DF6290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9119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FB99F-87CB-45A7-84B9-4219284D2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0AAFBA-A2AD-4858-8473-6578F48AA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E343F-E127-424A-8BFB-60E36BC394CA}" type="datetime1">
              <a:rPr lang="en-GB" smtClean="0"/>
              <a:t>28/01/2022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FEDAEA-3315-41BF-A5D4-9C4A183AE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8C039C-69F9-427E-9CAD-2988E5024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6547-234A-4271-BB97-B6C1DF6290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6334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7BB619-EFAB-424E-9702-3378677D8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D27B4-A7D8-4191-89E8-CEA5BC92DB9E}" type="datetime1">
              <a:rPr lang="en-GB" smtClean="0"/>
              <a:t>28/01/2022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102ADA-54AA-4B21-B576-9F62B8B7E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E34DD-53EC-4F4B-A3A2-92ACD6BF3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6547-234A-4271-BB97-B6C1DF6290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1492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FFD04-5FA9-43D6-9933-EE021C47B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B23E4-AD2B-486D-A7D4-94525234F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97934D-6D12-4EC5-A482-26E56ADE01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960404-A140-4311-8B08-1C8564EF3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DD0E0-1F10-47A8-9324-B62CF5322A71}" type="datetime1">
              <a:rPr lang="en-GB" smtClean="0"/>
              <a:t>28/01/2022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F64A99-185B-458D-9523-351ED7E80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365A3-5C03-4537-A79A-FA31A609E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6547-234A-4271-BB97-B6C1DF6290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3917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029AE-4F28-47B0-A79D-423AF4095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83DD1B-97D7-4DE3-96CA-457D2C5027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C3CF16-866D-4FBE-AB8B-67F0C95545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BFB27C-9421-464B-8D01-18970C62A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1EDD-E24D-425F-A420-ED01F035A647}" type="datetime1">
              <a:rPr lang="en-GB" smtClean="0"/>
              <a:t>28/01/2022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627397-CF4C-4BDC-B5C4-134DDE942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1C16B7-B8C6-4CF1-805D-9A560DB30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6547-234A-4271-BB97-B6C1DF6290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0495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FCA51-F303-4D9A-9750-0A67191FC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094A9A-793C-4A7F-9DC6-07ECECC008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80ADF-9346-4E4B-989B-CE2927746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7B5A6-A79C-4AC7-A1FF-30462E0477B1}" type="datetime1">
              <a:rPr lang="en-GB" smtClean="0"/>
              <a:t>28/01/2022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E18A25-14CE-43DD-823D-0DEDA60F8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F9193-9792-4A64-B16E-B36D5F10C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6547-234A-4271-BB97-B6C1DF6290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2627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F70C5E-A6F6-486C-A2EF-337AD04208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89D623-EFF0-4DDA-9F25-4C792B7363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12A18-17AE-48FC-8B45-05AAFED8B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2CC05-7FBC-489C-8301-A9CED623BDA9}" type="datetime1">
              <a:rPr lang="en-GB" smtClean="0"/>
              <a:t>28/01/2022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3D6FF-E39C-4650-9407-9FC7AD5E8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4DF3A-67A7-4F1B-96F6-E3BCCFCF0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6547-234A-4271-BB97-B6C1DF6290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07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363C5-9405-4F4F-80CB-65B62FC85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8B354-322A-4935-B68B-8B4D90365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BB565-897F-4D13-8475-8AC3A8D56E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228F2-20FC-47E0-A188-D08C94A51EAA}" type="datetime1">
              <a:rPr lang="en-GB" smtClean="0"/>
              <a:t>28/01/2022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5F368-681B-4229-8C2B-EF83E94342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D7946-E08F-4BCB-856E-109C265E0F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546547-234A-4271-BB97-B6C1DF6290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6815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media3.m4a"/><Relationship Id="rId2" Type="http://schemas.microsoft.com/office/2007/relationships/media" Target="../media/media3.m4a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image" Target="../media/image2.wmf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media4.m4a"/><Relationship Id="rId2" Type="http://schemas.microsoft.com/office/2007/relationships/media" Target="../media/media4.m4a"/><Relationship Id="rId1" Type="http://schemas.openxmlformats.org/officeDocument/2006/relationships/tags" Target="../tags/tag2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1.png"/><Relationship Id="rId4" Type="http://schemas.openxmlformats.org/officeDocument/2006/relationships/hyperlink" Target="about:blank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about:blank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2D780-8E65-4F98-9CCD-3EFFFC8822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Quantitative research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317E61-C5E7-4C7D-9141-A8666AFAFD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Data Collection</a:t>
            </a:r>
            <a:endParaRPr lang="en-GB" dirty="0"/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1FC18F5F-C9EB-4D3B-B9E8-F9F20F299EB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366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002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314"/>
    </mc:Choice>
    <mc:Fallback xmlns="">
      <p:transition spd="slow" advTm="11314"/>
    </mc:Fallback>
  </mc:AlternateContent>
  <p:timing>
    <p:tnLst>
      <p:par>
        <p:cTn id="1" dur="indefinite" restart="never" nodeType="tmRoot">
          <p:childTnLst>
            <p:audio isNarration="1">
              <p:cMediaNode vol="80000" showWhenStopped="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F4BEBF1-DDEE-4B62-9966-2CEF247A3FDA}"/>
              </a:ext>
            </a:extLst>
          </p:cNvPr>
          <p:cNvSpPr txBox="1"/>
          <p:nvPr/>
        </p:nvSpPr>
        <p:spPr>
          <a:xfrm>
            <a:off x="1006679" y="822121"/>
            <a:ext cx="958861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+mn-lt"/>
              </a:rPr>
              <a:t>The most common tool for gathering quantitative data is the questionnaire</a:t>
            </a:r>
          </a:p>
          <a:p>
            <a:endParaRPr lang="en-GB" sz="2800" dirty="0"/>
          </a:p>
          <a:p>
            <a:r>
              <a:rPr lang="en-GB" sz="2800" dirty="0"/>
              <a:t>See the video lecture ‘Questionnaires’</a:t>
            </a:r>
          </a:p>
        </p:txBody>
      </p:sp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B115CE15-28AB-46E7-961D-4251495EEFC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366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754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592"/>
    </mc:Choice>
    <mc:Fallback xmlns="">
      <p:transition spd="slow" advTm="29592"/>
    </mc:Fallback>
  </mc:AlternateContent>
  <p:timing>
    <p:tnLst>
      <p:par>
        <p:cTn id="1" dur="indefinite" restart="never" nodeType="tmRoot">
          <p:childTnLst>
            <p:audio isNarration="1">
              <p:cMediaNode vol="80000" showWhenStopped="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882775"/>
            <a:ext cx="8219256" cy="4572000"/>
          </a:xfrm>
        </p:spPr>
        <p:txBody>
          <a:bodyPr>
            <a:normAutofit/>
          </a:bodyPr>
          <a:lstStyle/>
          <a:p>
            <a:r>
              <a:rPr lang="en-US" sz="2400" b="1" dirty="0" err="1"/>
              <a:t>standardised</a:t>
            </a:r>
            <a:r>
              <a:rPr lang="en-US" sz="2400" b="1" dirty="0"/>
              <a:t> information </a:t>
            </a:r>
          </a:p>
          <a:p>
            <a:r>
              <a:rPr lang="en-US" sz="2400" dirty="0"/>
              <a:t>Appropriate when…</a:t>
            </a:r>
          </a:p>
          <a:p>
            <a:pPr lvl="1">
              <a:buFont typeface="Calibri" pitchFamily="34" charset="0"/>
              <a:buChar char="⁻"/>
            </a:pPr>
            <a:r>
              <a:rPr lang="en-US" b="1" dirty="0"/>
              <a:t>collecting data from many people</a:t>
            </a:r>
          </a:p>
          <a:p>
            <a:pPr lvl="1">
              <a:buFont typeface="Calibri" pitchFamily="34" charset="0"/>
              <a:buChar char="⁻"/>
            </a:pPr>
            <a:r>
              <a:rPr lang="en-US" b="1" dirty="0"/>
              <a:t>some understanding of the topic</a:t>
            </a:r>
          </a:p>
          <a:p>
            <a:pPr lvl="1">
              <a:buFont typeface="Calibri" pitchFamily="34" charset="0"/>
              <a:buChar char="⁻"/>
            </a:pPr>
            <a:r>
              <a:rPr lang="en-US" b="1" dirty="0"/>
              <a:t>sensitive topic or</a:t>
            </a:r>
            <a:endParaRPr lang="en-US" dirty="0"/>
          </a:p>
          <a:p>
            <a:pPr lvl="1">
              <a:buFont typeface="Calibri" pitchFamily="34" charset="0"/>
              <a:buChar char="⁻"/>
            </a:pPr>
            <a:r>
              <a:rPr lang="en-US" b="1" dirty="0"/>
              <a:t>specific topic, familiar to the respondents </a:t>
            </a:r>
          </a:p>
          <a:p>
            <a:endParaRPr lang="en-GB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2286000" y="692696"/>
            <a:ext cx="7057330" cy="88012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800" b="1" dirty="0">
                <a:solidFill>
                  <a:srgbClr val="FF0000"/>
                </a:solidFill>
                <a:latin typeface="+mn-lt"/>
              </a:rPr>
              <a:t>When/why use a questionnaire:</a:t>
            </a:r>
            <a:br>
              <a:rPr lang="en-GB" sz="2800" b="1" dirty="0">
                <a:solidFill>
                  <a:srgbClr val="FF0000"/>
                </a:solidFill>
                <a:latin typeface="+mn-lt"/>
              </a:rPr>
            </a:br>
            <a:endParaRPr lang="en-GB" sz="2800" b="1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5" name="Picture 7" descr="MCj00787110000[1]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3330" y="692696"/>
            <a:ext cx="1073150" cy="260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Audio 2">
            <a:hlinkClick r:id="" action="ppaction://media"/>
            <a:extLst>
              <a:ext uri="{FF2B5EF4-FFF2-40B4-BE49-F238E27FC236}">
                <a16:creationId xmlns:a16="http://schemas.microsoft.com/office/drawing/2014/main" id="{E022A9E2-7AEA-4859-BAEB-ECDC507A7B16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366500" y="60325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6758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2952"/>
    </mc:Choice>
    <mc:Fallback xmlns="">
      <p:transition spd="slow" advTm="202952"/>
    </mc:Fallback>
  </mc:AlternateContent>
  <p:timing>
    <p:tnLst>
      <p:par>
        <p:cTn id="1" dur="indefinite" restart="never" nodeType="tmRoot">
          <p:childTnLst>
            <p:audio isNarration="1">
              <p:cMediaNode vol="80000" showWhenStopped="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FD147E-B4A1-41C6-832F-9A65BE630B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4125" y="714375"/>
            <a:ext cx="8615188" cy="4647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 b="1" dirty="0">
                <a:solidFill>
                  <a:srgbClr val="FF0000"/>
                </a:solidFill>
                <a:latin typeface="+mn-lt"/>
                <a:ea typeface="+mj-ea"/>
                <a:cs typeface="+mj-cs"/>
              </a:rPr>
              <a:t>Designing a questionnaire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b="1" dirty="0">
                <a:solidFill>
                  <a:srgbClr val="0070C0"/>
                </a:solidFill>
                <a:latin typeface="+mn-lt"/>
              </a:rPr>
              <a:t>What and why</a:t>
            </a:r>
            <a:r>
              <a:rPr lang="en-GB" altLang="en-US" sz="2400" dirty="0">
                <a:latin typeface="+mn-lt"/>
              </a:rPr>
              <a:t> - decide on aims of the questionnaire, and on the information you need, linked to the aims of the research, before you frame the questions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b="1" dirty="0">
                <a:solidFill>
                  <a:srgbClr val="0070C0"/>
                </a:solidFill>
                <a:latin typeface="+mn-lt"/>
              </a:rPr>
              <a:t>Who</a:t>
            </a:r>
            <a:r>
              <a:rPr lang="en-GB" altLang="en-US" sz="2400" dirty="0">
                <a:latin typeface="+mn-lt"/>
              </a:rPr>
              <a:t> – decide on who you will design the questionnaire for - </a:t>
            </a:r>
            <a:r>
              <a:rPr lang="en-GB" altLang="en-US" sz="2400" dirty="0" err="1">
                <a:latin typeface="+mn-lt"/>
              </a:rPr>
              <a:t>eg</a:t>
            </a:r>
            <a:r>
              <a:rPr lang="en-GB" altLang="en-US" sz="2400" dirty="0">
                <a:latin typeface="+mn-lt"/>
              </a:rPr>
              <a:t> managers, employees, customers – this may affect the language you use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b="1" dirty="0">
                <a:solidFill>
                  <a:srgbClr val="0070C0"/>
                </a:solidFill>
                <a:latin typeface="+mn-lt"/>
              </a:rPr>
              <a:t>How</a:t>
            </a:r>
            <a:r>
              <a:rPr lang="en-GB" altLang="en-US" sz="2400" dirty="0">
                <a:latin typeface="+mn-lt"/>
              </a:rPr>
              <a:t> - decide on the method and the time frame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7C8A850F-D136-4D02-9FEC-5DF85C280ED8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366500" y="60325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40408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298"/>
    </mc:Choice>
    <mc:Fallback xmlns="">
      <p:transition spd="slow" advTm="69298"/>
    </mc:Fallback>
  </mc:AlternateContent>
  <p:timing>
    <p:tnLst>
      <p:par>
        <p:cTn id="1" dur="indefinite" restart="never" nodeType="tmRoot">
          <p:childTnLst>
            <p:audio isNarration="1">
              <p:cMediaNode vol="80000" showWhenStopped="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A41506-8213-4B27-82D9-6D7D47D07903}"/>
              </a:ext>
            </a:extLst>
          </p:cNvPr>
          <p:cNvSpPr txBox="1"/>
          <p:nvPr/>
        </p:nvSpPr>
        <p:spPr>
          <a:xfrm>
            <a:off x="1048624" y="713064"/>
            <a:ext cx="10008066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GB" altLang="en-US" sz="2800" b="1" dirty="0">
                <a:solidFill>
                  <a:srgbClr val="FF0000"/>
                </a:solidFill>
              </a:rPr>
              <a:t>Designing a questionnaire </a:t>
            </a:r>
          </a:p>
          <a:p>
            <a:pPr eaLnBrk="1" hangingPunct="1"/>
            <a:endParaRPr lang="en-GB" altLang="en-US" sz="2400" dirty="0"/>
          </a:p>
          <a:p>
            <a:pPr eaLnBrk="1" hangingPunct="1"/>
            <a:r>
              <a:rPr lang="en-GB" altLang="en-US" sz="2400" dirty="0"/>
              <a:t>Make sure the answers to the questionnaire will answer your research question</a:t>
            </a:r>
          </a:p>
          <a:p>
            <a:pPr eaLnBrk="1" hangingPunct="1"/>
            <a:endParaRPr lang="en-GB" altLang="en-US" sz="2400" dirty="0"/>
          </a:p>
          <a:p>
            <a:pPr eaLnBrk="1" hangingPunct="1"/>
            <a:r>
              <a:rPr lang="en-GB" altLang="en-US" sz="2400" dirty="0"/>
              <a:t>Where possible, justify your questions in relation to relevant literature</a:t>
            </a:r>
          </a:p>
          <a:p>
            <a:pPr eaLnBrk="1" hangingPunct="1"/>
            <a:endParaRPr lang="en-GB" altLang="en-US" sz="2400" dirty="0"/>
          </a:p>
          <a:p>
            <a:pPr eaLnBrk="1" hangingPunct="1"/>
            <a:r>
              <a:rPr lang="en-GB" altLang="en-US" sz="2400" dirty="0"/>
              <a:t>Provide clear instructions to respondents </a:t>
            </a:r>
          </a:p>
          <a:p>
            <a:pPr eaLnBrk="1" hangingPunct="1"/>
            <a:endParaRPr lang="en-GB" altLang="en-US" sz="2400" dirty="0"/>
          </a:p>
          <a:p>
            <a:pPr eaLnBrk="1" hangingPunct="1"/>
            <a:r>
              <a:rPr lang="en-GB" altLang="en-US" sz="2400" dirty="0"/>
              <a:t>Provide clear questions/statements that respondents can understand</a:t>
            </a:r>
          </a:p>
          <a:p>
            <a:pPr eaLnBrk="1" hangingPunct="1"/>
            <a:endParaRPr lang="en-GB" altLang="en-US" sz="2400" dirty="0"/>
          </a:p>
          <a:p>
            <a:pPr eaLnBrk="1" hangingPunct="1"/>
            <a:r>
              <a:rPr lang="en-GB" altLang="en-US" sz="2400" dirty="0"/>
              <a:t>Get advice from supervisor</a:t>
            </a:r>
          </a:p>
          <a:p>
            <a:pPr eaLnBrk="1" hangingPunct="1"/>
            <a:endParaRPr lang="en-GB" altLang="en-US" sz="2400" dirty="0"/>
          </a:p>
          <a:p>
            <a:pPr eaLnBrk="1" hangingPunct="1"/>
            <a:r>
              <a:rPr lang="en-GB" altLang="en-US" sz="2400" dirty="0"/>
              <a:t>Pre-test/pilot the questionnaire</a:t>
            </a:r>
          </a:p>
          <a:p>
            <a:pPr eaLnBrk="1" hangingPunct="1"/>
            <a:endParaRPr lang="en-GB" altLang="en-US" sz="2400" dirty="0"/>
          </a:p>
          <a:p>
            <a:endParaRPr lang="en-GB" dirty="0"/>
          </a:p>
        </p:txBody>
      </p:sp>
      <p:pic>
        <p:nvPicPr>
          <p:cNvPr id="3" name="Audio 2">
            <a:hlinkClick r:id="" action="ppaction://media"/>
            <a:extLst>
              <a:ext uri="{FF2B5EF4-FFF2-40B4-BE49-F238E27FC236}">
                <a16:creationId xmlns:a16="http://schemas.microsoft.com/office/drawing/2014/main" id="{F7CE4813-3761-449E-B35D-FC3E77AAEAC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366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20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1492"/>
    </mc:Choice>
    <mc:Fallback xmlns="">
      <p:transition spd="slow" advTm="91492"/>
    </mc:Fallback>
  </mc:AlternateContent>
  <p:timing>
    <p:tnLst>
      <p:par>
        <p:cTn id="1" dur="indefinite" restart="never" nodeType="tmRoot">
          <p:childTnLst>
            <p:audio isNarration="1">
              <p:cMediaNode vol="80000" showWhenStopped="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99BB15-A6F0-4B93-A22D-9A315BC55637}"/>
              </a:ext>
            </a:extLst>
          </p:cNvPr>
          <p:cNvSpPr txBox="1"/>
          <p:nvPr/>
        </p:nvSpPr>
        <p:spPr>
          <a:xfrm>
            <a:off x="998290" y="729842"/>
            <a:ext cx="9823508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Tips and techniques</a:t>
            </a:r>
          </a:p>
          <a:p>
            <a:endParaRPr lang="en-US" sz="2400" dirty="0"/>
          </a:p>
          <a:p>
            <a:r>
              <a:rPr lang="en-US" sz="2400" dirty="0"/>
              <a:t>See Gordon Aitken (2010) 10 Step Guide to Questionnaire Design, YouTube</a:t>
            </a:r>
          </a:p>
          <a:p>
            <a:endParaRPr lang="en-US" sz="2400" dirty="0"/>
          </a:p>
          <a:p>
            <a:r>
              <a:rPr lang="en-US" sz="2400" dirty="0">
                <a:cs typeface="Arial" pitchFamily="34" charset="0"/>
                <a:hlinkClick r:id="rId4"/>
              </a:rPr>
              <a:t>http://youtu.be/53mASVzGRF4</a:t>
            </a:r>
            <a:endParaRPr lang="en-US" sz="2400" dirty="0">
              <a:cs typeface="Arial" pitchFamily="34" charset="0"/>
            </a:endParaRPr>
          </a:p>
          <a:p>
            <a:r>
              <a:rPr lang="en-US" dirty="0"/>
              <a:t> </a:t>
            </a:r>
            <a:endParaRPr lang="en-GB" dirty="0"/>
          </a:p>
        </p:txBody>
      </p:sp>
      <p:pic>
        <p:nvPicPr>
          <p:cNvPr id="3" name="Audio 2">
            <a:hlinkClick r:id="" action="ppaction://media"/>
            <a:extLst>
              <a:ext uri="{FF2B5EF4-FFF2-40B4-BE49-F238E27FC236}">
                <a16:creationId xmlns:a16="http://schemas.microsoft.com/office/drawing/2014/main" id="{C9BB68CD-97C6-490A-9F17-4E8DBA79A95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366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555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726"/>
    </mc:Choice>
    <mc:Fallback xmlns="">
      <p:transition spd="slow" advTm="32726"/>
    </mc:Fallback>
  </mc:AlternateContent>
  <p:timing>
    <p:tnLst>
      <p:par>
        <p:cTn id="1" dur="indefinite" restart="never" nodeType="tmRoot">
          <p:childTnLst>
            <p:audio isNarration="1">
              <p:cMediaNode vol="80000" showWhenStopped="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8928" y="230705"/>
            <a:ext cx="9852870" cy="1524000"/>
          </a:xfrm>
        </p:spPr>
        <p:txBody>
          <a:bodyPr>
            <a:normAutofit/>
          </a:bodyPr>
          <a:lstStyle/>
          <a:p>
            <a:pPr algn="l"/>
            <a:r>
              <a:rPr lang="en-GB" sz="2800" b="1" dirty="0">
                <a:solidFill>
                  <a:srgbClr val="FF0000"/>
                </a:solidFill>
                <a:latin typeface="+mn-lt"/>
              </a:rPr>
              <a:t>Types of questions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48F023-E855-48DC-8B40-6DE7498ECA36}"/>
              </a:ext>
            </a:extLst>
          </p:cNvPr>
          <p:cNvSpPr txBox="1"/>
          <p:nvPr/>
        </p:nvSpPr>
        <p:spPr>
          <a:xfrm>
            <a:off x="1208015" y="2090172"/>
            <a:ext cx="880005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Common types:</a:t>
            </a:r>
          </a:p>
          <a:p>
            <a:endParaRPr lang="en-US" sz="2400" dirty="0"/>
          </a:p>
          <a:p>
            <a:r>
              <a:rPr lang="en-US" sz="2400" dirty="0"/>
              <a:t>Closed questions</a:t>
            </a:r>
          </a:p>
          <a:p>
            <a:endParaRPr lang="en-US" sz="2400" dirty="0"/>
          </a:p>
          <a:p>
            <a:r>
              <a:rPr lang="en-US" sz="2400" dirty="0"/>
              <a:t>Statements asking for response</a:t>
            </a:r>
          </a:p>
          <a:p>
            <a:endParaRPr lang="en-US" sz="2400" dirty="0"/>
          </a:p>
          <a:p>
            <a:r>
              <a:rPr lang="en-US" sz="2400" dirty="0"/>
              <a:t>Open questions</a:t>
            </a:r>
            <a:endParaRPr lang="en-GB" sz="2400" dirty="0"/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41FFD334-67A2-4596-8F9D-8AFE201FCF6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366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63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387"/>
    </mc:Choice>
    <mc:Fallback xmlns="">
      <p:transition spd="slow" advTm="56387"/>
    </mc:Fallback>
  </mc:AlternateContent>
  <p:timing>
    <p:tnLst>
      <p:par>
        <p:cTn id="1" dur="indefinite" restart="never" nodeType="tmRoot">
          <p:childTnLst>
            <p:audio isNarration="1">
              <p:cMediaNode vol="80000" showWhenStopped="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3C341-B84C-4BB7-AB44-90272DD4A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5894"/>
            <a:ext cx="10515600" cy="5791069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Closed questions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/>
              <a:t>How would you describe your </a:t>
            </a:r>
            <a:r>
              <a:rPr lang="en-US" sz="2400" dirty="0" err="1"/>
              <a:t>organisation’s</a:t>
            </a:r>
            <a:r>
              <a:rPr lang="en-US" sz="2400" dirty="0"/>
              <a:t> management of the 2020 change to online learning?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GB" sz="2400" dirty="0"/>
              <a:t>Very successful</a:t>
            </a:r>
          </a:p>
          <a:p>
            <a:pPr marL="0" indent="0">
              <a:buNone/>
            </a:pPr>
            <a:r>
              <a:rPr lang="en-GB" sz="2400" dirty="0"/>
              <a:t>Successful</a:t>
            </a:r>
          </a:p>
          <a:p>
            <a:pPr marL="0" indent="0">
              <a:buNone/>
            </a:pPr>
            <a:r>
              <a:rPr lang="en-GB" sz="2400" dirty="0"/>
              <a:t>Unsuccessful </a:t>
            </a:r>
          </a:p>
          <a:p>
            <a:pPr marL="0" indent="0">
              <a:buNone/>
            </a:pPr>
            <a:r>
              <a:rPr lang="en-GB" sz="2400" dirty="0"/>
              <a:t>Very unsuccessful 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4695E189-B9DA-4A0F-8C5D-5CD2562D492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366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480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647"/>
    </mc:Choice>
    <mc:Fallback xmlns="">
      <p:transition spd="slow" advTm="39647"/>
    </mc:Fallback>
  </mc:AlternateContent>
  <p:timing>
    <p:tnLst>
      <p:par>
        <p:cTn id="1" dur="indefinite" restart="never" nodeType="tmRoot">
          <p:childTnLst>
            <p:audio isNarration="1">
              <p:cMediaNode vol="80000" showWhenStopped="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3C341-B84C-4BB7-AB44-90272DD4A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5894"/>
            <a:ext cx="10515600" cy="57910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Statements and response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/>
              <a:t>My </a:t>
            </a:r>
            <a:r>
              <a:rPr lang="en-US" sz="2400" dirty="0" err="1"/>
              <a:t>organisation’s</a:t>
            </a:r>
            <a:r>
              <a:rPr lang="en-US" sz="2400" dirty="0"/>
              <a:t> management of the 2020 change to online learning was successful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GB" sz="2400" dirty="0"/>
              <a:t>Strongly agree</a:t>
            </a:r>
          </a:p>
          <a:p>
            <a:pPr marL="0" indent="0">
              <a:buNone/>
            </a:pPr>
            <a:r>
              <a:rPr lang="en-GB" sz="2400" dirty="0"/>
              <a:t>Agree</a:t>
            </a:r>
          </a:p>
          <a:p>
            <a:pPr marL="0" indent="0">
              <a:buNone/>
            </a:pPr>
            <a:r>
              <a:rPr lang="en-GB" sz="2400" dirty="0"/>
              <a:t>Neither agree nor disagree</a:t>
            </a:r>
          </a:p>
          <a:p>
            <a:pPr marL="0" indent="0">
              <a:buNone/>
            </a:pPr>
            <a:r>
              <a:rPr lang="en-GB" sz="2400" dirty="0"/>
              <a:t>Disagree</a:t>
            </a:r>
          </a:p>
          <a:p>
            <a:pPr marL="0" indent="0">
              <a:buNone/>
            </a:pPr>
            <a:r>
              <a:rPr lang="en-GB" sz="2400" dirty="0"/>
              <a:t>Strongly disagree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- a Likert scale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DB3AA7D5-1B68-4894-A6EE-91631AFB2C0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366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288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617"/>
    </mc:Choice>
    <mc:Fallback xmlns="">
      <p:transition spd="slow" advTm="90617"/>
    </mc:Fallback>
  </mc:AlternateContent>
  <p:timing>
    <p:tnLst>
      <p:par>
        <p:cTn id="1" dur="indefinite" restart="never" nodeType="tmRoot">
          <p:childTnLst>
            <p:audio isNarration="1">
              <p:cMediaNode vol="80000" showWhenStopped="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3C341-B84C-4BB7-AB44-90272DD4A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5894"/>
            <a:ext cx="10515600" cy="57910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Closed questions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/>
              <a:t>Which of the following methods did you personally use in the change to online learning in 2020 (tick all that apply): </a:t>
            </a:r>
          </a:p>
          <a:p>
            <a:pPr marL="0" indent="0">
              <a:buNone/>
            </a:pPr>
            <a:r>
              <a:rPr lang="en-GB" sz="2400" dirty="0"/>
              <a:t>Voice-over PowerPoint</a:t>
            </a:r>
          </a:p>
          <a:p>
            <a:pPr marL="0" indent="0">
              <a:buNone/>
            </a:pPr>
            <a:r>
              <a:rPr lang="en-GB" sz="2400" dirty="0"/>
              <a:t>Short videos of lectures made in the university</a:t>
            </a:r>
          </a:p>
          <a:p>
            <a:pPr marL="0" indent="0">
              <a:buNone/>
            </a:pPr>
            <a:r>
              <a:rPr lang="en-GB" sz="2400" dirty="0"/>
              <a:t>Video recordings of my own live lectures</a:t>
            </a:r>
          </a:p>
          <a:p>
            <a:pPr marL="0" indent="0">
              <a:buNone/>
            </a:pPr>
            <a:r>
              <a:rPr lang="en-GB" sz="2400" dirty="0"/>
              <a:t>Audio recordings of my own live lectures</a:t>
            </a:r>
          </a:p>
          <a:p>
            <a:pPr marL="0" indent="0">
              <a:buNone/>
            </a:pPr>
            <a:r>
              <a:rPr lang="en-GB" sz="2400" dirty="0"/>
              <a:t>Videos/audio recordings from elsewhere (</a:t>
            </a:r>
            <a:r>
              <a:rPr lang="en-GB" sz="2400" dirty="0" err="1"/>
              <a:t>eg</a:t>
            </a:r>
            <a:r>
              <a:rPr lang="en-GB" sz="2400" dirty="0"/>
              <a:t> YouTube)</a:t>
            </a:r>
          </a:p>
          <a:p>
            <a:pPr marL="0" indent="0">
              <a:buNone/>
            </a:pPr>
            <a:r>
              <a:rPr lang="en-GB" sz="2400" dirty="0"/>
              <a:t>Online forums for posting comments</a:t>
            </a:r>
          </a:p>
          <a:p>
            <a:pPr marL="0" indent="0">
              <a:buNone/>
            </a:pPr>
            <a:r>
              <a:rPr lang="en-GB" sz="2400" dirty="0"/>
              <a:t>Online live lectures</a:t>
            </a:r>
          </a:p>
          <a:p>
            <a:pPr marL="0" indent="0">
              <a:buNone/>
            </a:pPr>
            <a:r>
              <a:rPr lang="en-GB" sz="2400" dirty="0"/>
              <a:t>Online breakout groups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D9E840FA-3231-4700-B3AA-4608C8F5744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366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95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454"/>
    </mc:Choice>
    <mc:Fallback xmlns="">
      <p:transition spd="slow" advTm="43454"/>
    </mc:Fallback>
  </mc:AlternateContent>
  <p:timing>
    <p:tnLst>
      <p:par>
        <p:cTn id="1" dur="indefinite" restart="never" nodeType="tmRoot">
          <p:childTnLst>
            <p:audio isNarration="1">
              <p:cMediaNode vol="80000" showWhenStopped="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B471EEA-D4B3-43B4-B7C6-A360116AC050}"/>
              </a:ext>
            </a:extLst>
          </p:cNvPr>
          <p:cNvSpPr txBox="1"/>
          <p:nvPr/>
        </p:nvSpPr>
        <p:spPr>
          <a:xfrm>
            <a:off x="822121" y="578840"/>
            <a:ext cx="10603685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Open questions</a:t>
            </a:r>
          </a:p>
          <a:p>
            <a:endParaRPr lang="en-US" sz="2400" dirty="0"/>
          </a:p>
          <a:p>
            <a:r>
              <a:rPr lang="en-US" sz="2400" dirty="0"/>
              <a:t>Require the respondent to answer in their own words</a:t>
            </a:r>
          </a:p>
          <a:p>
            <a:endParaRPr lang="en-US" sz="2400" dirty="0"/>
          </a:p>
          <a:p>
            <a:r>
              <a:rPr lang="en-US" sz="2400" dirty="0"/>
              <a:t>What helped your organisation to make the change to online learning in 2020?</a:t>
            </a:r>
          </a:p>
          <a:p>
            <a:endParaRPr lang="en-US" sz="2400" dirty="0"/>
          </a:p>
          <a:p>
            <a:r>
              <a:rPr lang="en-US" sz="2400" b="1" i="1" dirty="0">
                <a:solidFill>
                  <a:srgbClr val="0000FF"/>
                </a:solidFill>
              </a:rPr>
              <a:t>Advantages</a:t>
            </a:r>
          </a:p>
          <a:p>
            <a:endParaRPr lang="en-US" sz="2400" dirty="0"/>
          </a:p>
          <a:p>
            <a:r>
              <a:rPr lang="en-GB" sz="2400" dirty="0"/>
              <a:t>Respondents may tell you something you might otherwise miss</a:t>
            </a:r>
          </a:p>
          <a:p>
            <a:endParaRPr lang="en-GB" sz="2400" dirty="0"/>
          </a:p>
          <a:p>
            <a:r>
              <a:rPr lang="en-GB" sz="2400" b="1" i="1" dirty="0">
                <a:solidFill>
                  <a:srgbClr val="0000FF"/>
                </a:solidFill>
              </a:rPr>
              <a:t>Disadvantages</a:t>
            </a:r>
          </a:p>
          <a:p>
            <a:endParaRPr lang="en-GB" sz="2400" dirty="0"/>
          </a:p>
          <a:p>
            <a:r>
              <a:rPr lang="en-GB" sz="2400" dirty="0"/>
              <a:t>Often difficult to quantify the answers</a:t>
            </a:r>
          </a:p>
          <a:p>
            <a:r>
              <a:rPr lang="en-GB" sz="2400" dirty="0"/>
              <a:t>Requires more effort from respondents</a:t>
            </a:r>
          </a:p>
        </p:txBody>
      </p:sp>
      <p:pic>
        <p:nvPicPr>
          <p:cNvPr id="3" name="Audio 2">
            <a:hlinkClick r:id="" action="ppaction://media"/>
            <a:extLst>
              <a:ext uri="{FF2B5EF4-FFF2-40B4-BE49-F238E27FC236}">
                <a16:creationId xmlns:a16="http://schemas.microsoft.com/office/drawing/2014/main" id="{CABECCC6-1323-4238-B1A0-8D4B9BF71FF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366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49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6868"/>
    </mc:Choice>
    <mc:Fallback xmlns="">
      <p:transition spd="slow" advTm="166868"/>
    </mc:Fallback>
  </mc:AlternateContent>
  <p:timing>
    <p:tnLst>
      <p:par>
        <p:cTn id="1" dur="indefinite" restart="never" nodeType="tmRoot">
          <p:childTnLst>
            <p:audio isNarration="1">
              <p:cMediaNode vol="80000" showWhenStopped="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3C341-B84C-4BB7-AB44-90272DD4A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5894"/>
            <a:ext cx="10515600" cy="57910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Closed questions plus open question</a:t>
            </a:r>
          </a:p>
          <a:p>
            <a:pPr marL="0" indent="0">
              <a:buNone/>
            </a:pPr>
            <a:r>
              <a:rPr lang="en-US" sz="2400" dirty="0"/>
              <a:t>Which of the following methods did you personally use in the change to online learning in 2020 (tick all that apply): </a:t>
            </a:r>
          </a:p>
          <a:p>
            <a:pPr marL="0" indent="0">
              <a:buNone/>
            </a:pPr>
            <a:r>
              <a:rPr lang="en-GB" sz="2400" dirty="0"/>
              <a:t>Voice-over PowerPoint</a:t>
            </a:r>
          </a:p>
          <a:p>
            <a:pPr marL="0" indent="0">
              <a:buNone/>
            </a:pPr>
            <a:r>
              <a:rPr lang="en-GB" sz="2400" dirty="0"/>
              <a:t>Short videos of lectures made in the university</a:t>
            </a:r>
          </a:p>
          <a:p>
            <a:pPr marL="0" indent="0">
              <a:buNone/>
            </a:pPr>
            <a:r>
              <a:rPr lang="en-GB" sz="2400" dirty="0"/>
              <a:t>Video recordings of my own live lectures</a:t>
            </a:r>
          </a:p>
          <a:p>
            <a:pPr marL="0" indent="0">
              <a:buNone/>
            </a:pPr>
            <a:r>
              <a:rPr lang="en-GB" sz="2400" dirty="0"/>
              <a:t>Audio recordings of my own live lectures</a:t>
            </a:r>
          </a:p>
          <a:p>
            <a:pPr marL="0" indent="0">
              <a:buNone/>
            </a:pPr>
            <a:r>
              <a:rPr lang="en-GB" sz="2400" dirty="0"/>
              <a:t>Videos/audio recordings from elsewhere (</a:t>
            </a:r>
            <a:r>
              <a:rPr lang="en-GB" sz="2400" dirty="0" err="1"/>
              <a:t>eg</a:t>
            </a:r>
            <a:r>
              <a:rPr lang="en-GB" sz="2400" dirty="0"/>
              <a:t> YouTube)</a:t>
            </a:r>
          </a:p>
          <a:p>
            <a:pPr marL="0" indent="0">
              <a:buNone/>
            </a:pPr>
            <a:r>
              <a:rPr lang="en-GB" sz="2400" dirty="0"/>
              <a:t>Online forums for posting comments</a:t>
            </a:r>
          </a:p>
          <a:p>
            <a:pPr marL="0" indent="0">
              <a:buNone/>
            </a:pPr>
            <a:r>
              <a:rPr lang="en-GB" sz="2400" dirty="0"/>
              <a:t>Online live lectures</a:t>
            </a:r>
          </a:p>
          <a:p>
            <a:pPr marL="0" indent="0">
              <a:buNone/>
            </a:pPr>
            <a:r>
              <a:rPr lang="en-GB" sz="2400" dirty="0"/>
              <a:t>Online breakout groups</a:t>
            </a:r>
          </a:p>
          <a:p>
            <a:pPr marL="0" indent="0">
              <a:buNone/>
            </a:pPr>
            <a:r>
              <a:rPr lang="en-GB" sz="2400" dirty="0">
                <a:highlight>
                  <a:srgbClr val="FFFF00"/>
                </a:highlight>
              </a:rPr>
              <a:t>Other (please specify)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FF027B68-584C-47A6-97E4-FDFA3F64A39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366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919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637"/>
    </mc:Choice>
    <mc:Fallback xmlns="">
      <p:transition spd="slow" advTm="60637"/>
    </mc:Fallback>
  </mc:AlternateContent>
  <p:timing>
    <p:tnLst>
      <p:par>
        <p:cTn id="1" dur="indefinite" restart="never" nodeType="tmRoot">
          <p:childTnLst>
            <p:audio isNarration="1">
              <p:cMediaNode vol="80000" showWhenStopped="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TextBox 2"/>
          <p:cNvSpPr txBox="1">
            <a:spLocks noChangeArrowheads="1"/>
          </p:cNvSpPr>
          <p:nvPr/>
        </p:nvSpPr>
        <p:spPr bwMode="auto">
          <a:xfrm>
            <a:off x="2051298" y="566053"/>
            <a:ext cx="8208962" cy="3570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 b="1" dirty="0">
                <a:solidFill>
                  <a:schemeClr val="accent1"/>
                </a:solidFill>
                <a:latin typeface="+mn-lt"/>
              </a:rPr>
              <a:t>Exercise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dirty="0">
                <a:latin typeface="+mn-lt"/>
              </a:rPr>
              <a:t>Look at the survey in EXERCISE 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+mn-lt"/>
              </a:rPr>
              <a:t>•	which questions do you think are good, and why?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+mn-lt"/>
              </a:rPr>
              <a:t>•	which questions are not so good? and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+mn-lt"/>
              </a:rPr>
              <a:t>•	how could they be improved?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 dirty="0">
              <a:latin typeface="Arial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 dirty="0">
              <a:latin typeface="Arial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 dirty="0">
              <a:latin typeface="Arial" charset="0"/>
            </a:endParaRPr>
          </a:p>
        </p:txBody>
      </p:sp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E58CC055-17D0-425E-9891-E79217C9C1A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366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65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262"/>
    </mc:Choice>
    <mc:Fallback xmlns="">
      <p:transition spd="slow" advTm="27262"/>
    </mc:Fallback>
  </mc:AlternateContent>
  <p:timing>
    <p:tnLst>
      <p:par>
        <p:cTn id="1" dur="indefinite" restart="never" nodeType="tmRoot">
          <p:childTnLst>
            <p:audio isNarration="1">
              <p:cMediaNode vol="80000" showWhenStopped="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07568" y="620689"/>
            <a:ext cx="7848872" cy="6252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Calibri" pitchFamily="34" charset="0"/>
              </a:rPr>
              <a:t>References and further reading:</a:t>
            </a:r>
          </a:p>
          <a:p>
            <a:endParaRPr lang="en-GB" dirty="0">
              <a:latin typeface="Calibri" pitchFamily="34" charset="0"/>
            </a:endParaRPr>
          </a:p>
          <a:p>
            <a:pPr marL="355600" indent="-355600"/>
            <a:r>
              <a:rPr lang="en-GB" sz="2000" dirty="0" err="1"/>
              <a:t>Lietz</a:t>
            </a:r>
            <a:r>
              <a:rPr lang="en-GB" sz="2000" dirty="0"/>
              <a:t>, P. (2010) Research into questionnaire design – a summary of the </a:t>
            </a:r>
          </a:p>
          <a:p>
            <a:pPr marL="355600" indent="-355600"/>
            <a:r>
              <a:rPr lang="en-GB" sz="2000" dirty="0"/>
              <a:t>literature. </a:t>
            </a:r>
            <a:r>
              <a:rPr lang="en-GB" sz="2000" i="1" dirty="0"/>
              <a:t>International Journal of Market Research,</a:t>
            </a:r>
            <a:r>
              <a:rPr lang="en-GB" sz="2000" dirty="0"/>
              <a:t> Vol.52, No.2, pp. 249-</a:t>
            </a:r>
          </a:p>
          <a:p>
            <a:pPr marL="355600" indent="-355600"/>
            <a:r>
              <a:rPr lang="en-GB" sz="2000" dirty="0"/>
              <a:t>272 </a:t>
            </a:r>
          </a:p>
          <a:p>
            <a:pPr marL="355600" indent="-355600"/>
            <a:r>
              <a:rPr lang="en-GB" sz="2000" dirty="0">
                <a:hlinkClick r:id="rId2"/>
              </a:rPr>
              <a:t>https://pdfs.semanticscholar.org/3c20/d5e328a5c538cb638dd46222f</a:t>
            </a:r>
          </a:p>
          <a:p>
            <a:pPr marL="355600" indent="-355600"/>
            <a:r>
              <a:rPr lang="en-GB" sz="2000" dirty="0">
                <a:hlinkClick r:id="rId2"/>
              </a:rPr>
              <a:t>8de18af4164.pdf</a:t>
            </a:r>
            <a:endParaRPr lang="en-GB" sz="2000" dirty="0"/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sz="20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O’Leary, Z. (2017) </a:t>
            </a:r>
            <a:r>
              <a:rPr lang="en-GB" sz="2000" i="1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The Essential Guide to doing your research project,</a:t>
            </a:r>
            <a:r>
              <a:rPr lang="en-GB" sz="20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Sage </a:t>
            </a:r>
            <a:r>
              <a:rPr lang="en-GB" sz="2000" dirty="0" err="1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ch</a:t>
            </a:r>
            <a:r>
              <a:rPr lang="en-GB" sz="20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12 ‘Primary Data: Surveys, Interviews and Observation’ pp. 223-262 </a:t>
            </a:r>
            <a:r>
              <a:rPr lang="en-GB" sz="2000" u="none" strike="noStrike" dirty="0">
                <a:solidFill>
                  <a:srgbClr val="0000F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https://contentstore.cla.co.uk/secure/link?id=f868be39-e00e-eb11-80cd-005056af4099</a:t>
            </a:r>
            <a:endParaRPr lang="en-GB" sz="2000" dirty="0"/>
          </a:p>
          <a:p>
            <a:pPr marL="355600" indent="-355600"/>
            <a:r>
              <a:rPr lang="en-GB" sz="2000" dirty="0"/>
              <a:t>Rowley, J. (2014) Designing and using research questionnaires, </a:t>
            </a:r>
          </a:p>
          <a:p>
            <a:pPr marL="355600" indent="-355600"/>
            <a:r>
              <a:rPr lang="en-GB" sz="2000" i="1" dirty="0"/>
              <a:t>Management Research Review,</a:t>
            </a:r>
            <a:r>
              <a:rPr lang="en-GB" sz="2000" dirty="0"/>
              <a:t> Vol. 37 </a:t>
            </a:r>
            <a:r>
              <a:rPr lang="en-GB" sz="2000" dirty="0" err="1"/>
              <a:t>Iss</a:t>
            </a:r>
            <a:r>
              <a:rPr lang="en-GB" sz="2000" dirty="0"/>
              <a:t> 3 pp. 308 – 330.</a:t>
            </a:r>
          </a:p>
          <a:p>
            <a:pPr marL="355600" indent="-355600"/>
            <a:endParaRPr lang="en-GB" sz="2000" dirty="0"/>
          </a:p>
          <a:p>
            <a:pPr marL="355600" indent="-355600"/>
            <a:r>
              <a:rPr lang="en-GB" sz="2000" dirty="0"/>
              <a:t>Saunders, M. N. K., Lewis, P. &amp; </a:t>
            </a:r>
            <a:r>
              <a:rPr lang="en-GB" sz="2000" dirty="0" err="1"/>
              <a:t>Thornhill</a:t>
            </a:r>
            <a:r>
              <a:rPr lang="en-GB" sz="2000" dirty="0"/>
              <a:t>, A. (2019), </a:t>
            </a:r>
            <a:r>
              <a:rPr lang="en-GB" sz="2000" i="1" dirty="0"/>
              <a:t>Research Methods for </a:t>
            </a:r>
          </a:p>
          <a:p>
            <a:pPr marL="355600" indent="-355600"/>
            <a:r>
              <a:rPr lang="en-GB" sz="2000" i="1" dirty="0"/>
              <a:t>Business Students, </a:t>
            </a:r>
            <a:r>
              <a:rPr lang="en-GB" sz="2000" dirty="0"/>
              <a:t>Prentice Hall.</a:t>
            </a:r>
          </a:p>
          <a:p>
            <a:pPr marL="355600" indent="-355600"/>
            <a:endParaRPr lang="en-GB" sz="2000" dirty="0"/>
          </a:p>
          <a:p>
            <a:pPr marL="355600" indent="-355600"/>
            <a:endParaRPr lang="en-GB" sz="1600" dirty="0">
              <a:latin typeface="Calibri" pitchFamily="34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0023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23"/>
    </mc:Choice>
    <mc:Fallback xmlns="">
      <p:transition spd="slow" advTm="8823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7|0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7|38.4|2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660</Words>
  <Application>Microsoft Office PowerPoint</Application>
  <PresentationFormat>Widescreen</PresentationFormat>
  <Paragraphs>124</Paragraphs>
  <Slides>14</Slides>
  <Notes>0</Notes>
  <HiddenSlides>0</HiddenSlides>
  <MMClips>13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Quantitative research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Types of 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Quantitative research</dc:title>
  <dc:creator>George Boak</dc:creator>
  <cp:lastModifiedBy>George Boak</cp:lastModifiedBy>
  <cp:revision>19</cp:revision>
  <dcterms:created xsi:type="dcterms:W3CDTF">2021-01-22T12:52:18Z</dcterms:created>
  <dcterms:modified xsi:type="dcterms:W3CDTF">2022-01-28T16:05:19Z</dcterms:modified>
</cp:coreProperties>
</file>