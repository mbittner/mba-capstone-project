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344" r:id="rId2"/>
    <p:sldId id="337" r:id="rId3"/>
    <p:sldId id="342" r:id="rId4"/>
    <p:sldId id="345" r:id="rId5"/>
    <p:sldId id="339" r:id="rId6"/>
    <p:sldId id="341" r:id="rId7"/>
    <p:sldId id="343" r:id="rId8"/>
    <p:sldId id="333" r:id="rId9"/>
    <p:sldId id="346" r:id="rId10"/>
    <p:sldId id="347" r:id="rId11"/>
    <p:sldId id="351" r:id="rId12"/>
    <p:sldId id="350" r:id="rId13"/>
  </p:sldIdLst>
  <p:sldSz cx="9144000" cy="6858000" type="screen4x3"/>
  <p:notesSz cx="6797675" cy="9872663"/>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sz="quarter" idx="1"/>
          </p:nvPr>
        </p:nvSpPr>
        <p:spPr>
          <a:xfrm>
            <a:off x="3849688" y="0"/>
            <a:ext cx="2946400" cy="493713"/>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3740E2E-0D47-4B64-833A-07E5B450F550}" type="datetimeFigureOut">
              <a:rPr lang="en-GB"/>
              <a:pPr>
                <a:defRPr/>
              </a:pPr>
              <a:t>14/01/2022</a:t>
            </a:fld>
            <a:endParaRPr lang="en-GB"/>
          </a:p>
        </p:txBody>
      </p:sp>
      <p:sp>
        <p:nvSpPr>
          <p:cNvPr id="4" name="Footer Placeholder 3"/>
          <p:cNvSpPr>
            <a:spLocks noGrp="1"/>
          </p:cNvSpPr>
          <p:nvPr>
            <p:ph type="ftr" sz="quarter" idx="2"/>
          </p:nvPr>
        </p:nvSpPr>
        <p:spPr>
          <a:xfrm>
            <a:off x="0" y="9377363"/>
            <a:ext cx="2946400" cy="493712"/>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5" name="Slide Number Placeholder 4"/>
          <p:cNvSpPr>
            <a:spLocks noGrp="1"/>
          </p:cNvSpPr>
          <p:nvPr>
            <p:ph type="sldNum" sz="quarter" idx="3"/>
          </p:nvPr>
        </p:nvSpPr>
        <p:spPr>
          <a:xfrm>
            <a:off x="3849688" y="9377363"/>
            <a:ext cx="2946400" cy="493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CCC8474-2EB7-4010-AC21-70D23FE159FE}" type="slidenum">
              <a:rPr lang="en-GB" altLang="en-US"/>
              <a:pPr/>
              <a:t>‹#›</a:t>
            </a:fld>
            <a:endParaRPr lang="en-GB" altLang="en-US"/>
          </a:p>
        </p:txBody>
      </p:sp>
    </p:spTree>
    <p:extLst>
      <p:ext uri="{BB962C8B-B14F-4D97-AF65-F5344CB8AC3E}">
        <p14:creationId xmlns:p14="http://schemas.microsoft.com/office/powerpoint/2010/main" val="3776964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idx="1"/>
          </p:nvPr>
        </p:nvSpPr>
        <p:spPr>
          <a:xfrm>
            <a:off x="3849688" y="0"/>
            <a:ext cx="2946400" cy="493713"/>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F3A5AE10-D5A3-4AE6-8072-0A95981F70E2}" type="datetimeFigureOut">
              <a:rPr lang="en-GB"/>
              <a:pPr>
                <a:defRPr/>
              </a:pPr>
              <a:t>14/01/2022</a:t>
            </a:fld>
            <a:endParaRPr lang="en-GB"/>
          </a:p>
        </p:txBody>
      </p:sp>
      <p:sp>
        <p:nvSpPr>
          <p:cNvPr id="4" name="Slide Image Placeholder 3"/>
          <p:cNvSpPr>
            <a:spLocks noGrp="1" noRot="1" noChangeAspect="1"/>
          </p:cNvSpPr>
          <p:nvPr>
            <p:ph type="sldImg" idx="2"/>
          </p:nvPr>
        </p:nvSpPr>
        <p:spPr>
          <a:xfrm>
            <a:off x="930275" y="739775"/>
            <a:ext cx="4937125" cy="3703638"/>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79450" y="4689475"/>
            <a:ext cx="5438775" cy="444341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377363"/>
            <a:ext cx="2946400" cy="493712"/>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7" name="Slide Number Placeholder 6"/>
          <p:cNvSpPr>
            <a:spLocks noGrp="1"/>
          </p:cNvSpPr>
          <p:nvPr>
            <p:ph type="sldNum" sz="quarter" idx="5"/>
          </p:nvPr>
        </p:nvSpPr>
        <p:spPr>
          <a:xfrm>
            <a:off x="3849688" y="9377363"/>
            <a:ext cx="2946400" cy="493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6769101-2905-4B1A-803C-C1D25B93C978}" type="slidenum">
              <a:rPr lang="en-GB" altLang="en-US"/>
              <a:pPr/>
              <a:t>‹#›</a:t>
            </a:fld>
            <a:endParaRPr lang="en-GB" altLang="en-US"/>
          </a:p>
        </p:txBody>
      </p:sp>
    </p:spTree>
    <p:extLst>
      <p:ext uri="{BB962C8B-B14F-4D97-AF65-F5344CB8AC3E}">
        <p14:creationId xmlns:p14="http://schemas.microsoft.com/office/powerpoint/2010/main" val="18643847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FB5E481A-81C3-4462-A911-72B62A2A126E}" type="datetime1">
              <a:rPr lang="en-GB" smtClean="0"/>
              <a:t>14/01/2022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2A4576AE-C419-4687-BD86-C4E4769199B9}" type="slidenum">
              <a:rPr lang="en-GB" altLang="en-US"/>
              <a:pPr/>
              <a:t>‹#›</a:t>
            </a:fld>
            <a:endParaRPr lang="en-GB" altLang="en-US"/>
          </a:p>
        </p:txBody>
      </p:sp>
    </p:spTree>
    <p:extLst>
      <p:ext uri="{BB962C8B-B14F-4D97-AF65-F5344CB8AC3E}">
        <p14:creationId xmlns:p14="http://schemas.microsoft.com/office/powerpoint/2010/main" val="3065366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B0C6B144-EBD0-430D-9607-2D5F4631F2C5}" type="datetime1">
              <a:rPr lang="en-GB" smtClean="0"/>
              <a:t>14/01/2022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B62D8863-6A9F-49A4-AD04-901E3D1F3A43}" type="slidenum">
              <a:rPr lang="en-GB" altLang="en-US"/>
              <a:pPr/>
              <a:t>‹#›</a:t>
            </a:fld>
            <a:endParaRPr lang="en-GB" altLang="en-US"/>
          </a:p>
        </p:txBody>
      </p:sp>
    </p:spTree>
    <p:extLst>
      <p:ext uri="{BB962C8B-B14F-4D97-AF65-F5344CB8AC3E}">
        <p14:creationId xmlns:p14="http://schemas.microsoft.com/office/powerpoint/2010/main" val="4126048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DADB42F-AC83-44CE-ABD3-71E9DB9821EE}" type="datetime1">
              <a:rPr lang="en-GB" smtClean="0"/>
              <a:t>14/01/2022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5C6079B1-5630-48A5-88EE-094B1F56D8CD}" type="slidenum">
              <a:rPr lang="en-GB" altLang="en-US"/>
              <a:pPr/>
              <a:t>‹#›</a:t>
            </a:fld>
            <a:endParaRPr lang="en-GB" altLang="en-US"/>
          </a:p>
        </p:txBody>
      </p:sp>
    </p:spTree>
    <p:extLst>
      <p:ext uri="{BB962C8B-B14F-4D97-AF65-F5344CB8AC3E}">
        <p14:creationId xmlns:p14="http://schemas.microsoft.com/office/powerpoint/2010/main" val="4283395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5BFE8D41-DF20-4C19-BD78-4AE61E338E9B}" type="datetime1">
              <a:rPr lang="en-GB" smtClean="0"/>
              <a:t>14/01/2022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fld id="{A5CA94D0-69E4-41B3-8DD0-BE697F5ECF25}" type="slidenum">
              <a:rPr lang="en-GB" altLang="en-US"/>
              <a:pPr/>
              <a:t>‹#›</a:t>
            </a:fld>
            <a:endParaRPr lang="en-GB" altLang="en-US"/>
          </a:p>
        </p:txBody>
      </p:sp>
    </p:spTree>
    <p:extLst>
      <p:ext uri="{BB962C8B-B14F-4D97-AF65-F5344CB8AC3E}">
        <p14:creationId xmlns:p14="http://schemas.microsoft.com/office/powerpoint/2010/main" val="2155958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147FC004-4B53-4A27-85C3-40B4FDAB7E3A}" type="datetime1">
              <a:rPr lang="en-GB" smtClean="0"/>
              <a:t>14/01/2022</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fld id="{16D08027-BD00-4F5D-BBE1-B6F91C5BCBB4}" type="slidenum">
              <a:rPr lang="en-GB" altLang="en-US"/>
              <a:pPr/>
              <a:t>‹#›</a:t>
            </a:fld>
            <a:endParaRPr lang="en-GB" altLang="en-US"/>
          </a:p>
        </p:txBody>
      </p:sp>
    </p:spTree>
    <p:extLst>
      <p:ext uri="{BB962C8B-B14F-4D97-AF65-F5344CB8AC3E}">
        <p14:creationId xmlns:p14="http://schemas.microsoft.com/office/powerpoint/2010/main" val="352058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A790B030-B4C2-4F0C-939A-4F1C43AF91A3}" type="datetime1">
              <a:rPr lang="en-GB" smtClean="0"/>
              <a:t>14/01/2022</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fld id="{030DFD90-2823-46F7-8BB3-6377BFE42B1B}" type="slidenum">
              <a:rPr lang="en-GB" altLang="en-US"/>
              <a:pPr/>
              <a:t>‹#›</a:t>
            </a:fld>
            <a:endParaRPr lang="en-GB" altLang="en-US"/>
          </a:p>
        </p:txBody>
      </p:sp>
    </p:spTree>
    <p:extLst>
      <p:ext uri="{BB962C8B-B14F-4D97-AF65-F5344CB8AC3E}">
        <p14:creationId xmlns:p14="http://schemas.microsoft.com/office/powerpoint/2010/main" val="3183325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5BB782A-00FE-4C79-8D8E-B4A8FECB8C6C}" type="datetime1">
              <a:rPr lang="en-GB" smtClean="0"/>
              <a:t>14/01/2022</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fld id="{C8F000D1-42BF-40A9-A109-8D15E82D9F48}" type="slidenum">
              <a:rPr lang="en-GB" altLang="en-US"/>
              <a:pPr/>
              <a:t>‹#›</a:t>
            </a:fld>
            <a:endParaRPr lang="en-GB" altLang="en-US"/>
          </a:p>
        </p:txBody>
      </p:sp>
    </p:spTree>
    <p:extLst>
      <p:ext uri="{BB962C8B-B14F-4D97-AF65-F5344CB8AC3E}">
        <p14:creationId xmlns:p14="http://schemas.microsoft.com/office/powerpoint/2010/main" val="401292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448A63-7575-4888-AD6F-B2AF8510DF2F}" type="datetime1">
              <a:rPr lang="en-GB" smtClean="0"/>
              <a:t>14/01/2022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fld id="{69E96582-AC96-4735-B4AD-B8C5186C37E8}" type="slidenum">
              <a:rPr lang="en-GB" altLang="en-US"/>
              <a:pPr/>
              <a:t>‹#›</a:t>
            </a:fld>
            <a:endParaRPr lang="en-GB" altLang="en-US"/>
          </a:p>
        </p:txBody>
      </p:sp>
    </p:spTree>
    <p:extLst>
      <p:ext uri="{BB962C8B-B14F-4D97-AF65-F5344CB8AC3E}">
        <p14:creationId xmlns:p14="http://schemas.microsoft.com/office/powerpoint/2010/main" val="82615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7652426-A875-466B-869A-11F8769592F0}" type="datetime1">
              <a:rPr lang="en-GB" smtClean="0"/>
              <a:t>14/01/2022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fld id="{D3711426-7F96-4C09-B7DC-B67E376BFEE6}" type="slidenum">
              <a:rPr lang="en-GB" altLang="en-US"/>
              <a:pPr/>
              <a:t>‹#›</a:t>
            </a:fld>
            <a:endParaRPr lang="en-GB" altLang="en-US"/>
          </a:p>
        </p:txBody>
      </p:sp>
    </p:spTree>
    <p:extLst>
      <p:ext uri="{BB962C8B-B14F-4D97-AF65-F5344CB8AC3E}">
        <p14:creationId xmlns:p14="http://schemas.microsoft.com/office/powerpoint/2010/main" val="1216385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1A8570B6-D96B-4B69-8AB4-B3BD7FA77D1C}" type="datetime1">
              <a:rPr lang="en-GB" smtClean="0"/>
              <a:t>14/01/2022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559DFD36-3AE4-4317-A3C9-62C67CB60813}" type="slidenum">
              <a:rPr lang="en-GB" altLang="en-US"/>
              <a:pPr/>
              <a:t>‹#›</a:t>
            </a:fld>
            <a:endParaRPr lang="en-GB" altLang="en-US"/>
          </a:p>
        </p:txBody>
      </p:sp>
    </p:spTree>
    <p:extLst>
      <p:ext uri="{BB962C8B-B14F-4D97-AF65-F5344CB8AC3E}">
        <p14:creationId xmlns:p14="http://schemas.microsoft.com/office/powerpoint/2010/main" val="206450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CD3BDDCF-C193-4D79-BF33-F2AE440188AD}" type="datetime1">
              <a:rPr lang="en-GB" smtClean="0"/>
              <a:t>14/01/2022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E1230E4F-199E-4631-8CF3-FA6996B5114F}" type="slidenum">
              <a:rPr lang="en-GB" altLang="en-US"/>
              <a:pPr/>
              <a:t>‹#›</a:t>
            </a:fld>
            <a:endParaRPr lang="en-GB" altLang="en-US"/>
          </a:p>
        </p:txBody>
      </p:sp>
    </p:spTree>
    <p:extLst>
      <p:ext uri="{BB962C8B-B14F-4D97-AF65-F5344CB8AC3E}">
        <p14:creationId xmlns:p14="http://schemas.microsoft.com/office/powerpoint/2010/main" val="285569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cs typeface="+mn-cs"/>
              </a:defRPr>
            </a:lvl1pPr>
          </a:lstStyle>
          <a:p>
            <a:pPr>
              <a:defRPr/>
            </a:pPr>
            <a:fld id="{39086B32-1C84-4AC7-97B3-C33C8E1DEC8E}" type="datetime1">
              <a:rPr lang="en-GB" smtClean="0"/>
              <a:t>14/01/2022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smtClean="0">
                <a:solidFill>
                  <a:schemeClr val="tx1">
                    <a:tint val="75000"/>
                  </a:schemeClr>
                </a:solidFill>
                <a:latin typeface="+mn-lt"/>
                <a:cs typeface="+mn-cs"/>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BADB2951-372E-4B0D-BF2C-DE7E75C9EB1B}"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tLang="en-US" sz="3200" b="1">
                <a:solidFill>
                  <a:srgbClr val="FF0000"/>
                </a:solidFill>
              </a:rPr>
              <a:t>Analysing qualitative data</a:t>
            </a:r>
            <a:endParaRPr lang="en-GB" sz="3200" b="1">
              <a:solidFill>
                <a:srgbClr val="FF0000"/>
              </a:solidFill>
            </a:endParaRPr>
          </a:p>
        </p:txBody>
      </p:sp>
      <p:sp>
        <p:nvSpPr>
          <p:cNvPr id="3" name="Subtitle 2"/>
          <p:cNvSpPr>
            <a:spLocks noGrp="1"/>
          </p:cNvSpPr>
          <p:nvPr>
            <p:ph type="subTitle" idx="1"/>
          </p:nvPr>
        </p:nvSpPr>
        <p:spPr/>
        <p:txBody>
          <a:bodyPr/>
          <a:lstStyle/>
          <a:p>
            <a:r>
              <a:rPr lang="en-GB" altLang="en-US">
                <a:solidFill>
                  <a:schemeClr val="tx1"/>
                </a:solidFill>
              </a:rPr>
              <a:t>The leadership case study</a:t>
            </a:r>
            <a:endParaRPr lang="en-GB">
              <a:solidFill>
                <a:schemeClr val="tx1"/>
              </a:solidFill>
            </a:endParaRPr>
          </a:p>
        </p:txBody>
      </p:sp>
    </p:spTree>
    <p:extLst>
      <p:ext uri="{BB962C8B-B14F-4D97-AF65-F5344CB8AC3E}">
        <p14:creationId xmlns:p14="http://schemas.microsoft.com/office/powerpoint/2010/main" val="4037522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4"/>
          <p:cNvSpPr txBox="1">
            <a:spLocks noChangeArrowheads="1"/>
          </p:cNvSpPr>
          <p:nvPr/>
        </p:nvSpPr>
        <p:spPr bwMode="auto">
          <a:xfrm>
            <a:off x="684213" y="549275"/>
            <a:ext cx="799147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GB" altLang="en-US" sz="2400" dirty="0">
                <a:latin typeface="+mn-lt"/>
              </a:rPr>
              <a:t>You have been researching leadership in voluntary organisations, and you have recently interviewed Dorothy Edwards, who was recommended to you as a highly effective first line manager.</a:t>
            </a:r>
          </a:p>
          <a:p>
            <a:endParaRPr lang="en-GB" altLang="en-US" sz="2400" dirty="0">
              <a:latin typeface="+mn-lt"/>
            </a:endParaRPr>
          </a:p>
          <a:p>
            <a:r>
              <a:rPr lang="en-GB" altLang="en-US" sz="2400" dirty="0">
                <a:latin typeface="+mn-lt"/>
              </a:rPr>
              <a:t>She gave you an account of how she goes about working with her 'SWAT' team of temporary </a:t>
            </a:r>
            <a:r>
              <a:rPr lang="en-GB" altLang="en-US" sz="2400">
                <a:latin typeface="+mn-lt"/>
              </a:rPr>
              <a:t>workers.</a:t>
            </a:r>
          </a:p>
          <a:p>
            <a:endParaRPr lang="en-GB" altLang="en-US" sz="2400">
              <a:latin typeface="+mn-lt"/>
            </a:endParaRPr>
          </a:p>
          <a:p>
            <a:r>
              <a:rPr lang="en-GB" sz="2400">
                <a:latin typeface="+mn-lt"/>
              </a:rPr>
              <a:t>Analyse this extract from the interview: what behaviours, skills and attitudes does Dorothy demonstrate in her account of how she works with her ‘SWAT team’?</a:t>
            </a:r>
          </a:p>
          <a:p>
            <a:endParaRPr lang="en-GB" altLang="en-US" sz="2400"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620688"/>
            <a:ext cx="7416824" cy="3416320"/>
          </a:xfrm>
          <a:prstGeom prst="rect">
            <a:avLst/>
          </a:prstGeom>
          <a:noFill/>
        </p:spPr>
        <p:txBody>
          <a:bodyPr wrap="square" rtlCol="0">
            <a:spAutoFit/>
          </a:bodyPr>
          <a:lstStyle/>
          <a:p>
            <a:r>
              <a:rPr lang="en-GB" sz="2400">
                <a:latin typeface="+mn-lt"/>
              </a:rPr>
              <a:t>Initial coding means identifying the meaning in a specific piece of information</a:t>
            </a:r>
          </a:p>
          <a:p>
            <a:endParaRPr lang="en-GB" sz="2400">
              <a:latin typeface="+mn-lt"/>
            </a:endParaRPr>
          </a:p>
          <a:p>
            <a:r>
              <a:rPr lang="en-GB" sz="2400">
                <a:latin typeface="+mn-lt"/>
              </a:rPr>
              <a:t>When you come to write up your analysis, you need to show your codes/themes and give examples of the original information on which you have based them</a:t>
            </a:r>
          </a:p>
          <a:p>
            <a:endParaRPr lang="en-GB" sz="2400">
              <a:latin typeface="+mn-lt"/>
            </a:endParaRPr>
          </a:p>
          <a:p>
            <a:r>
              <a:rPr lang="en-GB" sz="2400">
                <a:latin typeface="+mn-lt"/>
              </a:rPr>
              <a:t>This is your evidence that these codes/themes actually exist in the information</a:t>
            </a:r>
          </a:p>
        </p:txBody>
      </p:sp>
    </p:spTree>
    <p:extLst>
      <p:ext uri="{BB962C8B-B14F-4D97-AF65-F5344CB8AC3E}">
        <p14:creationId xmlns:p14="http://schemas.microsoft.com/office/powerpoint/2010/main" val="5549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928688" y="1214438"/>
            <a:ext cx="7500937"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GB" altLang="en-US" sz="2400" dirty="0">
                <a:latin typeface="+mn-lt"/>
              </a:rPr>
              <a:t>I usually begin by talking about [the charity], where it has come from, what it has done for needy people... I also usually have someone who has benefited from our services speak with the group, someone with a very personal story who doesn’t mind sharing. ... There are not many dry eyes by this time in the workshop.  Finally, I tell them what I hope the warehouse will look like in 8 weeks...</a:t>
            </a:r>
          </a:p>
          <a:p>
            <a:pPr eaLnBrk="1" hangingPunct="1">
              <a:spcBef>
                <a:spcPct val="0"/>
              </a:spcBef>
              <a:buFontTx/>
              <a:buNone/>
              <a:defRPr/>
            </a:pPr>
            <a:endParaRPr lang="en-GB" altLang="en-US" sz="2400" dirty="0">
              <a:latin typeface="+mn-lt"/>
            </a:endParaRPr>
          </a:p>
          <a:p>
            <a:pPr eaLnBrk="1" hangingPunct="1">
              <a:spcBef>
                <a:spcPct val="0"/>
              </a:spcBef>
              <a:buFontTx/>
              <a:buNone/>
              <a:defRPr/>
            </a:pPr>
            <a:r>
              <a:rPr lang="en-GB" altLang="en-US" sz="2400" b="1" dirty="0">
                <a:solidFill>
                  <a:srgbClr val="0033CC"/>
                </a:solidFill>
                <a:latin typeface="+mn-lt"/>
              </a:rPr>
              <a:t>Placing people's work in the context of the wider social purpose of the organisation</a:t>
            </a:r>
          </a:p>
          <a:p>
            <a:pPr eaLnBrk="1" hangingPunct="1">
              <a:spcBef>
                <a:spcPct val="0"/>
              </a:spcBef>
              <a:buFontTx/>
              <a:buNone/>
              <a:defRPr/>
            </a:pPr>
            <a:endParaRPr lang="en-GB" altLang="en-US" sz="2400" b="1" dirty="0">
              <a:solidFill>
                <a:srgbClr val="0033CC"/>
              </a:solidFill>
              <a:latin typeface="+mn-lt"/>
            </a:endParaRPr>
          </a:p>
          <a:p>
            <a:pPr eaLnBrk="1" hangingPunct="1">
              <a:spcBef>
                <a:spcPct val="0"/>
              </a:spcBef>
              <a:buFontTx/>
              <a:buNone/>
              <a:defRPr/>
            </a:pPr>
            <a:r>
              <a:rPr lang="en-GB" altLang="en-US" sz="2400" b="1" dirty="0">
                <a:solidFill>
                  <a:srgbClr val="0033CC"/>
                </a:solidFill>
                <a:latin typeface="+mn-lt"/>
              </a:rPr>
              <a:t>Communicating a vision</a:t>
            </a:r>
          </a:p>
          <a:p>
            <a:pPr eaLnBrk="1" hangingPunct="1">
              <a:spcBef>
                <a:spcPct val="0"/>
              </a:spcBef>
              <a:buFontTx/>
              <a:buNone/>
              <a:defRPr/>
            </a:pPr>
            <a:endParaRPr lang="en-GB" altLang="en-US" sz="2400" dirty="0">
              <a:latin typeface="+mn-lt"/>
            </a:endParaRPr>
          </a:p>
          <a:p>
            <a:pPr eaLnBrk="1" hangingPunct="1">
              <a:spcBef>
                <a:spcPct val="0"/>
              </a:spcBef>
              <a:buFontTx/>
              <a:buNone/>
              <a:defRPr/>
            </a:pPr>
            <a:r>
              <a:rPr lang="en-US" altLang="en-US" sz="2400" b="1" dirty="0">
                <a:solidFill>
                  <a:srgbClr val="FF0000"/>
                </a:solidFill>
                <a:latin typeface="+mn-lt"/>
              </a:rPr>
              <a:t>Inspirational motivation</a:t>
            </a:r>
          </a:p>
        </p:txBody>
      </p:sp>
    </p:spTree>
    <p:extLst>
      <p:ext uri="{BB962C8B-B14F-4D97-AF65-F5344CB8AC3E}">
        <p14:creationId xmlns:p14="http://schemas.microsoft.com/office/powerpoint/2010/main" val="128995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4">
                                            <p:txEl>
                                              <p:pRg st="2" end="2"/>
                                            </p:txEl>
                                          </p:spTgt>
                                        </p:tgtEl>
                                        <p:attrNameLst>
                                          <p:attrName>style.visibility</p:attrName>
                                        </p:attrNameLst>
                                      </p:cBhvr>
                                      <p:to>
                                        <p:strVal val="visible"/>
                                      </p:to>
                                    </p:set>
                                    <p:animEffect transition="in" filter="fade">
                                      <p:cBhvr>
                                        <p:cTn id="7" dur="500"/>
                                        <p:tgtEl>
                                          <p:spTgt spid="1843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434">
                                            <p:txEl>
                                              <p:pRg st="4" end="4"/>
                                            </p:txEl>
                                          </p:spTgt>
                                        </p:tgtEl>
                                        <p:attrNameLst>
                                          <p:attrName>style.visibility</p:attrName>
                                        </p:attrNameLst>
                                      </p:cBhvr>
                                      <p:to>
                                        <p:strVal val="visible"/>
                                      </p:to>
                                    </p:set>
                                    <p:animEffect transition="in" filter="fade">
                                      <p:cBhvr>
                                        <p:cTn id="10" dur="500"/>
                                        <p:tgtEl>
                                          <p:spTgt spid="1843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434">
                                            <p:txEl>
                                              <p:pRg st="6" end="6"/>
                                            </p:txEl>
                                          </p:spTgt>
                                        </p:tgtEl>
                                        <p:attrNameLst>
                                          <p:attrName>style.visibility</p:attrName>
                                        </p:attrNameLst>
                                      </p:cBhvr>
                                      <p:to>
                                        <p:strVal val="visible"/>
                                      </p:to>
                                    </p:set>
                                    <p:animEffect transition="in" filter="fade">
                                      <p:cBhvr>
                                        <p:cTn id="15" dur="500"/>
                                        <p:tgtEl>
                                          <p:spTgt spid="184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p:cNvSpPr txBox="1">
            <a:spLocks noChangeArrowheads="1"/>
          </p:cNvSpPr>
          <p:nvPr/>
        </p:nvSpPr>
        <p:spPr bwMode="auto">
          <a:xfrm>
            <a:off x="785813" y="928688"/>
            <a:ext cx="771525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GB" altLang="en-US" sz="2400" dirty="0">
                <a:latin typeface="+mn-lt"/>
              </a:rPr>
              <a:t>I ask them to look around the warehouse for a day or so, poking into things, trying to see what is there, where items are deposited, what kind of work needs to be done on the donated items themselves as well as on the warehouse itself.</a:t>
            </a:r>
          </a:p>
          <a:p>
            <a:pPr eaLnBrk="1" hangingPunct="1">
              <a:spcBef>
                <a:spcPct val="0"/>
              </a:spcBef>
              <a:buFontTx/>
              <a:buNone/>
              <a:defRPr/>
            </a:pPr>
            <a:endParaRPr lang="en-GB" altLang="en-US" sz="2400" dirty="0">
              <a:latin typeface="+mn-lt"/>
            </a:endParaRPr>
          </a:p>
          <a:p>
            <a:pPr eaLnBrk="1" hangingPunct="1">
              <a:spcBef>
                <a:spcPct val="0"/>
              </a:spcBef>
              <a:buFontTx/>
              <a:buNone/>
              <a:defRPr/>
            </a:pPr>
            <a:r>
              <a:rPr lang="en-GB" altLang="en-US" sz="2400" b="1" dirty="0">
                <a:solidFill>
                  <a:srgbClr val="0033CC"/>
                </a:solidFill>
                <a:latin typeface="+mn-lt"/>
              </a:rPr>
              <a:t>Encouraging staff to investigate and decide what needs to be done about a situation</a:t>
            </a:r>
          </a:p>
          <a:p>
            <a:pPr eaLnBrk="1" hangingPunct="1">
              <a:spcBef>
                <a:spcPct val="0"/>
              </a:spcBef>
              <a:buFontTx/>
              <a:buNone/>
              <a:defRPr/>
            </a:pPr>
            <a:endParaRPr lang="en-GB" altLang="en-US" sz="2400" b="1" dirty="0">
              <a:solidFill>
                <a:srgbClr val="FF0000"/>
              </a:solidFill>
              <a:latin typeface="+mn-lt"/>
            </a:endParaRPr>
          </a:p>
          <a:p>
            <a:pPr eaLnBrk="1" hangingPunct="1">
              <a:spcBef>
                <a:spcPct val="0"/>
              </a:spcBef>
              <a:buFontTx/>
              <a:buNone/>
              <a:defRPr/>
            </a:pPr>
            <a:r>
              <a:rPr lang="en-GB" altLang="en-US" sz="2400" b="1" dirty="0">
                <a:solidFill>
                  <a:srgbClr val="FF0000"/>
                </a:solidFill>
                <a:latin typeface="+mn-lt"/>
              </a:rPr>
              <a:t>Participative intellectual stimulation</a:t>
            </a:r>
            <a:endParaRPr lang="en-US" altLang="en-US" sz="2400" b="1" dirty="0">
              <a:solidFill>
                <a:srgbClr val="FF0000"/>
              </a:solidFill>
              <a:latin typeface="+mn-lt"/>
            </a:endParaRPr>
          </a:p>
        </p:txBody>
      </p:sp>
    </p:spTree>
    <p:extLst>
      <p:ext uri="{BB962C8B-B14F-4D97-AF65-F5344CB8AC3E}">
        <p14:creationId xmlns:p14="http://schemas.microsoft.com/office/powerpoint/2010/main" val="225667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animEffect transition="in" filter="fade">
                                      <p:cBhvr>
                                        <p:cTn id="7" dur="500"/>
                                        <p:tgtEl>
                                          <p:spTgt spid="1638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86">
                                            <p:txEl>
                                              <p:pRg st="4" end="4"/>
                                            </p:txEl>
                                          </p:spTgt>
                                        </p:tgtEl>
                                        <p:attrNameLst>
                                          <p:attrName>style.visibility</p:attrName>
                                        </p:attrNameLst>
                                      </p:cBhvr>
                                      <p:to>
                                        <p:strVal val="visible"/>
                                      </p:to>
                                    </p:set>
                                    <p:animEffect transition="in" filter="fade">
                                      <p:cBhvr>
                                        <p:cTn id="12" dur="500"/>
                                        <p:tgtEl>
                                          <p:spTgt spid="163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3"/>
          <p:cNvSpPr txBox="1">
            <a:spLocks noChangeArrowheads="1"/>
          </p:cNvSpPr>
          <p:nvPr/>
        </p:nvSpPr>
        <p:spPr bwMode="auto">
          <a:xfrm>
            <a:off x="928688" y="857250"/>
            <a:ext cx="7500937"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GB" altLang="en-US" sz="2400" dirty="0">
                <a:latin typeface="+mn-lt"/>
              </a:rPr>
              <a:t>Then I ask people to talk about themselves, why they are here, what they hope to get from the experience, what they feel they have to offer and so on. Each person has a different agenda, different skills and different aspirations.  And they are all legitimate and my job is to meet those aspirations while renewing the warehouse.</a:t>
            </a:r>
          </a:p>
          <a:p>
            <a:pPr eaLnBrk="1" hangingPunct="1">
              <a:spcBef>
                <a:spcPct val="0"/>
              </a:spcBef>
              <a:buFontTx/>
              <a:buNone/>
              <a:defRPr/>
            </a:pPr>
            <a:endParaRPr lang="en-GB" altLang="en-US" sz="2400" dirty="0">
              <a:latin typeface="+mn-lt"/>
            </a:endParaRPr>
          </a:p>
          <a:p>
            <a:pPr eaLnBrk="1" hangingPunct="1">
              <a:spcBef>
                <a:spcPct val="0"/>
              </a:spcBef>
              <a:buFontTx/>
              <a:buNone/>
              <a:defRPr/>
            </a:pPr>
            <a:r>
              <a:rPr lang="en-GB" altLang="en-US" sz="2400" b="1" dirty="0">
                <a:solidFill>
                  <a:srgbClr val="0033CC"/>
                </a:solidFill>
                <a:latin typeface="+mn-lt"/>
              </a:rPr>
              <a:t>Shows an interest in individual motivations, needs, skills</a:t>
            </a:r>
          </a:p>
          <a:p>
            <a:pPr eaLnBrk="1" hangingPunct="1">
              <a:spcBef>
                <a:spcPct val="0"/>
              </a:spcBef>
              <a:buFontTx/>
              <a:buNone/>
              <a:defRPr/>
            </a:pPr>
            <a:endParaRPr lang="en-GB" altLang="en-US" sz="2400" b="1" dirty="0">
              <a:solidFill>
                <a:srgbClr val="0033CC"/>
              </a:solidFill>
              <a:latin typeface="+mn-lt"/>
            </a:endParaRPr>
          </a:p>
          <a:p>
            <a:pPr eaLnBrk="1" hangingPunct="1">
              <a:spcBef>
                <a:spcPct val="0"/>
              </a:spcBef>
              <a:buFontTx/>
              <a:buNone/>
              <a:defRPr/>
            </a:pPr>
            <a:r>
              <a:rPr lang="en-GB" altLang="en-US" sz="2400" b="1" dirty="0">
                <a:solidFill>
                  <a:srgbClr val="0033CC"/>
                </a:solidFill>
                <a:latin typeface="+mn-lt"/>
              </a:rPr>
              <a:t>States she will aim to meet individual aspirations</a:t>
            </a:r>
          </a:p>
          <a:p>
            <a:pPr eaLnBrk="1" hangingPunct="1">
              <a:spcBef>
                <a:spcPct val="0"/>
              </a:spcBef>
              <a:buFontTx/>
              <a:buNone/>
              <a:defRPr/>
            </a:pPr>
            <a:endParaRPr lang="en-GB" altLang="en-US" sz="2400" dirty="0">
              <a:latin typeface="+mn-lt"/>
            </a:endParaRPr>
          </a:p>
          <a:p>
            <a:pPr eaLnBrk="1" hangingPunct="1">
              <a:spcBef>
                <a:spcPct val="0"/>
              </a:spcBef>
              <a:buFontTx/>
              <a:buNone/>
              <a:defRPr/>
            </a:pPr>
            <a:r>
              <a:rPr lang="en-GB" altLang="en-US" sz="2400" b="1" dirty="0">
                <a:solidFill>
                  <a:srgbClr val="FF0000"/>
                </a:solidFill>
                <a:latin typeface="+mn-lt"/>
              </a:rPr>
              <a:t>Individualised consideration</a:t>
            </a:r>
          </a:p>
          <a:p>
            <a:pPr eaLnBrk="1" hangingPunct="1">
              <a:spcBef>
                <a:spcPct val="0"/>
              </a:spcBef>
              <a:buFontTx/>
              <a:buNone/>
              <a:defRPr/>
            </a:pPr>
            <a:endParaRPr lang="en-GB" altLang="en-US" sz="2400" dirty="0">
              <a:latin typeface="+mn-lt"/>
            </a:endParaRPr>
          </a:p>
          <a:p>
            <a:pPr eaLnBrk="1" hangingPunct="1">
              <a:spcBef>
                <a:spcPct val="0"/>
              </a:spcBef>
              <a:buFontTx/>
              <a:buNone/>
              <a:defRPr/>
            </a:pPr>
            <a:endParaRPr lang="en-US" altLang="en-US" sz="2400" dirty="0">
              <a:latin typeface="+mn-lt"/>
            </a:endParaRPr>
          </a:p>
        </p:txBody>
      </p:sp>
    </p:spTree>
    <p:extLst>
      <p:ext uri="{BB962C8B-B14F-4D97-AF65-F5344CB8AC3E}">
        <p14:creationId xmlns:p14="http://schemas.microsoft.com/office/powerpoint/2010/main" val="372081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2">
                                            <p:txEl>
                                              <p:pRg st="2" end="2"/>
                                            </p:txEl>
                                          </p:spTgt>
                                        </p:tgtEl>
                                        <p:attrNameLst>
                                          <p:attrName>style.visibility</p:attrName>
                                        </p:attrNameLst>
                                      </p:cBhvr>
                                      <p:to>
                                        <p:strVal val="visible"/>
                                      </p:to>
                                    </p:set>
                                    <p:animEffect transition="in" filter="fade">
                                      <p:cBhvr>
                                        <p:cTn id="7" dur="500"/>
                                        <p:tgtEl>
                                          <p:spTgt spid="2048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482">
                                            <p:txEl>
                                              <p:pRg st="4" end="4"/>
                                            </p:txEl>
                                          </p:spTgt>
                                        </p:tgtEl>
                                        <p:attrNameLst>
                                          <p:attrName>style.visibility</p:attrName>
                                        </p:attrNameLst>
                                      </p:cBhvr>
                                      <p:to>
                                        <p:strVal val="visible"/>
                                      </p:to>
                                    </p:set>
                                    <p:animEffect transition="in" filter="fade">
                                      <p:cBhvr>
                                        <p:cTn id="10" dur="500"/>
                                        <p:tgtEl>
                                          <p:spTgt spid="2048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482">
                                            <p:txEl>
                                              <p:pRg st="6" end="6"/>
                                            </p:txEl>
                                          </p:spTgt>
                                        </p:tgtEl>
                                        <p:attrNameLst>
                                          <p:attrName>style.visibility</p:attrName>
                                        </p:attrNameLst>
                                      </p:cBhvr>
                                      <p:to>
                                        <p:strVal val="visible"/>
                                      </p:to>
                                    </p:set>
                                    <p:animEffect transition="in" filter="fade">
                                      <p:cBhvr>
                                        <p:cTn id="15" dur="500"/>
                                        <p:tgtEl>
                                          <p:spTgt spid="2048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971550" y="1052513"/>
            <a:ext cx="7056438"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400" dirty="0">
                <a:latin typeface="+mn-lt"/>
              </a:rPr>
              <a:t>Bass’s components of transformational leadership:</a:t>
            </a:r>
          </a:p>
          <a:p>
            <a:pPr eaLnBrk="1" hangingPunct="1">
              <a:spcBef>
                <a:spcPct val="0"/>
              </a:spcBef>
              <a:buFontTx/>
              <a:buNone/>
            </a:pPr>
            <a:endParaRPr lang="en-US" altLang="en-US" sz="2400" dirty="0">
              <a:latin typeface="+mn-lt"/>
            </a:endParaRPr>
          </a:p>
          <a:p>
            <a:pPr marL="457200" indent="-457200" eaLnBrk="1" hangingPunct="1">
              <a:spcBef>
                <a:spcPct val="0"/>
              </a:spcBef>
              <a:buFont typeface="Wingdings" panose="05000000000000000000" pitchFamily="2" charset="2"/>
              <a:buChar char="Ø"/>
            </a:pPr>
            <a:r>
              <a:rPr lang="en-US" altLang="en-US" sz="2400">
                <a:latin typeface="+mn-lt"/>
              </a:rPr>
              <a:t>inspirational </a:t>
            </a:r>
            <a:r>
              <a:rPr lang="en-US" altLang="en-US" sz="2400" dirty="0">
                <a:latin typeface="+mn-lt"/>
              </a:rPr>
              <a:t>motivation</a:t>
            </a:r>
          </a:p>
          <a:p>
            <a:pPr marL="457200" indent="-457200" eaLnBrk="1" hangingPunct="1">
              <a:spcBef>
                <a:spcPct val="0"/>
              </a:spcBef>
              <a:buFont typeface="Wingdings" panose="05000000000000000000" pitchFamily="2" charset="2"/>
              <a:buChar char="Ø"/>
            </a:pPr>
            <a:r>
              <a:rPr lang="en-US" altLang="en-US" sz="2400">
                <a:latin typeface="+mn-lt"/>
              </a:rPr>
              <a:t>intellectual </a:t>
            </a:r>
            <a:r>
              <a:rPr lang="en-US" altLang="en-US" sz="2400" dirty="0">
                <a:latin typeface="+mn-lt"/>
              </a:rPr>
              <a:t>stimulation</a:t>
            </a:r>
          </a:p>
          <a:p>
            <a:pPr marL="457200" indent="-457200" eaLnBrk="1" hangingPunct="1">
              <a:spcBef>
                <a:spcPct val="0"/>
              </a:spcBef>
              <a:buFont typeface="Wingdings" panose="05000000000000000000" pitchFamily="2" charset="2"/>
              <a:buChar char="Ø"/>
            </a:pPr>
            <a:r>
              <a:rPr lang="en-US" altLang="en-US" sz="2400">
                <a:latin typeface="+mn-lt"/>
              </a:rPr>
              <a:t>individualised consideration</a:t>
            </a:r>
          </a:p>
          <a:p>
            <a:pPr marL="457200" indent="-457200" eaLnBrk="1" hangingPunct="1">
              <a:spcBef>
                <a:spcPct val="0"/>
              </a:spcBef>
              <a:buFont typeface="Wingdings" panose="05000000000000000000" pitchFamily="2" charset="2"/>
              <a:buChar char="Ø"/>
            </a:pPr>
            <a:r>
              <a:rPr lang="en-US" altLang="en-US" sz="2400">
                <a:latin typeface="+mn-lt"/>
              </a:rPr>
              <a:t>idealised influence (charisma)</a:t>
            </a:r>
          </a:p>
          <a:p>
            <a:pPr eaLnBrk="1" hangingPunct="1">
              <a:spcBef>
                <a:spcPct val="0"/>
              </a:spcBef>
              <a:buFontTx/>
              <a:buNone/>
            </a:pPr>
            <a:endParaRPr lang="en-US" altLang="en-US" sz="2800" dirty="0">
              <a:latin typeface="+mn-lt"/>
            </a:endParaRPr>
          </a:p>
          <a:p>
            <a:pPr eaLnBrk="1" hangingPunct="1">
              <a:spcBef>
                <a:spcPct val="0"/>
              </a:spcBef>
              <a:buFontTx/>
              <a:buNone/>
            </a:pPr>
            <a:endParaRPr lang="en-GB" altLang="en-US" sz="2800" dirty="0">
              <a:latin typeface="+mn-lt"/>
            </a:endParaRPr>
          </a:p>
          <a:p>
            <a:pPr eaLnBrk="1" hangingPunct="1">
              <a:spcBef>
                <a:spcPct val="0"/>
              </a:spcBef>
              <a:buFontTx/>
              <a:buNone/>
            </a:pPr>
            <a:endParaRPr lang="en-GB" altLang="en-US" sz="1800" dirty="0">
              <a:latin typeface="+mn-lt"/>
            </a:endParaRPr>
          </a:p>
          <a:p>
            <a:pPr eaLnBrk="1" hangingPunct="1">
              <a:spcBef>
                <a:spcPct val="0"/>
              </a:spcBef>
              <a:buFontTx/>
              <a:buNone/>
            </a:pPr>
            <a:r>
              <a:rPr lang="en-GB" altLang="en-US" sz="2000">
                <a:latin typeface="+mn-lt"/>
              </a:rPr>
              <a:t>B Bass and RE Riggio (2006) </a:t>
            </a:r>
            <a:r>
              <a:rPr lang="en-GB" altLang="en-US" sz="2000" i="1">
                <a:latin typeface="+mn-lt"/>
              </a:rPr>
              <a:t>Transformational Leadership,</a:t>
            </a:r>
            <a:r>
              <a:rPr lang="en-GB" altLang="en-US" sz="2000">
                <a:latin typeface="+mn-lt"/>
              </a:rPr>
              <a:t> Lawrence Erlbaum: Mahway, NJ</a:t>
            </a:r>
            <a:endParaRPr lang="en-US" altLang="en-US" sz="2000" dirty="0">
              <a:latin typeface="+mn-lt"/>
            </a:endParaRPr>
          </a:p>
        </p:txBody>
      </p:sp>
    </p:spTree>
    <p:extLst>
      <p:ext uri="{BB962C8B-B14F-4D97-AF65-F5344CB8AC3E}">
        <p14:creationId xmlns:p14="http://schemas.microsoft.com/office/powerpoint/2010/main" val="274264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p:cNvSpPr txBox="1">
            <a:spLocks noChangeArrowheads="1"/>
          </p:cNvSpPr>
          <p:nvPr/>
        </p:nvSpPr>
        <p:spPr bwMode="auto">
          <a:xfrm>
            <a:off x="755650" y="620713"/>
            <a:ext cx="7488238"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50000"/>
              </a:spcBef>
              <a:buFontTx/>
              <a:buNone/>
            </a:pPr>
            <a:r>
              <a:rPr lang="en-GB" altLang="en-US" sz="2400" dirty="0">
                <a:latin typeface="+mn-lt"/>
              </a:rPr>
              <a:t>Other models might also be relevant: </a:t>
            </a:r>
            <a:r>
              <a:rPr lang="en-GB" altLang="en-US" sz="2400" dirty="0" err="1">
                <a:latin typeface="+mn-lt"/>
              </a:rPr>
              <a:t>eg</a:t>
            </a:r>
            <a:r>
              <a:rPr lang="en-GB" altLang="en-US" sz="2400" dirty="0">
                <a:latin typeface="+mn-lt"/>
              </a:rPr>
              <a:t>: </a:t>
            </a:r>
          </a:p>
          <a:p>
            <a:pPr eaLnBrk="1" hangingPunct="1">
              <a:spcBef>
                <a:spcPct val="50000"/>
              </a:spcBef>
              <a:buFontTx/>
              <a:buNone/>
            </a:pPr>
            <a:r>
              <a:rPr lang="en-GB" altLang="en-US" sz="2400">
                <a:latin typeface="+mn-lt"/>
              </a:rPr>
              <a:t>JM Kouzes and BZ Posner </a:t>
            </a:r>
            <a:r>
              <a:rPr lang="en-GB" altLang="en-US" sz="2400" dirty="0">
                <a:latin typeface="+mn-lt"/>
              </a:rPr>
              <a:t>(</a:t>
            </a:r>
            <a:r>
              <a:rPr lang="en-GB" altLang="en-US" sz="2400">
                <a:latin typeface="+mn-lt"/>
              </a:rPr>
              <a:t>1987) </a:t>
            </a:r>
            <a:r>
              <a:rPr lang="en-GB" altLang="en-US" sz="2400" i="1">
                <a:latin typeface="+mn-lt"/>
              </a:rPr>
              <a:t>The Leadership Challenge,</a:t>
            </a:r>
            <a:r>
              <a:rPr lang="en-GB" altLang="en-US" sz="2400">
                <a:latin typeface="+mn-lt"/>
              </a:rPr>
              <a:t> Jossey Bass: SF</a:t>
            </a:r>
            <a:endParaRPr lang="en-GB" altLang="en-US" sz="2400" dirty="0">
              <a:latin typeface="+mn-lt"/>
            </a:endParaRPr>
          </a:p>
          <a:p>
            <a:pPr eaLnBrk="1" hangingPunct="1">
              <a:spcBef>
                <a:spcPct val="50000"/>
              </a:spcBef>
              <a:buFontTx/>
              <a:buNone/>
            </a:pPr>
            <a:endParaRPr lang="en-GB" altLang="en-US" sz="2400" dirty="0">
              <a:latin typeface="+mn-lt"/>
            </a:endParaRPr>
          </a:p>
          <a:p>
            <a:pPr eaLnBrk="1" hangingPunct="1">
              <a:spcBef>
                <a:spcPct val="50000"/>
              </a:spcBef>
              <a:buFontTx/>
              <a:buNone/>
            </a:pPr>
            <a:r>
              <a:rPr lang="en-GB" altLang="en-US" sz="2400" dirty="0">
                <a:latin typeface="+mn-lt"/>
              </a:rPr>
              <a:t>Five practices of exemplary leadership:</a:t>
            </a:r>
          </a:p>
          <a:p>
            <a:pPr eaLnBrk="1" hangingPunct="1">
              <a:spcBef>
                <a:spcPct val="50000"/>
              </a:spcBef>
              <a:buFontTx/>
              <a:buNone/>
            </a:pPr>
            <a:r>
              <a:rPr lang="en-GB" altLang="en-US" sz="2400" dirty="0">
                <a:latin typeface="+mn-lt"/>
              </a:rPr>
              <a:t>- Model the way</a:t>
            </a:r>
          </a:p>
          <a:p>
            <a:pPr eaLnBrk="1" hangingPunct="1">
              <a:spcBef>
                <a:spcPct val="50000"/>
              </a:spcBef>
              <a:buFontTx/>
              <a:buNone/>
            </a:pPr>
            <a:r>
              <a:rPr lang="en-GB" altLang="en-US" sz="2400" dirty="0">
                <a:latin typeface="+mn-lt"/>
              </a:rPr>
              <a:t>- Inspire a shared vision</a:t>
            </a:r>
          </a:p>
          <a:p>
            <a:pPr eaLnBrk="1" hangingPunct="1">
              <a:spcBef>
                <a:spcPct val="50000"/>
              </a:spcBef>
              <a:buFontTx/>
              <a:buNone/>
            </a:pPr>
            <a:r>
              <a:rPr lang="en-GB" altLang="en-US" sz="2400" dirty="0">
                <a:latin typeface="+mn-lt"/>
              </a:rPr>
              <a:t>- Challenge the process</a:t>
            </a:r>
          </a:p>
          <a:p>
            <a:pPr eaLnBrk="1" hangingPunct="1">
              <a:spcBef>
                <a:spcPct val="50000"/>
              </a:spcBef>
              <a:buFontTx/>
              <a:buNone/>
            </a:pPr>
            <a:r>
              <a:rPr lang="en-GB" altLang="en-US" sz="2400" dirty="0">
                <a:latin typeface="+mn-lt"/>
              </a:rPr>
              <a:t>- Enable others to act</a:t>
            </a:r>
          </a:p>
          <a:p>
            <a:pPr eaLnBrk="1" hangingPunct="1">
              <a:spcBef>
                <a:spcPct val="50000"/>
              </a:spcBef>
              <a:buFontTx/>
              <a:buNone/>
            </a:pPr>
            <a:r>
              <a:rPr lang="en-GB" altLang="en-US" sz="2400" dirty="0">
                <a:latin typeface="+mn-lt"/>
              </a:rPr>
              <a:t>- Encourage the heart</a:t>
            </a:r>
            <a:endParaRPr lang="en-US" altLang="en-US" sz="24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404664"/>
            <a:ext cx="3888432" cy="6524863"/>
          </a:xfrm>
          <a:prstGeom prst="rect">
            <a:avLst/>
          </a:prstGeom>
          <a:noFill/>
        </p:spPr>
        <p:txBody>
          <a:bodyPr wrap="square" rtlCol="0">
            <a:spAutoFit/>
          </a:bodyPr>
          <a:lstStyle/>
          <a:p>
            <a:r>
              <a:rPr lang="en-GB" sz="2200">
                <a:latin typeface="+mn-lt"/>
              </a:rPr>
              <a:t>Success to me lies in the fact that my strategies that I have employed, have been affording me the opportunity for training and development of my staff. Recently another member of my team was able to be deployed in another section where accounting practices were needed. How you manage your staff and how you treat them can make a difference… If you show interest in their wellbeing, and more so in their personal life it can make a difference. In fact, doing so you will reach the point where they can be led by a thread.</a:t>
            </a:r>
          </a:p>
          <a:p>
            <a:endParaRPr lang="en-GB" sz="2200">
              <a:latin typeface="+mn-lt"/>
            </a:endParaRPr>
          </a:p>
        </p:txBody>
      </p:sp>
    </p:spTree>
    <p:extLst>
      <p:ext uri="{BB962C8B-B14F-4D97-AF65-F5344CB8AC3E}">
        <p14:creationId xmlns:p14="http://schemas.microsoft.com/office/powerpoint/2010/main" val="1048264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404664"/>
            <a:ext cx="3888432" cy="6524863"/>
          </a:xfrm>
          <a:prstGeom prst="rect">
            <a:avLst/>
          </a:prstGeom>
          <a:noFill/>
        </p:spPr>
        <p:txBody>
          <a:bodyPr wrap="square" rtlCol="0">
            <a:spAutoFit/>
          </a:bodyPr>
          <a:lstStyle/>
          <a:p>
            <a:r>
              <a:rPr lang="en-GB" sz="2200">
                <a:latin typeface="+mn-lt"/>
              </a:rPr>
              <a:t>Success to me lies in the fact that my strategies that I have employed, have been affording me the opportunity for training and development of my staff. Recently another member of my team was able to be deployed in another section where accounting practices were needed. How you manage your staff and how you treat them can make a difference… If you show interest in their wellbeing, and more so in their personal life it can make a difference. In fact, doing so you will reach the point where they can be led by a thread.</a:t>
            </a:r>
          </a:p>
          <a:p>
            <a:endParaRPr lang="en-GB" sz="2200">
              <a:latin typeface="+mn-lt"/>
            </a:endParaRPr>
          </a:p>
        </p:txBody>
      </p:sp>
      <p:sp>
        <p:nvSpPr>
          <p:cNvPr id="3" name="TextBox 2"/>
          <p:cNvSpPr txBox="1"/>
          <p:nvPr/>
        </p:nvSpPr>
        <p:spPr>
          <a:xfrm>
            <a:off x="5148064" y="620688"/>
            <a:ext cx="3456384" cy="5570756"/>
          </a:xfrm>
          <a:prstGeom prst="rect">
            <a:avLst/>
          </a:prstGeom>
          <a:noFill/>
        </p:spPr>
        <p:txBody>
          <a:bodyPr wrap="square" rtlCol="0">
            <a:spAutoFit/>
          </a:bodyPr>
          <a:lstStyle/>
          <a:p>
            <a:r>
              <a:rPr lang="en-GB" sz="2200" b="1" dirty="0">
                <a:solidFill>
                  <a:srgbClr val="FF0000"/>
                </a:solidFill>
                <a:latin typeface="+mn-lt"/>
              </a:rPr>
              <a:t>Believes it is important to train and develop staff</a:t>
            </a:r>
          </a:p>
          <a:p>
            <a:endParaRPr lang="en-GB" sz="2200" dirty="0">
              <a:latin typeface="+mn-lt"/>
            </a:endParaRPr>
          </a:p>
          <a:p>
            <a:endParaRPr lang="en-GB" sz="2200" dirty="0">
              <a:latin typeface="+mn-lt"/>
            </a:endParaRPr>
          </a:p>
          <a:p>
            <a:endParaRPr lang="en-GB" sz="2200" dirty="0">
              <a:latin typeface="+mn-lt"/>
            </a:endParaRPr>
          </a:p>
          <a:p>
            <a:r>
              <a:rPr lang="en-GB" sz="2200" b="1" dirty="0">
                <a:solidFill>
                  <a:srgbClr val="FF0000"/>
                </a:solidFill>
                <a:latin typeface="+mn-lt"/>
              </a:rPr>
              <a:t>Takes pleasure in staff members going on to (better) jobs</a:t>
            </a:r>
          </a:p>
          <a:p>
            <a:endParaRPr lang="en-GB" sz="2200" dirty="0">
              <a:latin typeface="+mn-lt"/>
            </a:endParaRPr>
          </a:p>
          <a:p>
            <a:endParaRPr lang="en-GB" sz="2200" dirty="0">
              <a:latin typeface="+mn-lt"/>
            </a:endParaRPr>
          </a:p>
          <a:p>
            <a:r>
              <a:rPr lang="en-GB" sz="2200" b="1" dirty="0">
                <a:solidFill>
                  <a:srgbClr val="FF0000"/>
                </a:solidFill>
                <a:latin typeface="+mn-lt"/>
              </a:rPr>
              <a:t>Important to show an interest in well-being and personal life of staff…</a:t>
            </a:r>
          </a:p>
          <a:p>
            <a:endParaRPr lang="en-GB" sz="2200" b="1" dirty="0">
              <a:solidFill>
                <a:srgbClr val="FF0000"/>
              </a:solidFill>
              <a:latin typeface="+mn-lt"/>
            </a:endParaRPr>
          </a:p>
          <a:p>
            <a:r>
              <a:rPr lang="en-GB" sz="2200" b="1" dirty="0">
                <a:solidFill>
                  <a:srgbClr val="FF0000"/>
                </a:solidFill>
                <a:latin typeface="+mn-lt"/>
              </a:rPr>
              <a:t>...you can then lead them with minimal effort</a:t>
            </a:r>
          </a:p>
        </p:txBody>
      </p:sp>
    </p:spTree>
    <p:extLst>
      <p:ext uri="{BB962C8B-B14F-4D97-AF65-F5344CB8AC3E}">
        <p14:creationId xmlns:p14="http://schemas.microsoft.com/office/powerpoint/2010/main" val="209249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476672"/>
            <a:ext cx="7704856" cy="3046988"/>
          </a:xfrm>
          <a:prstGeom prst="rect">
            <a:avLst/>
          </a:prstGeom>
          <a:noFill/>
        </p:spPr>
        <p:txBody>
          <a:bodyPr wrap="square" rtlCol="0">
            <a:spAutoFit/>
          </a:bodyPr>
          <a:lstStyle/>
          <a:p>
            <a:r>
              <a:rPr lang="en-GB" sz="2400">
                <a:latin typeface="+mn-lt"/>
              </a:rPr>
              <a:t>There is no 'one right answer' for how you code data or what name you give to a code or theme</a:t>
            </a:r>
          </a:p>
          <a:p>
            <a:endParaRPr lang="en-GB" sz="2400">
              <a:latin typeface="+mn-lt"/>
            </a:endParaRPr>
          </a:p>
          <a:p>
            <a:r>
              <a:rPr lang="en-GB" sz="2400">
                <a:latin typeface="+mn-lt"/>
              </a:rPr>
              <a:t>But you need to be able to justify coding a statement in a certain way - it is not a matter of 'anything goes'</a:t>
            </a:r>
          </a:p>
          <a:p>
            <a:endParaRPr lang="en-GB" sz="2400">
              <a:latin typeface="+mn-lt"/>
            </a:endParaRPr>
          </a:p>
          <a:p>
            <a:r>
              <a:rPr lang="en-GB" sz="2400">
                <a:latin typeface="+mn-lt"/>
              </a:rPr>
              <a:t>Share some examples of your coding with your supervisor - he/she will be able to provide guidance</a:t>
            </a:r>
          </a:p>
        </p:txBody>
      </p:sp>
    </p:spTree>
    <p:extLst>
      <p:ext uri="{BB962C8B-B14F-4D97-AF65-F5344CB8AC3E}">
        <p14:creationId xmlns:p14="http://schemas.microsoft.com/office/powerpoint/2010/main" val="1164863113"/>
      </p:ext>
    </p:extLst>
  </p:cSld>
  <p:clrMapOvr>
    <a:masterClrMapping/>
  </p:clrMapOvr>
  <mc:AlternateContent xmlns:mc="http://schemas.openxmlformats.org/markup-compatibility/2006" xmlns:p14="http://schemas.microsoft.com/office/powerpoint/2010/main">
    <mc:Choice Requires="p14">
      <p:transition spd="slow" p14:dur="2000" advTm="47208"/>
    </mc:Choice>
    <mc:Fallback xmlns="">
      <p:transition spd="slow" advTm="4720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a:solidFill>
                  <a:srgbClr val="FF0000"/>
                </a:solidFill>
              </a:rPr>
              <a:t>Stages of analysis</a:t>
            </a:r>
          </a:p>
        </p:txBody>
      </p:sp>
      <p:sp>
        <p:nvSpPr>
          <p:cNvPr id="3" name="Content Placeholder 2"/>
          <p:cNvSpPr>
            <a:spLocks noGrp="1"/>
          </p:cNvSpPr>
          <p:nvPr>
            <p:ph idx="1"/>
          </p:nvPr>
        </p:nvSpPr>
        <p:spPr/>
        <p:txBody>
          <a:bodyPr/>
          <a:lstStyle/>
          <a:p>
            <a:pPr marL="0" indent="0">
              <a:buNone/>
            </a:pPr>
            <a:r>
              <a:rPr lang="en-GB" sz="2400"/>
              <a:t>The stages of analysing qualitative research data have been described as:</a:t>
            </a:r>
          </a:p>
          <a:p>
            <a:pPr marL="0" indent="0">
              <a:buNone/>
            </a:pPr>
            <a:r>
              <a:rPr lang="en-GB" sz="2400"/>
              <a:t> </a:t>
            </a:r>
          </a:p>
          <a:p>
            <a:pPr marL="457200" lvl="0" indent="-457200">
              <a:buFont typeface="+mj-lt"/>
              <a:buAutoNum type="arabicPeriod"/>
            </a:pPr>
            <a:r>
              <a:rPr lang="en-GB" sz="2400"/>
              <a:t>Familiarizing yourself with your data</a:t>
            </a:r>
          </a:p>
          <a:p>
            <a:pPr marL="457200" lvl="0" indent="-457200">
              <a:buFont typeface="+mj-lt"/>
              <a:buAutoNum type="arabicPeriod"/>
            </a:pPr>
            <a:r>
              <a:rPr lang="en-GB" sz="2400"/>
              <a:t>Generating initial codes</a:t>
            </a:r>
          </a:p>
          <a:p>
            <a:pPr marL="457200" lvl="0" indent="-457200">
              <a:buFont typeface="+mj-lt"/>
              <a:buAutoNum type="arabicPeriod"/>
            </a:pPr>
            <a:r>
              <a:rPr lang="en-GB" sz="2400"/>
              <a:t>Searching for themes</a:t>
            </a:r>
          </a:p>
          <a:p>
            <a:pPr marL="457200" lvl="0" indent="-457200">
              <a:buFont typeface="+mj-lt"/>
              <a:buAutoNum type="arabicPeriod"/>
            </a:pPr>
            <a:r>
              <a:rPr lang="en-GB" sz="2400"/>
              <a:t>Reviewing themes</a:t>
            </a:r>
          </a:p>
          <a:p>
            <a:pPr marL="457200" lvl="0" indent="-457200">
              <a:buFont typeface="+mj-lt"/>
              <a:buAutoNum type="arabicPeriod"/>
            </a:pPr>
            <a:r>
              <a:rPr lang="en-GB" sz="2400"/>
              <a:t>Defining and naming themes</a:t>
            </a:r>
          </a:p>
          <a:p>
            <a:pPr marL="457200" lvl="0" indent="-457200">
              <a:buFont typeface="+mj-lt"/>
              <a:buAutoNum type="arabicPeriod"/>
            </a:pPr>
            <a:r>
              <a:rPr lang="en-GB" sz="2400"/>
              <a:t>Producing the report</a:t>
            </a:r>
          </a:p>
          <a:p>
            <a:pPr marL="0" lvl="0" indent="0">
              <a:buNone/>
            </a:pPr>
            <a:endParaRPr lang="en-GB" sz="2400"/>
          </a:p>
          <a:p>
            <a:pPr marL="0" indent="0">
              <a:buNone/>
            </a:pPr>
            <a:r>
              <a:rPr lang="en-GB" sz="2400"/>
              <a:t>(Braun and Clarke, 2006)</a:t>
            </a:r>
          </a:p>
        </p:txBody>
      </p:sp>
    </p:spTree>
    <p:extLst>
      <p:ext uri="{BB962C8B-B14F-4D97-AF65-F5344CB8AC3E}">
        <p14:creationId xmlns:p14="http://schemas.microsoft.com/office/powerpoint/2010/main" val="1875506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569</TotalTime>
  <Words>843</Words>
  <Application>Microsoft Office PowerPoint</Application>
  <PresentationFormat>On-screen Show (4:3)</PresentationFormat>
  <Paragraphs>78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Analysing qualitative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Stages of analysis</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George</dc:creator>
  <cp:lastModifiedBy>George Boak</cp:lastModifiedBy>
  <cp:revision>72</cp:revision>
  <cp:lastPrinted>2013-06-04T08:37:51Z</cp:lastPrinted>
  <dcterms:created xsi:type="dcterms:W3CDTF">2011-04-26T11:50:19Z</dcterms:created>
  <dcterms:modified xsi:type="dcterms:W3CDTF">2022-01-14T10:03:39Z</dcterms:modified>
</cp:coreProperties>
</file>