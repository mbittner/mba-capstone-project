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1"/>
  </p:notesMasterIdLst>
  <p:handoutMasterIdLst>
    <p:handoutMasterId r:id="rId12"/>
  </p:handoutMasterIdLst>
  <p:sldIdLst>
    <p:sldId id="256" r:id="rId3"/>
    <p:sldId id="382" r:id="rId4"/>
    <p:sldId id="368" r:id="rId5"/>
    <p:sldId id="365" r:id="rId6"/>
    <p:sldId id="366" r:id="rId7"/>
    <p:sldId id="383" r:id="rId8"/>
    <p:sldId id="384" r:id="rId9"/>
    <p:sldId id="385" r:id="rId10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17/03/2022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Dissertation: 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Scope and scale of the research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22"/>
    </mc:Choice>
    <mc:Fallback xmlns="">
      <p:transition spd="slow" advTm="10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82482"/>
              </p:ext>
            </p:extLst>
          </p:nvPr>
        </p:nvGraphicFramePr>
        <p:xfrm>
          <a:off x="685797" y="761999"/>
          <a:ext cx="7772402" cy="4763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6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Degree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Relevant topics for a dissertation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MA or MBA Leading Innovation and Change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Leadership and Management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management, coaching,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strategy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Entrepreneurship and Innovation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entrepreneur-ship, strategy, culture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Coaching, Mentoring, Leadership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Coaching/mentoring, leadership, innovation, change,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Innovation, Leadership and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leadership, consulting, strategy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Management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Consulting, innovation</a:t>
                      </a: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, change, strategy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5"/>
    </mc:Choice>
    <mc:Fallback xmlns="">
      <p:transition spd="slow" advTm="193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1979712" y="1556792"/>
            <a:ext cx="5293568" cy="367240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anchor="ctr"/>
          <a:lstStyle/>
          <a:p>
            <a:pPr algn="ctr">
              <a:defRPr/>
            </a:pPr>
            <a:endParaRPr lang="en-US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5365" name="TextBox 2"/>
          <p:cNvSpPr txBox="1">
            <a:spLocks noChangeArrowheads="1"/>
          </p:cNvSpPr>
          <p:nvPr/>
        </p:nvSpPr>
        <p:spPr bwMode="auto">
          <a:xfrm>
            <a:off x="1042988" y="549275"/>
            <a:ext cx="7345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Broad area of interest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39952" y="1268760"/>
            <a:ext cx="720080" cy="2016224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69" name="TextBox 4"/>
          <p:cNvSpPr txBox="1">
            <a:spLocks noChangeArrowheads="1"/>
          </p:cNvSpPr>
          <p:nvPr/>
        </p:nvSpPr>
        <p:spPr bwMode="auto">
          <a:xfrm>
            <a:off x="2555875" y="3357563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>
                <a:latin typeface="+mn-lt"/>
                <a:cs typeface="Arial" panose="020B0604020202020204" pitchFamily="34" charset="0"/>
              </a:rPr>
              <a:t>Particular focus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067944" y="4005064"/>
            <a:ext cx="720080" cy="1584176"/>
          </a:xfrm>
          <a:prstGeom prst="downArrow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373" name="TextBox 6"/>
          <p:cNvSpPr txBox="1">
            <a:spLocks noChangeArrowheads="1"/>
          </p:cNvSpPr>
          <p:nvPr/>
        </p:nvSpPr>
        <p:spPr bwMode="auto">
          <a:xfrm>
            <a:off x="2195513" y="5589588"/>
            <a:ext cx="55451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>
                <a:latin typeface="+mn-lt"/>
                <a:cs typeface="Arial" panose="020B0604020202020204" pitchFamily="34" charset="0"/>
              </a:rPr>
              <a:t>Clear question and specific objectives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82"/>
    </mc:Choice>
    <mc:Fallback xmlns="">
      <p:transition spd="slow" advTm="185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 txBox="1">
            <a:spLocks noChangeArrowheads="1"/>
          </p:cNvSpPr>
          <p:nvPr/>
        </p:nvSpPr>
        <p:spPr bwMode="auto">
          <a:xfrm>
            <a:off x="533400" y="381000"/>
            <a:ext cx="8229600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Some idea of scale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b="1">
              <a:solidFill>
                <a:srgbClr val="0000FF"/>
              </a:solidFill>
              <a:latin typeface="+mn-lt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MB based her dissertation on semi-structured interviews with 10 people. The interviews lasted 45-60 minutes.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en-GB" altLang="en-US" sz="2400">
                <a:solidFill>
                  <a:srgbClr val="000000"/>
                </a:solidFill>
              </a:rPr>
              <a:t>SA collected information through a survey with 118 returns (out of 428 targeted) and 8 interviews, of 23-58 min (average of 35 minutes).</a:t>
            </a:r>
          </a:p>
          <a:p>
            <a:pPr>
              <a:spcBef>
                <a:spcPct val="0"/>
              </a:spcBef>
              <a:buNone/>
              <a:defRPr/>
            </a:pPr>
            <a:endParaRPr lang="en-GB" altLang="en-US" sz="24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en-GB" altLang="en-US" sz="2400">
                <a:solidFill>
                  <a:srgbClr val="000000"/>
                </a:solidFill>
              </a:rPr>
              <a:t>SJ carried out semi-structured interviews with 12 people. The interviews lasted 30-50 minutes.</a:t>
            </a:r>
          </a:p>
          <a:p>
            <a:pPr>
              <a:spcBef>
                <a:spcPct val="0"/>
              </a:spcBef>
              <a:buNone/>
              <a:defRPr/>
            </a:pPr>
            <a:endParaRPr lang="en-GB" altLang="en-US" sz="240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en-GB" altLang="en-US" sz="2400">
                <a:solidFill>
                  <a:srgbClr val="000000"/>
                </a:solidFill>
              </a:rPr>
              <a:t>CJ carried out 8 semi-structured interviews of about 1 hour each, plus she analysed reports, minutes of meetings, policy documents and contracts.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64"/>
    </mc:Choice>
    <mc:Fallback xmlns="">
      <p:transition spd="slow" advTm="63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3"/>
          <p:cNvSpPr txBox="1">
            <a:spLocks noChangeArrowheads="1"/>
          </p:cNvSpPr>
          <p:nvPr/>
        </p:nvSpPr>
        <p:spPr bwMode="auto">
          <a:xfrm>
            <a:off x="457200" y="381000"/>
            <a:ext cx="800100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solidFill>
                  <a:srgbClr val="000000"/>
                </a:solidFill>
                <a:latin typeface="+mn-lt"/>
              </a:rPr>
              <a:t>AS interviewed 10 people. Interviews lasted about 40 minutes each. He sent out a questionnaire to 350 people and got 164 replies.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solidFill>
                  <a:srgbClr val="000000"/>
                </a:solidFill>
                <a:latin typeface="+mn-lt"/>
              </a:rPr>
              <a:t>VM interviewed 12 people within her organisation: average length of interview was 47 minutes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solidFill>
                  <a:srgbClr val="000000"/>
                </a:solidFill>
                <a:latin typeface="+mn-lt"/>
              </a:rPr>
              <a:t>PO sent out a questionnaire and received 1059 usable responses.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solidFill>
                  <a:srgbClr val="000000"/>
                </a:solidFill>
                <a:latin typeface="+mn-lt"/>
              </a:rPr>
              <a:t>SB carried out 4 interviews (of 30-45 minutes) and had 29 surveys returned (out of 35 targeted).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1800" dirty="0">
              <a:latin typeface="Arial" panose="020B0604020202020204" pitchFamily="34" charset="0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C46EAB52-8AA9-40BC-9A52-5235F697E99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609"/>
    </mc:Choice>
    <mc:Fallback>
      <p:transition spd="slow" advTm="786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09600"/>
            <a:ext cx="769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Interviews alone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8 - 15, of 45-60 minutes each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>
                <a:solidFill>
                  <a:srgbClr val="FF0000"/>
                </a:solidFill>
                <a:latin typeface="+mn-lt"/>
              </a:rPr>
              <a:t>Questionnaires alone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75+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622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88"/>
    </mc:Choice>
    <mc:Fallback xmlns="">
      <p:transition spd="slow" advTm="57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457200"/>
            <a:ext cx="769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Key message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You don't need to gather information from large numbers of people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Gathering high quality information, and analysing it thoroughly, is more important that just volume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870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29"/>
    </mc:Choice>
    <mc:Fallback xmlns="">
      <p:transition spd="slow" advTm="199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81000"/>
            <a:ext cx="8001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All of the examples cited in this presentation produced very good dissertations.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You can see the detail of many of them in the 'Great Dissertations' folder: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MB = Marcella </a:t>
            </a:r>
            <a:r>
              <a:rPr lang="en-GB" sz="2000" dirty="0" err="1">
                <a:latin typeface="+mn-lt"/>
              </a:rPr>
              <a:t>Binova</a:t>
            </a:r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SA = Sue </a:t>
            </a:r>
            <a:r>
              <a:rPr lang="en-GB" sz="2000" dirty="0" err="1">
                <a:latin typeface="+mn-lt"/>
              </a:rPr>
              <a:t>Arundale</a:t>
            </a:r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SJ =  Steve Janes</a:t>
            </a:r>
          </a:p>
          <a:p>
            <a:r>
              <a:rPr lang="en-GB" sz="2000" dirty="0">
                <a:latin typeface="+mn-lt"/>
              </a:rPr>
              <a:t>CJ = Carine </a:t>
            </a:r>
            <a:r>
              <a:rPr lang="en-GB" sz="2000" dirty="0" err="1">
                <a:latin typeface="+mn-lt"/>
              </a:rPr>
              <a:t>Jonckheere</a:t>
            </a:r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AS = Alistair Squires</a:t>
            </a:r>
          </a:p>
          <a:p>
            <a:r>
              <a:rPr lang="en-GB" sz="2000" dirty="0">
                <a:latin typeface="+mn-lt"/>
              </a:rPr>
              <a:t>VM = </a:t>
            </a:r>
            <a:r>
              <a:rPr lang="en-GB" sz="2000" dirty="0" err="1">
                <a:latin typeface="+mn-lt"/>
              </a:rPr>
              <a:t>Volha</a:t>
            </a:r>
            <a:r>
              <a:rPr lang="en-GB" sz="2000" dirty="0">
                <a:latin typeface="+mn-lt"/>
              </a:rPr>
              <a:t> Mitra</a:t>
            </a:r>
          </a:p>
          <a:p>
            <a:r>
              <a:rPr lang="en-GB" sz="2000" dirty="0">
                <a:latin typeface="+mn-lt"/>
              </a:rPr>
              <a:t>PO = Peter Ormerod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For the results of SB's research, see 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S Baird and G Boak 2016 ‘Leading change: introducing an electronic medical record system to a paramedic service’ </a:t>
            </a:r>
            <a:r>
              <a:rPr lang="en-GB" sz="2000" i="1" dirty="0">
                <a:latin typeface="+mn-lt"/>
              </a:rPr>
              <a:t>Leadership in Health Services,</a:t>
            </a:r>
            <a:r>
              <a:rPr lang="en-GB" sz="2000" dirty="0">
                <a:latin typeface="+mn-lt"/>
              </a:rPr>
              <a:t> vol 29 </a:t>
            </a:r>
            <a:r>
              <a:rPr lang="en-GB" sz="2000" dirty="0" err="1">
                <a:latin typeface="+mn-lt"/>
              </a:rPr>
              <a:t>Iss</a:t>
            </a:r>
            <a:r>
              <a:rPr lang="en-GB" sz="2000" dirty="0">
                <a:latin typeface="+mn-lt"/>
              </a:rPr>
              <a:t> 6 pp 136-150.</a:t>
            </a:r>
          </a:p>
          <a:p>
            <a:endParaRPr lang="en-GB" sz="2000" dirty="0">
              <a:latin typeface="+mn-lt"/>
            </a:endParaRPr>
          </a:p>
          <a:p>
            <a:r>
              <a:rPr lang="en-GB" sz="2000" dirty="0">
                <a:latin typeface="+mn-lt"/>
              </a:rPr>
              <a:t> </a:t>
            </a: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335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83"/>
    </mc:Choice>
    <mc:Fallback xmlns="">
      <p:transition spd="slow" advTm="392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12.3|17.6|1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1.6|8.5|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23|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7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3073</TotalTime>
  <Words>416</Words>
  <Application>Microsoft Office PowerPoint</Application>
  <PresentationFormat>On-screen Show (4:3)</PresentationFormat>
  <Paragraphs>65</Paragraphs>
  <Slides>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1_Office Theme</vt:lpstr>
      <vt:lpstr>The Dissertation:  Scope and scale of the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145</cp:revision>
  <cp:lastPrinted>2015-04-12T10:54:10Z</cp:lastPrinted>
  <dcterms:created xsi:type="dcterms:W3CDTF">2005-09-18T18:21:05Z</dcterms:created>
  <dcterms:modified xsi:type="dcterms:W3CDTF">2022-03-17T11:48:32Z</dcterms:modified>
</cp:coreProperties>
</file>