
<file path=[Content_Types].xml><?xml version="1.0" encoding="utf-8"?>
<Types xmlns="http://schemas.openxmlformats.org/package/2006/content-types">
  <Default Extension="png" ContentType="image/png"/>
  <Default Extension="m4a" ContentType="audio/mp4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5" r:id="rId1"/>
    <p:sldMasterId id="2147483838" r:id="rId2"/>
  </p:sldMasterIdLst>
  <p:notesMasterIdLst>
    <p:notesMasterId r:id="rId9"/>
  </p:notesMasterIdLst>
  <p:handoutMasterIdLst>
    <p:handoutMasterId r:id="rId10"/>
  </p:handoutMasterIdLst>
  <p:sldIdLst>
    <p:sldId id="256" r:id="rId3"/>
    <p:sldId id="371" r:id="rId4"/>
    <p:sldId id="374" r:id="rId5"/>
    <p:sldId id="375" r:id="rId6"/>
    <p:sldId id="372" r:id="rId7"/>
    <p:sldId id="373" r:id="rId8"/>
  </p:sldIdLst>
  <p:sldSz cx="9144000" cy="6858000" type="screen4x3"/>
  <p:notesSz cx="6669088" cy="9928225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8">
          <p15:clr>
            <a:srgbClr val="A4A3A4"/>
          </p15:clr>
        </p15:guide>
        <p15:guide id="2" pos="210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6F616"/>
    <a:srgbClr val="FF9900"/>
    <a:srgbClr val="080300"/>
    <a:srgbClr val="070008"/>
    <a:srgbClr val="070107"/>
    <a:srgbClr val="070401"/>
    <a:srgbClr val="00050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 autoAdjust="0"/>
    <p:restoredTop sz="94660" autoAdjust="0"/>
  </p:normalViewPr>
  <p:slideViewPr>
    <p:cSldViewPr>
      <p:cViewPr varScale="1">
        <p:scale>
          <a:sx n="78" d="100"/>
          <a:sy n="78" d="100"/>
        </p:scale>
        <p:origin x="798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5" d="100"/>
          <a:sy n="85" d="100"/>
        </p:scale>
        <p:origin x="-1908" y="-78"/>
      </p:cViewPr>
      <p:guideLst>
        <p:guide orient="horz" pos="3128"/>
        <p:guide pos="2101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90838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defTabSz="931863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270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76663" y="0"/>
            <a:ext cx="2890837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 defTabSz="931863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270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9750"/>
            <a:ext cx="2890838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defTabSz="931863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270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76663" y="9429750"/>
            <a:ext cx="2890837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 defTabSz="931863" eaLnBrk="1" hangingPunct="1">
              <a:defRPr sz="1200"/>
            </a:lvl1pPr>
          </a:lstStyle>
          <a:p>
            <a:pPr>
              <a:defRPr/>
            </a:pPr>
            <a:fld id="{58E9270E-8C09-49A4-B283-C014A9AFAB5F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9904155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90838" cy="49688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6663" y="0"/>
            <a:ext cx="2890837" cy="49688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fld id="{6F81D1A9-7D7E-4A84-BE6C-B1750DE62939}" type="datetimeFigureOut">
              <a:rPr lang="en-GB"/>
              <a:pPr>
                <a:defRPr/>
              </a:pPr>
              <a:t>15/04/2020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854075" y="744538"/>
            <a:ext cx="4960938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GB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750" y="4716463"/>
            <a:ext cx="5335588" cy="44672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890838" cy="49688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6663" y="9429750"/>
            <a:ext cx="2890837" cy="49688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BB63C051-0E79-4E4E-8469-4694D55C3CEF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58005336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EA64DC-C9C3-4D81-BED6-708136142921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8128397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9F44E4-0749-4776-858C-97B8C2912D40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9338309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AA6944-F261-4D5C-A076-17F4676AE865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8656623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4D504E-3709-4E4D-B737-7C89FCEBD541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9898581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68FCE4-922A-4DD0-A3A4-37254D55D9E2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8325185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E90625-679F-4FB2-B9D7-AA98A27B7B8D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4468509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C2E777-4434-4784-B126-823819E7E96F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4015521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908DB4-9542-44BE-AFFE-5DC6CC9B6367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1336247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51298B-2002-4A14-8CC8-A969F146113F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3586282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92E822-2C45-4849-9AC7-ADB592D4E37C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7066621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68EC10-1760-470C-8EF6-608B752F0E6E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1512365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4D85F5-3009-4838-9925-A1745C6994B6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2849380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033255-B8DE-469E-B4CC-F2D6A488C95B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7054323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45C86F-3376-42AD-91EE-C688EA551E6F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763716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B1293B-76E3-40D4-98F9-F9DAD31340C0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9065694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B67871-540A-4304-8592-244B7E9317D7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8189133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4C902E-D8F0-4613-A1CD-20A24A37CDA8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39553387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872F35-0591-47BC-8F98-FE1500F95199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10328616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EE7473-26EF-49C4-83D4-CF934C106F6D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85897683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92E4DD-04F4-4BE5-AD7F-FDF93CC43EC1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38522056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8CD5C5-8120-4B2F-99FA-C5980E8F460A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95473504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BCB130-CABC-4C67-BA71-A2CE8274CFC4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7257932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GB" altLang="en-US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  <a:endParaRPr lang="en-GB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898989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solidFill>
                  <a:srgbClr val="898989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C1FE3ECE-E4A5-41D6-9C3F-B9BE4D0993E8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9" r:id="rId1"/>
    <p:sldLayoutId id="2147483840" r:id="rId2"/>
    <p:sldLayoutId id="2147483841" r:id="rId3"/>
    <p:sldLayoutId id="2147483842" r:id="rId4"/>
    <p:sldLayoutId id="2147483843" r:id="rId5"/>
    <p:sldLayoutId id="2147483844" r:id="rId6"/>
    <p:sldLayoutId id="2147483845" r:id="rId7"/>
    <p:sldLayoutId id="2147483846" r:id="rId8"/>
    <p:sldLayoutId id="2147483847" r:id="rId9"/>
    <p:sldLayoutId id="2147483848" r:id="rId10"/>
    <p:sldLayoutId id="2147483849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GB" altLang="en-US"/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  <a:endParaRPr lang="en-GB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hangingPunct="1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9DF988CA-E93D-435D-A8EE-DC64CFB5B026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0" r:id="rId1"/>
    <p:sldLayoutId id="2147483851" r:id="rId2"/>
    <p:sldLayoutId id="2147483852" r:id="rId3"/>
    <p:sldLayoutId id="2147483853" r:id="rId4"/>
    <p:sldLayoutId id="2147483854" r:id="rId5"/>
    <p:sldLayoutId id="2147483855" r:id="rId6"/>
    <p:sldLayoutId id="2147483856" r:id="rId7"/>
    <p:sldLayoutId id="2147483857" r:id="rId8"/>
    <p:sldLayoutId id="2147483858" r:id="rId9"/>
    <p:sldLayoutId id="2147483859" r:id="rId10"/>
    <p:sldLayoutId id="2147483860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audio" Target="../media/media2.m4a"/><Relationship Id="rId2" Type="http://schemas.microsoft.com/office/2007/relationships/media" Target="../media/media2.m4a"/><Relationship Id="rId1" Type="http://schemas.openxmlformats.org/officeDocument/2006/relationships/tags" Target="../tags/tag1.xml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audio" Target="../media/media3.m4a"/><Relationship Id="rId2" Type="http://schemas.microsoft.com/office/2007/relationships/media" Target="../media/media3.m4a"/><Relationship Id="rId1" Type="http://schemas.openxmlformats.org/officeDocument/2006/relationships/tags" Target="../tags/tag2.xml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media4.m4a"/><Relationship Id="rId2" Type="http://schemas.microsoft.com/office/2007/relationships/media" Target="../media/media4.m4a"/><Relationship Id="rId1" Type="http://schemas.openxmlformats.org/officeDocument/2006/relationships/tags" Target="../tags/tag3.xml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audio" Target="../media/media5.m4a"/><Relationship Id="rId2" Type="http://schemas.microsoft.com/office/2007/relationships/media" Target="../media/media5.m4a"/><Relationship Id="rId1" Type="http://schemas.openxmlformats.org/officeDocument/2006/relationships/tags" Target="../tags/tag4.xml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audio" Target="../media/media6.m4a"/><Relationship Id="rId2" Type="http://schemas.microsoft.com/office/2007/relationships/media" Target="../media/media6.m4a"/><Relationship Id="rId1" Type="http://schemas.openxmlformats.org/officeDocument/2006/relationships/tags" Target="../tags/tag5.xml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990600"/>
            <a:ext cx="7772400" cy="1676400"/>
          </a:xfrm>
        </p:spPr>
        <p:txBody>
          <a:bodyPr/>
          <a:lstStyle/>
          <a:p>
            <a:pPr eaLnBrk="1" hangingPunct="1"/>
            <a:r>
              <a:rPr lang="en-US" altLang="en-US" b="1">
                <a:solidFill>
                  <a:srgbClr val="FF0000"/>
                </a:solidFill>
              </a:rPr>
              <a:t>The </a:t>
            </a:r>
            <a:r>
              <a:rPr lang="en-US" altLang="en-US" b="1" smtClean="0">
                <a:solidFill>
                  <a:srgbClr val="FF0000"/>
                </a:solidFill>
              </a:rPr>
              <a:t>Dissertation: </a:t>
            </a:r>
            <a:br>
              <a:rPr lang="en-US" altLang="en-US" b="1" smtClean="0">
                <a:solidFill>
                  <a:srgbClr val="FF0000"/>
                </a:solidFill>
              </a:rPr>
            </a:br>
            <a:r>
              <a:rPr lang="en-US" altLang="en-US" b="1" smtClean="0">
                <a:solidFill>
                  <a:srgbClr val="FF0000"/>
                </a:solidFill>
              </a:rPr>
              <a:t>Working with your supervisor</a:t>
            </a:r>
            <a:endParaRPr lang="en-GB" altLang="en-US" b="1">
              <a:solidFill>
                <a:srgbClr val="FF0000"/>
              </a:solidFill>
            </a:endParaRPr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382000" y="6096000"/>
            <a:ext cx="609600" cy="609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760"/>
    </mc:Choice>
    <mc:Fallback>
      <p:transition spd="slow" advTm="676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81000" y="381000"/>
            <a:ext cx="8534400" cy="43396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GB" sz="2400" b="1">
                <a:solidFill>
                  <a:srgbClr val="FF0000"/>
                </a:solidFill>
                <a:latin typeface="+mn-lt"/>
              </a:rPr>
              <a:t>Work with your supervisor</a:t>
            </a:r>
          </a:p>
          <a:p>
            <a:pPr>
              <a:defRPr/>
            </a:pPr>
            <a:endParaRPr lang="en-GB" sz="2400" b="1">
              <a:solidFill>
                <a:srgbClr val="FF0000"/>
              </a:solidFill>
              <a:latin typeface="+mn-lt"/>
            </a:endParaRPr>
          </a:p>
          <a:p>
            <a:pPr>
              <a:defRPr/>
            </a:pPr>
            <a:r>
              <a:rPr lang="en-GB" sz="2400">
                <a:latin typeface="+mn-lt"/>
              </a:rPr>
              <a:t>You will be allocated a supervisor from the start of the Dissertation module</a:t>
            </a:r>
          </a:p>
          <a:p>
            <a:pPr>
              <a:defRPr/>
            </a:pPr>
            <a:endParaRPr lang="en-GB" sz="2400">
              <a:latin typeface="+mn-lt"/>
            </a:endParaRPr>
          </a:p>
          <a:p>
            <a:pPr>
              <a:defRPr/>
            </a:pPr>
            <a:r>
              <a:rPr lang="en-GB" sz="2400" smtClean="0">
                <a:latin typeface="+mn-lt"/>
              </a:rPr>
              <a:t>When you submit your questionnaire, before you enrol on the module, RKC will invite one of the supervisors on their list to consider being your supervisor</a:t>
            </a:r>
          </a:p>
          <a:p>
            <a:pPr>
              <a:defRPr/>
            </a:pPr>
            <a:endParaRPr lang="en-GB" sz="2400">
              <a:latin typeface="+mn-lt"/>
            </a:endParaRPr>
          </a:p>
          <a:p>
            <a:pPr>
              <a:defRPr/>
            </a:pPr>
            <a:r>
              <a:rPr lang="en-GB" sz="2400" smtClean="0">
                <a:latin typeface="+mn-lt"/>
              </a:rPr>
              <a:t>If they agree to do so, they will email you to make first contact</a:t>
            </a:r>
            <a:endParaRPr lang="en-GB" sz="2400">
              <a:latin typeface="+mn-lt"/>
            </a:endParaRPr>
          </a:p>
          <a:p>
            <a:pPr>
              <a:defRPr/>
            </a:pPr>
            <a:endParaRPr lang="en-GB">
              <a:latin typeface="+mn-lt"/>
            </a:endParaRPr>
          </a:p>
          <a:p>
            <a:pPr>
              <a:defRPr/>
            </a:pPr>
            <a:endParaRPr lang="en-GB"/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382000" y="6096000"/>
            <a:ext cx="609600" cy="6096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645"/>
    </mc:Choice>
    <mc:Fallback>
      <p:transition spd="slow" advTm="6064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81000" y="381000"/>
            <a:ext cx="8534400" cy="50783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GB" sz="2400" b="1">
                <a:solidFill>
                  <a:srgbClr val="FF0000"/>
                </a:solidFill>
                <a:latin typeface="+mn-lt"/>
              </a:rPr>
              <a:t>Work with your supervisor</a:t>
            </a:r>
          </a:p>
          <a:p>
            <a:pPr>
              <a:defRPr/>
            </a:pPr>
            <a:endParaRPr lang="en-GB" sz="2400" b="1">
              <a:solidFill>
                <a:srgbClr val="FF0000"/>
              </a:solidFill>
              <a:latin typeface="+mn-lt"/>
            </a:endParaRPr>
          </a:p>
          <a:p>
            <a:pPr>
              <a:defRPr/>
            </a:pPr>
            <a:r>
              <a:rPr lang="en-GB" sz="2400" smtClean="0">
                <a:latin typeface="+mn-lt"/>
              </a:rPr>
              <a:t>Agree </a:t>
            </a:r>
            <a:r>
              <a:rPr lang="en-GB" sz="2400">
                <a:latin typeface="+mn-lt"/>
              </a:rPr>
              <a:t>with </a:t>
            </a:r>
            <a:r>
              <a:rPr lang="en-GB" sz="2400" smtClean="0">
                <a:latin typeface="+mn-lt"/>
              </a:rPr>
              <a:t>your supervisor how </a:t>
            </a:r>
            <a:r>
              <a:rPr lang="en-GB" sz="2400">
                <a:latin typeface="+mn-lt"/>
              </a:rPr>
              <a:t>you will work together:</a:t>
            </a:r>
          </a:p>
          <a:p>
            <a:pPr>
              <a:defRPr/>
            </a:pPr>
            <a:endParaRPr lang="en-GB" sz="2400">
              <a:latin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GB" sz="2400">
                <a:latin typeface="+mn-lt"/>
              </a:rPr>
              <a:t>advice on </a:t>
            </a:r>
            <a:r>
              <a:rPr lang="en-GB" sz="2400" smtClean="0">
                <a:latin typeface="+mn-lt"/>
              </a:rPr>
              <a:t>plans</a:t>
            </a: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GB" sz="2400">
                <a:latin typeface="+mn-lt"/>
              </a:rPr>
              <a:t>a</a:t>
            </a:r>
            <a:r>
              <a:rPr lang="en-GB" sz="2400" smtClean="0">
                <a:latin typeface="+mn-lt"/>
              </a:rPr>
              <a:t>dvice on interview outlines or questionnaires</a:t>
            </a: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GB" sz="2400">
                <a:latin typeface="+mn-lt"/>
              </a:rPr>
              <a:t>f</a:t>
            </a:r>
            <a:r>
              <a:rPr lang="en-GB" sz="2400" smtClean="0">
                <a:latin typeface="+mn-lt"/>
              </a:rPr>
              <a:t>eedback on analyses of qualitative or quantitative data</a:t>
            </a:r>
            <a:endParaRPr lang="en-GB" sz="2400">
              <a:latin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GB" sz="2400">
                <a:latin typeface="+mn-lt"/>
              </a:rPr>
              <a:t>feedback on drafts of the Proposal and the Dissertation</a:t>
            </a: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GB" sz="2400">
                <a:latin typeface="+mn-lt"/>
              </a:rPr>
              <a:t>how and when you will communicate with each other</a:t>
            </a: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GB" sz="2400">
                <a:latin typeface="+mn-lt"/>
              </a:rPr>
              <a:t>you need to take the decisions, but the supervisor should support and advise</a:t>
            </a: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endParaRPr lang="en-GB" sz="2400" b="1">
              <a:solidFill>
                <a:srgbClr val="FF0000"/>
              </a:solidFill>
              <a:latin typeface="+mn-lt"/>
            </a:endParaRPr>
          </a:p>
          <a:p>
            <a:pPr>
              <a:defRPr/>
            </a:pPr>
            <a:endParaRPr lang="en-GB">
              <a:latin typeface="+mn-lt"/>
            </a:endParaRPr>
          </a:p>
          <a:p>
            <a:pPr>
              <a:defRPr/>
            </a:pPr>
            <a:endParaRPr lang="en-GB"/>
          </a:p>
        </p:txBody>
      </p:sp>
      <p:pic>
        <p:nvPicPr>
          <p:cNvPr id="3" name="Audio 2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382000" y="6096000"/>
            <a:ext cx="609600" cy="6096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8873589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3196"/>
    </mc:Choice>
    <mc:Fallback>
      <p:transition spd="slow" advTm="7319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3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81000" y="381000"/>
            <a:ext cx="8534400" cy="286232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GB" sz="2400" b="1">
                <a:solidFill>
                  <a:srgbClr val="FF0000"/>
                </a:solidFill>
                <a:latin typeface="+mn-lt"/>
              </a:rPr>
              <a:t>Work with your supervisor</a:t>
            </a:r>
          </a:p>
          <a:p>
            <a:pPr>
              <a:defRPr/>
            </a:pPr>
            <a:endParaRPr lang="en-GB" sz="2400" b="1">
              <a:solidFill>
                <a:srgbClr val="FF0000"/>
              </a:solidFill>
              <a:latin typeface="+mn-lt"/>
            </a:endParaRPr>
          </a:p>
          <a:p>
            <a:pPr>
              <a:defRPr/>
            </a:pPr>
            <a:r>
              <a:rPr lang="en-GB" sz="2400" smtClean="0">
                <a:latin typeface="+mn-lt"/>
              </a:rPr>
              <a:t>Give them time to consider and reply to any drafts or plans you send them</a:t>
            </a:r>
            <a:endParaRPr lang="en-GB" sz="2400">
              <a:latin typeface="+mn-lt"/>
            </a:endParaRPr>
          </a:p>
          <a:p>
            <a:pPr>
              <a:defRPr/>
            </a:pPr>
            <a:endParaRPr lang="en-GB" sz="2400" smtClean="0">
              <a:latin typeface="+mn-lt"/>
            </a:endParaRPr>
          </a:p>
          <a:p>
            <a:pPr>
              <a:defRPr/>
            </a:pPr>
            <a:r>
              <a:rPr lang="en-GB" sz="2400" smtClean="0">
                <a:latin typeface="+mn-lt"/>
              </a:rPr>
              <a:t>Don't expect an immediate response</a:t>
            </a:r>
            <a:endParaRPr lang="en-GB" sz="2400">
              <a:latin typeface="+mn-lt"/>
            </a:endParaRPr>
          </a:p>
          <a:p>
            <a:pPr>
              <a:defRPr/>
            </a:pPr>
            <a:endParaRPr lang="en-GB">
              <a:latin typeface="+mn-lt"/>
            </a:endParaRPr>
          </a:p>
          <a:p>
            <a:pPr>
              <a:defRPr/>
            </a:pPr>
            <a:endParaRPr lang="en-GB"/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382000" y="6096000"/>
            <a:ext cx="609600" cy="6096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7379109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2000"/>
    </mc:Choice>
    <mc:Fallback>
      <p:transition spd="slow" advTm="2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81000" y="381000"/>
            <a:ext cx="8534400" cy="3600986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GB" sz="2400" b="1">
                <a:solidFill>
                  <a:srgbClr val="FF0000"/>
                </a:solidFill>
                <a:latin typeface="+mn-lt"/>
              </a:rPr>
              <a:t>Work with your supervisor</a:t>
            </a:r>
          </a:p>
          <a:p>
            <a:pPr>
              <a:defRPr/>
            </a:pPr>
            <a:endParaRPr lang="en-GB" sz="2400" b="1">
              <a:solidFill>
                <a:srgbClr val="FF0000"/>
              </a:solidFill>
              <a:latin typeface="+mn-lt"/>
            </a:endParaRPr>
          </a:p>
          <a:p>
            <a:pPr>
              <a:defRPr/>
            </a:pPr>
            <a:r>
              <a:rPr lang="en-GB" sz="2400" smtClean="0">
                <a:latin typeface="+mn-lt"/>
              </a:rPr>
              <a:t>Read/listen </a:t>
            </a:r>
            <a:r>
              <a:rPr lang="en-GB" sz="2400">
                <a:latin typeface="+mn-lt"/>
              </a:rPr>
              <a:t>to their advice </a:t>
            </a:r>
            <a:r>
              <a:rPr lang="en-GB" sz="2400" smtClean="0">
                <a:latin typeface="+mn-lt"/>
              </a:rPr>
              <a:t>carefully</a:t>
            </a:r>
            <a:r>
              <a:rPr lang="en-GB" sz="2400">
                <a:latin typeface="+mn-lt"/>
              </a:rPr>
              <a:t>:</a:t>
            </a:r>
            <a:endParaRPr lang="en-GB" sz="2400" smtClean="0">
              <a:latin typeface="+mn-lt"/>
            </a:endParaRPr>
          </a:p>
          <a:p>
            <a:pPr>
              <a:defRPr/>
            </a:pPr>
            <a:endParaRPr lang="en-GB" sz="2400">
              <a:latin typeface="+mn-lt"/>
            </a:endParaRPr>
          </a:p>
          <a:p>
            <a:pPr>
              <a:defRPr/>
            </a:pPr>
            <a:r>
              <a:rPr lang="en-GB" sz="2400" smtClean="0">
                <a:latin typeface="+mn-lt"/>
              </a:rPr>
              <a:t>They are experienced in supervising and assessing M-level dissertations</a:t>
            </a:r>
            <a:endParaRPr lang="en-GB" sz="2400">
              <a:latin typeface="+mn-lt"/>
            </a:endParaRPr>
          </a:p>
          <a:p>
            <a:pPr>
              <a:defRPr/>
            </a:pPr>
            <a:endParaRPr lang="en-GB" sz="2400">
              <a:latin typeface="+mn-lt"/>
            </a:endParaRPr>
          </a:p>
          <a:p>
            <a:pPr>
              <a:defRPr/>
            </a:pPr>
            <a:r>
              <a:rPr lang="en-GB" sz="2400">
                <a:latin typeface="+mn-lt"/>
              </a:rPr>
              <a:t>The supervisor is the first marker of your dissertation</a:t>
            </a:r>
          </a:p>
          <a:p>
            <a:pPr>
              <a:defRPr/>
            </a:pPr>
            <a:endParaRPr lang="en-GB">
              <a:latin typeface="+mn-lt"/>
            </a:endParaRPr>
          </a:p>
          <a:p>
            <a:pPr>
              <a:defRPr/>
            </a:pPr>
            <a:endParaRPr lang="en-GB"/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382000" y="6096000"/>
            <a:ext cx="609600" cy="6096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218118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4186"/>
    </mc:Choice>
    <mc:Fallback>
      <p:transition spd="slow" advTm="4418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2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81000" y="381000"/>
            <a:ext cx="8534400" cy="30469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GB" sz="2400" b="1">
                <a:solidFill>
                  <a:srgbClr val="FF0000"/>
                </a:solidFill>
                <a:latin typeface="+mn-lt"/>
              </a:rPr>
              <a:t>Work with your supervisor</a:t>
            </a:r>
          </a:p>
          <a:p>
            <a:pPr>
              <a:defRPr/>
            </a:pPr>
            <a:endParaRPr lang="en-GB" sz="2400" b="1" smtClean="0">
              <a:solidFill>
                <a:srgbClr val="FF0000"/>
              </a:solidFill>
              <a:latin typeface="+mn-lt"/>
            </a:endParaRPr>
          </a:p>
          <a:p>
            <a:pPr>
              <a:defRPr/>
            </a:pPr>
            <a:r>
              <a:rPr lang="en-GB" sz="2400" smtClean="0">
                <a:latin typeface="+mn-lt"/>
              </a:rPr>
              <a:t>If things go wrong…</a:t>
            </a:r>
          </a:p>
          <a:p>
            <a:pPr>
              <a:defRPr/>
            </a:pPr>
            <a:endParaRPr lang="en-GB" sz="2400">
              <a:latin typeface="+mn-lt"/>
            </a:endParaRPr>
          </a:p>
          <a:p>
            <a:pPr>
              <a:defRPr/>
            </a:pPr>
            <a:r>
              <a:rPr lang="en-GB" sz="2400" smtClean="0">
                <a:latin typeface="+mn-lt"/>
              </a:rPr>
              <a:t>1. Raise your concerns first with your supervisor</a:t>
            </a:r>
          </a:p>
          <a:p>
            <a:pPr>
              <a:defRPr/>
            </a:pPr>
            <a:endParaRPr lang="en-GB" sz="2400">
              <a:latin typeface="+mn-lt"/>
            </a:endParaRPr>
          </a:p>
          <a:p>
            <a:pPr>
              <a:defRPr/>
            </a:pPr>
            <a:r>
              <a:rPr lang="en-GB" sz="2400" smtClean="0">
                <a:latin typeface="+mn-lt"/>
              </a:rPr>
              <a:t>2. If that does not work, raise the matter with student services at RKC</a:t>
            </a:r>
            <a:endParaRPr lang="en-GB" sz="2400">
              <a:latin typeface="+mn-lt"/>
            </a:endParaRPr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382000" y="6096000"/>
            <a:ext cx="609600" cy="6096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7318113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3834"/>
    </mc:Choice>
    <mc:Fallback>
      <p:transition spd="slow" advTm="6383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.4|46.7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2|35.9|24.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2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9|3.7|15.8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2.7|11.2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3026</TotalTime>
  <Words>212</Words>
  <Application>Microsoft Office PowerPoint</Application>
  <PresentationFormat>On-screen Show (4:3)</PresentationFormat>
  <Paragraphs>38</Paragraphs>
  <Slides>6</Slides>
  <Notes>0</Notes>
  <HiddenSlides>0</HiddenSlides>
  <MMClips>6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Office Theme</vt:lpstr>
      <vt:lpstr>1_Office Theme</vt:lpstr>
      <vt:lpstr>The Dissertation:  Working with your supervisor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University of Hull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Independent Study 26432</dc:title>
  <dc:creator>David Nicholas Tucker</dc:creator>
  <cp:lastModifiedBy>George</cp:lastModifiedBy>
  <cp:revision>138</cp:revision>
  <cp:lastPrinted>2015-04-12T10:54:10Z</cp:lastPrinted>
  <dcterms:created xsi:type="dcterms:W3CDTF">2005-09-18T18:21:05Z</dcterms:created>
  <dcterms:modified xsi:type="dcterms:W3CDTF">2020-04-15T14:49:51Z</dcterms:modified>
</cp:coreProperties>
</file>