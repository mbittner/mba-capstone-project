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1568E1-BD1B-42F9-8FA4-45CA7CDC83FD}" type="datetimeFigureOut">
              <a:rPr lang="en-GB" smtClean="0"/>
              <a:t>11/08/2013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1A906A-71E0-4A06-87EB-6A323083C703}"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07FC4FB-298A-485E-8D88-F97ADB27530E}" type="datetime1">
              <a:rPr lang="en-GB" smtClean="0"/>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6F8B510D-5C5B-42F6-ABE8-F5846B6BCE86}"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7DE146B4-70DA-4B22-A228-FD85D4F0DDA1}" type="datetime1">
              <a:rPr lang="en-GB" smtClean="0"/>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6F8B510D-5C5B-42F6-ABE8-F5846B6BCE86}"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02BE31-D39F-4F4B-9DF2-50ECB3794D0C}" type="datetime1">
              <a:rPr lang="en-GB" smtClean="0"/>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6F8B510D-5C5B-42F6-ABE8-F5846B6BCE86}"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145A7936-05E7-4162-A975-30C8DD6AD1A5}" type="datetime1">
              <a:rPr lang="en-GB" smtClean="0"/>
              <a:t>11/08/2013</a:t>
            </a:fld>
            <a:endParaRPr lang="en-GB"/>
          </a:p>
        </p:txBody>
      </p:sp>
      <p:sp>
        <p:nvSpPr>
          <p:cNvPr id="6" name="Footer Placeholder 5"/>
          <p:cNvSpPr>
            <a:spLocks noGrp="1"/>
          </p:cNvSpPr>
          <p:nvPr>
            <p:ph type="ftr" sz="quarter" idx="11"/>
          </p:nvPr>
        </p:nvSpPr>
        <p:spPr/>
        <p:txBody>
          <a:bodyPr/>
          <a:lstStyle/>
          <a:p>
            <a:r>
              <a:rPr lang="en-GB" smtClean="0"/>
              <a:t>George Boak 2013</a:t>
            </a:r>
            <a:endParaRPr lang="en-GB"/>
          </a:p>
        </p:txBody>
      </p:sp>
      <p:sp>
        <p:nvSpPr>
          <p:cNvPr id="7" name="Slide Number Placeholder 6"/>
          <p:cNvSpPr>
            <a:spLocks noGrp="1"/>
          </p:cNvSpPr>
          <p:nvPr>
            <p:ph type="sldNum" sz="quarter" idx="12"/>
          </p:nvPr>
        </p:nvSpPr>
        <p:spPr/>
        <p:txBody>
          <a:bodyPr/>
          <a:lstStyle/>
          <a:p>
            <a:fld id="{6F8B510D-5C5B-42F6-ABE8-F5846B6BCE86}"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1A18E276-73D9-4558-92F2-E5A0FBDDA5C6}" type="datetime1">
              <a:rPr lang="en-GB" smtClean="0"/>
              <a:t>11/08/2013</a:t>
            </a:fld>
            <a:endParaRPr lang="en-GB"/>
          </a:p>
        </p:txBody>
      </p:sp>
      <p:sp>
        <p:nvSpPr>
          <p:cNvPr id="8" name="Footer Placeholder 7"/>
          <p:cNvSpPr>
            <a:spLocks noGrp="1"/>
          </p:cNvSpPr>
          <p:nvPr>
            <p:ph type="ftr" sz="quarter" idx="11"/>
          </p:nvPr>
        </p:nvSpPr>
        <p:spPr/>
        <p:txBody>
          <a:bodyPr/>
          <a:lstStyle/>
          <a:p>
            <a:r>
              <a:rPr lang="en-GB" smtClean="0"/>
              <a:t>George Boak 2013</a:t>
            </a:r>
            <a:endParaRPr lang="en-GB"/>
          </a:p>
        </p:txBody>
      </p:sp>
      <p:sp>
        <p:nvSpPr>
          <p:cNvPr id="9" name="Slide Number Placeholder 8"/>
          <p:cNvSpPr>
            <a:spLocks noGrp="1"/>
          </p:cNvSpPr>
          <p:nvPr>
            <p:ph type="sldNum" sz="quarter" idx="12"/>
          </p:nvPr>
        </p:nvSpPr>
        <p:spPr/>
        <p:txBody>
          <a:bodyPr/>
          <a:lstStyle/>
          <a:p>
            <a:fld id="{6F8B510D-5C5B-42F6-ABE8-F5846B6BCE86}"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0B88871E-C392-4D30-AA05-37305A2AD295}" type="datetime1">
              <a:rPr lang="en-GB" smtClean="0"/>
              <a:t>11/08/2013</a:t>
            </a:fld>
            <a:endParaRPr lang="en-GB"/>
          </a:p>
        </p:txBody>
      </p:sp>
      <p:sp>
        <p:nvSpPr>
          <p:cNvPr id="4" name="Footer Placeholder 3"/>
          <p:cNvSpPr>
            <a:spLocks noGrp="1"/>
          </p:cNvSpPr>
          <p:nvPr>
            <p:ph type="ftr" sz="quarter" idx="11"/>
          </p:nvPr>
        </p:nvSpPr>
        <p:spPr/>
        <p:txBody>
          <a:bodyPr/>
          <a:lstStyle/>
          <a:p>
            <a:r>
              <a:rPr lang="en-GB" smtClean="0"/>
              <a:t>George Boak 2013</a:t>
            </a:r>
            <a:endParaRPr lang="en-GB"/>
          </a:p>
        </p:txBody>
      </p:sp>
      <p:sp>
        <p:nvSpPr>
          <p:cNvPr id="5" name="Slide Number Placeholder 4"/>
          <p:cNvSpPr>
            <a:spLocks noGrp="1"/>
          </p:cNvSpPr>
          <p:nvPr>
            <p:ph type="sldNum" sz="quarter" idx="12"/>
          </p:nvPr>
        </p:nvSpPr>
        <p:spPr/>
        <p:txBody>
          <a:bodyPr/>
          <a:lstStyle/>
          <a:p>
            <a:fld id="{6F8B510D-5C5B-42F6-ABE8-F5846B6BCE86}"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A1AD6C-6078-4A96-AB7E-5D4AA779674D}" type="datetime1">
              <a:rPr lang="en-GB" smtClean="0"/>
              <a:t>11/08/2013</a:t>
            </a:fld>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
        <p:nvSpPr>
          <p:cNvPr id="4" name="Slide Number Placeholder 3"/>
          <p:cNvSpPr>
            <a:spLocks noGrp="1"/>
          </p:cNvSpPr>
          <p:nvPr>
            <p:ph type="sldNum" sz="quarter" idx="12"/>
          </p:nvPr>
        </p:nvSpPr>
        <p:spPr/>
        <p:txBody>
          <a:bodyPr/>
          <a:lstStyle/>
          <a:p>
            <a:fld id="{6F8B510D-5C5B-42F6-ABE8-F5846B6BCE86}"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391620-CF04-4962-B499-A61F11D1C66E}" type="datetime1">
              <a:rPr lang="en-GB" smtClean="0"/>
              <a:t>11/08/2013</a:t>
            </a:fld>
            <a:endParaRPr lang="en-GB"/>
          </a:p>
        </p:txBody>
      </p:sp>
      <p:sp>
        <p:nvSpPr>
          <p:cNvPr id="6" name="Footer Placeholder 5"/>
          <p:cNvSpPr>
            <a:spLocks noGrp="1"/>
          </p:cNvSpPr>
          <p:nvPr>
            <p:ph type="ftr" sz="quarter" idx="11"/>
          </p:nvPr>
        </p:nvSpPr>
        <p:spPr/>
        <p:txBody>
          <a:bodyPr/>
          <a:lstStyle/>
          <a:p>
            <a:r>
              <a:rPr lang="en-GB" smtClean="0"/>
              <a:t>George Boak 2013</a:t>
            </a:r>
            <a:endParaRPr lang="en-GB"/>
          </a:p>
        </p:txBody>
      </p:sp>
      <p:sp>
        <p:nvSpPr>
          <p:cNvPr id="7" name="Slide Number Placeholder 6"/>
          <p:cNvSpPr>
            <a:spLocks noGrp="1"/>
          </p:cNvSpPr>
          <p:nvPr>
            <p:ph type="sldNum" sz="quarter" idx="12"/>
          </p:nvPr>
        </p:nvSpPr>
        <p:spPr/>
        <p:txBody>
          <a:bodyPr/>
          <a:lstStyle/>
          <a:p>
            <a:fld id="{6F8B510D-5C5B-42F6-ABE8-F5846B6BCE86}"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C3254CE-A0F9-466C-90B0-D0E4111F80EE}" type="datetime1">
              <a:rPr lang="en-GB" smtClean="0"/>
              <a:t>11/08/2013</a:t>
            </a:fld>
            <a:endParaRPr lang="en-GB"/>
          </a:p>
        </p:txBody>
      </p:sp>
      <p:sp>
        <p:nvSpPr>
          <p:cNvPr id="6" name="Footer Placeholder 5"/>
          <p:cNvSpPr>
            <a:spLocks noGrp="1"/>
          </p:cNvSpPr>
          <p:nvPr>
            <p:ph type="ftr" sz="quarter" idx="11"/>
          </p:nvPr>
        </p:nvSpPr>
        <p:spPr/>
        <p:txBody>
          <a:bodyPr/>
          <a:lstStyle/>
          <a:p>
            <a:r>
              <a:rPr lang="en-GB" smtClean="0"/>
              <a:t>George Boak 2013</a:t>
            </a:r>
            <a:endParaRPr lang="en-GB"/>
          </a:p>
        </p:txBody>
      </p:sp>
      <p:sp>
        <p:nvSpPr>
          <p:cNvPr id="7" name="Slide Number Placeholder 6"/>
          <p:cNvSpPr>
            <a:spLocks noGrp="1"/>
          </p:cNvSpPr>
          <p:nvPr>
            <p:ph type="sldNum" sz="quarter" idx="12"/>
          </p:nvPr>
        </p:nvSpPr>
        <p:spPr/>
        <p:txBody>
          <a:bodyPr/>
          <a:lstStyle/>
          <a:p>
            <a:fld id="{6F8B510D-5C5B-42F6-ABE8-F5846B6BCE86}"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1C2F564C-EB88-4989-BCE1-074FD2DA5BB0}" type="datetime1">
              <a:rPr lang="en-GB" smtClean="0"/>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6F8B510D-5C5B-42F6-ABE8-F5846B6BCE86}"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9049167-9808-4858-8CE5-05A59FA77B71}" type="datetime1">
              <a:rPr lang="en-GB" smtClean="0"/>
              <a:t>11/08/2013</a:t>
            </a:fld>
            <a:endParaRPr lang="en-GB"/>
          </a:p>
        </p:txBody>
      </p:sp>
      <p:sp>
        <p:nvSpPr>
          <p:cNvPr id="5" name="Footer Placeholder 4"/>
          <p:cNvSpPr>
            <a:spLocks noGrp="1"/>
          </p:cNvSpPr>
          <p:nvPr>
            <p:ph type="ftr" sz="quarter" idx="11"/>
          </p:nvPr>
        </p:nvSpPr>
        <p:spPr/>
        <p:txBody>
          <a:bodyPr/>
          <a:lstStyle/>
          <a:p>
            <a:r>
              <a:rPr lang="en-GB" smtClean="0"/>
              <a:t>George Boak 2013</a:t>
            </a:r>
            <a:endParaRPr lang="en-GB"/>
          </a:p>
        </p:txBody>
      </p:sp>
      <p:sp>
        <p:nvSpPr>
          <p:cNvPr id="6" name="Slide Number Placeholder 5"/>
          <p:cNvSpPr>
            <a:spLocks noGrp="1"/>
          </p:cNvSpPr>
          <p:nvPr>
            <p:ph type="sldNum" sz="quarter" idx="12"/>
          </p:nvPr>
        </p:nvSpPr>
        <p:spPr/>
        <p:txBody>
          <a:bodyPr/>
          <a:lstStyle/>
          <a:p>
            <a:fld id="{6F8B510D-5C5B-42F6-ABE8-F5846B6BCE86}"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5CAC9D-5449-4F4C-A7E7-1A9CA4D02DC5}" type="datetime1">
              <a:rPr lang="en-GB" smtClean="0"/>
              <a:t>11/08/2013</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smtClean="0"/>
              <a:t>George Boak 2013</a:t>
            </a: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8B510D-5C5B-42F6-ABE8-F5846B6BCE86}"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620688"/>
            <a:ext cx="7992888" cy="523220"/>
          </a:xfrm>
          <a:prstGeom prst="rect">
            <a:avLst/>
          </a:prstGeom>
          <a:noFill/>
        </p:spPr>
        <p:txBody>
          <a:bodyPr wrap="square" rtlCol="0">
            <a:spAutoFit/>
          </a:bodyPr>
          <a:lstStyle/>
          <a:p>
            <a:r>
              <a:rPr lang="en-GB" sz="2800" smtClean="0">
                <a:latin typeface="Arial" pitchFamily="34" charset="0"/>
                <a:cs typeface="Arial" pitchFamily="34" charset="0"/>
              </a:rPr>
              <a:t>An introduction to sampling</a:t>
            </a:r>
            <a:endParaRPr lang="en-GB" sz="2800">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9552" y="548680"/>
            <a:ext cx="7848872" cy="5299912"/>
          </a:xfrm>
          <a:prstGeom prst="rect">
            <a:avLst/>
          </a:prstGeom>
          <a:noFill/>
        </p:spPr>
        <p:txBody>
          <a:bodyPr wrap="square" rtlCol="0">
            <a:spAutoFit/>
          </a:bodyPr>
          <a:lstStyle/>
          <a:p>
            <a:pPr>
              <a:lnSpc>
                <a:spcPct val="115000"/>
              </a:lnSpc>
              <a:spcAft>
                <a:spcPts val="0"/>
              </a:spcAft>
            </a:pPr>
            <a:r>
              <a:rPr lang="en-GB" sz="2400" smtClean="0">
                <a:latin typeface="Arial" pitchFamily="34" charset="0"/>
                <a:ea typeface="Calibri"/>
                <a:cs typeface="Arial" pitchFamily="34" charset="0"/>
              </a:rPr>
              <a:t>Sampling concerns who (or what) we draw our information from when we carry out research. </a:t>
            </a:r>
          </a:p>
          <a:p>
            <a:pPr>
              <a:lnSpc>
                <a:spcPct val="115000"/>
              </a:lnSpc>
              <a:spcAft>
                <a:spcPts val="0"/>
              </a:spcAft>
            </a:pPr>
            <a:endParaRPr lang="en-GB" sz="240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It might be </a:t>
            </a:r>
            <a:endParaRPr lang="en-GB" sz="240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 </a:t>
            </a:r>
            <a:endParaRPr lang="en-GB" sz="2400">
              <a:latin typeface="Arial" pitchFamily="34" charset="0"/>
              <a:ea typeface="Calibri"/>
              <a:cs typeface="Arial" pitchFamily="34" charset="0"/>
            </a:endParaRPr>
          </a:p>
          <a:p>
            <a:pPr marL="342900" lvl="0" indent="-342900">
              <a:lnSpc>
                <a:spcPct val="115000"/>
              </a:lnSpc>
              <a:spcAft>
                <a:spcPts val="0"/>
              </a:spcAft>
              <a:buFont typeface="Symbol"/>
              <a:buChar char=""/>
            </a:pPr>
            <a:r>
              <a:rPr lang="en-GB" sz="2400" smtClean="0">
                <a:latin typeface="Arial" pitchFamily="34" charset="0"/>
                <a:ea typeface="Calibri"/>
                <a:cs typeface="Arial" pitchFamily="34" charset="0"/>
              </a:rPr>
              <a:t>a sample of people</a:t>
            </a:r>
            <a:endParaRPr lang="en-GB" sz="2400">
              <a:latin typeface="Arial" pitchFamily="34" charset="0"/>
              <a:ea typeface="Calibri"/>
              <a:cs typeface="Arial" pitchFamily="34" charset="0"/>
            </a:endParaRPr>
          </a:p>
          <a:p>
            <a:pPr marL="342900" lvl="0" indent="-342900">
              <a:lnSpc>
                <a:spcPct val="115000"/>
              </a:lnSpc>
              <a:spcAft>
                <a:spcPts val="0"/>
              </a:spcAft>
              <a:buFont typeface="Symbol"/>
              <a:buChar char=""/>
            </a:pPr>
            <a:r>
              <a:rPr lang="en-GB" sz="2400" smtClean="0">
                <a:latin typeface="Arial" pitchFamily="34" charset="0"/>
                <a:ea typeface="Calibri"/>
                <a:cs typeface="Arial" pitchFamily="34" charset="0"/>
              </a:rPr>
              <a:t>a sample of events</a:t>
            </a:r>
            <a:endParaRPr lang="en-GB" sz="2400">
              <a:latin typeface="Arial" pitchFamily="34" charset="0"/>
              <a:ea typeface="Calibri"/>
              <a:cs typeface="Arial" pitchFamily="34" charset="0"/>
            </a:endParaRPr>
          </a:p>
          <a:p>
            <a:pPr marL="342900" lvl="0" indent="-342900">
              <a:lnSpc>
                <a:spcPct val="115000"/>
              </a:lnSpc>
              <a:spcAft>
                <a:spcPts val="0"/>
              </a:spcAft>
              <a:buFont typeface="Symbol"/>
              <a:buChar char=""/>
            </a:pPr>
            <a:r>
              <a:rPr lang="en-GB" sz="2400" smtClean="0">
                <a:latin typeface="Arial" pitchFamily="34" charset="0"/>
                <a:ea typeface="Calibri"/>
                <a:cs typeface="Arial" pitchFamily="34" charset="0"/>
              </a:rPr>
              <a:t>a sample of documents</a:t>
            </a:r>
          </a:p>
          <a:p>
            <a:pPr marL="342900" lvl="0" indent="-342900">
              <a:lnSpc>
                <a:spcPct val="115000"/>
              </a:lnSpc>
              <a:spcAft>
                <a:spcPts val="0"/>
              </a:spcAft>
              <a:buFont typeface="Symbol"/>
              <a:buChar char=""/>
            </a:pPr>
            <a:endParaRPr lang="en-GB" sz="2400">
              <a:latin typeface="Arial" pitchFamily="34" charset="0"/>
              <a:ea typeface="Calibri"/>
              <a:cs typeface="Arial" pitchFamily="34" charset="0"/>
            </a:endParaRPr>
          </a:p>
          <a:p>
            <a:r>
              <a:rPr lang="en-GB" sz="2400">
                <a:latin typeface="Arial" pitchFamily="34" charset="0"/>
                <a:cs typeface="Arial" pitchFamily="34" charset="0"/>
              </a:rPr>
              <a:t>A sample is a smaller number (</a:t>
            </a:r>
            <a:r>
              <a:rPr lang="en-GB" sz="2400" smtClean="0">
                <a:latin typeface="Arial" pitchFamily="34" charset="0"/>
                <a:cs typeface="Arial" pitchFamily="34" charset="0"/>
              </a:rPr>
              <a:t>of </a:t>
            </a:r>
            <a:r>
              <a:rPr lang="en-GB" sz="2400">
                <a:latin typeface="Arial" pitchFamily="34" charset="0"/>
                <a:cs typeface="Arial" pitchFamily="34" charset="0"/>
              </a:rPr>
              <a:t>people, events or documents) than the whole </a:t>
            </a:r>
            <a:r>
              <a:rPr lang="en-GB" sz="2400" smtClean="0">
                <a:latin typeface="Arial" pitchFamily="34" charset="0"/>
                <a:cs typeface="Arial" pitchFamily="34" charset="0"/>
              </a:rPr>
              <a:t>collection - </a:t>
            </a:r>
            <a:r>
              <a:rPr lang="en-GB" sz="2400">
                <a:latin typeface="Arial" pitchFamily="34" charset="0"/>
                <a:cs typeface="Arial" pitchFamily="34" charset="0"/>
              </a:rPr>
              <a:t>which is called the 'population'. </a:t>
            </a: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1903472"/>
            <a:ext cx="7776864" cy="2677656"/>
          </a:xfrm>
          <a:prstGeom prst="rect">
            <a:avLst/>
          </a:prstGeom>
          <a:noFill/>
        </p:spPr>
        <p:txBody>
          <a:bodyPr wrap="square" rtlCol="0">
            <a:spAutoFit/>
          </a:bodyPr>
          <a:lstStyle/>
          <a:p>
            <a:r>
              <a:rPr lang="en-GB" sz="2400" smtClean="0">
                <a:latin typeface="Arial" pitchFamily="34" charset="0"/>
                <a:cs typeface="Arial" pitchFamily="34" charset="0"/>
              </a:rPr>
              <a:t>Why sample?</a:t>
            </a:r>
          </a:p>
          <a:p>
            <a:endParaRPr lang="en-GB" sz="2400">
              <a:latin typeface="Arial" pitchFamily="34" charset="0"/>
              <a:cs typeface="Arial" pitchFamily="34" charset="0"/>
            </a:endParaRPr>
          </a:p>
          <a:p>
            <a:r>
              <a:rPr lang="en-GB" sz="2400" smtClean="0">
                <a:latin typeface="Arial" pitchFamily="34" charset="0"/>
                <a:cs typeface="Arial" pitchFamily="34" charset="0"/>
              </a:rPr>
              <a:t>What kinds of samples do we need?</a:t>
            </a:r>
          </a:p>
          <a:p>
            <a:endParaRPr lang="en-GB" sz="2400">
              <a:latin typeface="Arial" pitchFamily="34" charset="0"/>
              <a:cs typeface="Arial" pitchFamily="34" charset="0"/>
            </a:endParaRPr>
          </a:p>
          <a:p>
            <a:r>
              <a:rPr lang="en-GB" sz="2400" smtClean="0">
                <a:latin typeface="Arial" pitchFamily="34" charset="0"/>
                <a:cs typeface="Arial" pitchFamily="34" charset="0"/>
              </a:rPr>
              <a:t>Probability sampling</a:t>
            </a:r>
          </a:p>
          <a:p>
            <a:endParaRPr lang="en-GB" sz="2400">
              <a:latin typeface="Arial" pitchFamily="34" charset="0"/>
              <a:cs typeface="Arial" pitchFamily="34" charset="0"/>
            </a:endParaRPr>
          </a:p>
          <a:p>
            <a:r>
              <a:rPr lang="en-GB" sz="2400" smtClean="0">
                <a:latin typeface="Arial" pitchFamily="34" charset="0"/>
                <a:cs typeface="Arial" pitchFamily="34" charset="0"/>
              </a:rPr>
              <a:t>Non-probability sampling</a:t>
            </a:r>
            <a:endParaRPr lang="en-GB" sz="2400">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1560" y="620688"/>
            <a:ext cx="7704856" cy="4062651"/>
          </a:xfrm>
          <a:prstGeom prst="rect">
            <a:avLst/>
          </a:prstGeom>
          <a:noFill/>
        </p:spPr>
        <p:txBody>
          <a:bodyPr wrap="square" rtlCol="0">
            <a:spAutoFit/>
          </a:bodyPr>
          <a:lstStyle/>
          <a:p>
            <a:r>
              <a:rPr lang="en-GB" sz="2400" smtClean="0">
                <a:latin typeface="Arial" pitchFamily="34" charset="0"/>
                <a:cs typeface="Arial" pitchFamily="34" charset="0"/>
              </a:rPr>
              <a:t>Research question:</a:t>
            </a:r>
          </a:p>
          <a:p>
            <a:endParaRPr lang="en-GB" sz="2400">
              <a:latin typeface="Arial" pitchFamily="34" charset="0"/>
              <a:cs typeface="Arial" pitchFamily="34" charset="0"/>
            </a:endParaRPr>
          </a:p>
          <a:p>
            <a:r>
              <a:rPr lang="en-GB" sz="2400" smtClean="0">
                <a:latin typeface="Arial" pitchFamily="34" charset="0"/>
                <a:cs typeface="Arial" pitchFamily="34" charset="0"/>
              </a:rPr>
              <a:t>What do chief </a:t>
            </a:r>
            <a:r>
              <a:rPr lang="en-GB" sz="2400">
                <a:latin typeface="Arial" pitchFamily="34" charset="0"/>
                <a:cs typeface="Arial" pitchFamily="34" charset="0"/>
              </a:rPr>
              <a:t>executives in a particular industry believe to be the main challenges over the next five years, and how they propose to meet </a:t>
            </a:r>
            <a:r>
              <a:rPr lang="en-GB" sz="2400" smtClean="0">
                <a:latin typeface="Arial" pitchFamily="34" charset="0"/>
                <a:cs typeface="Arial" pitchFamily="34" charset="0"/>
              </a:rPr>
              <a:t>them?</a:t>
            </a:r>
          </a:p>
          <a:p>
            <a:endParaRPr lang="en-GB" sz="2400">
              <a:latin typeface="Arial" pitchFamily="34" charset="0"/>
              <a:cs typeface="Arial" pitchFamily="34" charset="0"/>
            </a:endParaRPr>
          </a:p>
          <a:p>
            <a:r>
              <a:rPr lang="en-GB" sz="2400" smtClean="0">
                <a:latin typeface="Arial" pitchFamily="34" charset="0"/>
                <a:cs typeface="Arial" pitchFamily="34" charset="0"/>
              </a:rPr>
              <a:t>We </a:t>
            </a:r>
            <a:r>
              <a:rPr lang="en-GB" sz="2400">
                <a:latin typeface="Arial" pitchFamily="34" charset="0"/>
                <a:cs typeface="Arial" pitchFamily="34" charset="0"/>
              </a:rPr>
              <a:t>could:</a:t>
            </a:r>
          </a:p>
          <a:p>
            <a:r>
              <a:rPr lang="en-GB" sz="2400">
                <a:latin typeface="Arial" pitchFamily="34" charset="0"/>
                <a:cs typeface="Arial" pitchFamily="34" charset="0"/>
              </a:rPr>
              <a:t> </a:t>
            </a:r>
          </a:p>
          <a:p>
            <a:pPr marL="342900" lvl="0" indent="-342900">
              <a:buFont typeface="+mj-lt"/>
              <a:buAutoNum type="alphaLcParenR"/>
            </a:pPr>
            <a:r>
              <a:rPr lang="en-GB" sz="2400">
                <a:latin typeface="Arial" pitchFamily="34" charset="0"/>
                <a:cs typeface="Arial" pitchFamily="34" charset="0"/>
              </a:rPr>
              <a:t>survey all the chief executives in that industry</a:t>
            </a:r>
          </a:p>
          <a:p>
            <a:pPr marL="342900" lvl="0" indent="-342900">
              <a:buFont typeface="+mj-lt"/>
              <a:buAutoNum type="alphaLcParenR"/>
            </a:pPr>
            <a:r>
              <a:rPr lang="en-GB" sz="2400">
                <a:latin typeface="Arial" pitchFamily="34" charset="0"/>
                <a:cs typeface="Arial" pitchFamily="34" charset="0"/>
              </a:rPr>
              <a:t>focus on getting information from a sample of them</a:t>
            </a:r>
          </a:p>
          <a:p>
            <a:r>
              <a:rPr lang="en-GB"/>
              <a:t> </a:t>
            </a:r>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620688"/>
            <a:ext cx="8064896" cy="2954655"/>
          </a:xfrm>
          <a:prstGeom prst="rect">
            <a:avLst/>
          </a:prstGeom>
          <a:noFill/>
        </p:spPr>
        <p:txBody>
          <a:bodyPr wrap="square" rtlCol="0">
            <a:spAutoFit/>
          </a:bodyPr>
          <a:lstStyle/>
          <a:p>
            <a:r>
              <a:rPr lang="en-GB" sz="2400">
                <a:latin typeface="Arial" pitchFamily="34" charset="0"/>
                <a:cs typeface="Arial" pitchFamily="34" charset="0"/>
              </a:rPr>
              <a:t>If we want to be able to generalise from a sample, we need a representative </a:t>
            </a:r>
            <a:r>
              <a:rPr lang="en-GB" sz="2400" smtClean="0">
                <a:latin typeface="Arial" pitchFamily="34" charset="0"/>
                <a:cs typeface="Arial" pitchFamily="34" charset="0"/>
              </a:rPr>
              <a:t>sample: </a:t>
            </a:r>
          </a:p>
          <a:p>
            <a:endParaRPr lang="en-GB" sz="2400">
              <a:latin typeface="Arial" pitchFamily="34" charset="0"/>
              <a:cs typeface="Arial" pitchFamily="34" charset="0"/>
            </a:endParaRPr>
          </a:p>
          <a:p>
            <a:r>
              <a:rPr lang="en-GB" sz="2400" smtClean="0">
                <a:latin typeface="Arial" pitchFamily="34" charset="0"/>
                <a:cs typeface="Arial" pitchFamily="34" charset="0"/>
              </a:rPr>
              <a:t>a </a:t>
            </a:r>
            <a:r>
              <a:rPr lang="en-GB" sz="2400">
                <a:latin typeface="Arial" pitchFamily="34" charset="0"/>
                <a:cs typeface="Arial" pitchFamily="34" charset="0"/>
              </a:rPr>
              <a:t>'sample that reflects the population accurately, so that it is a microcosm of the population' Bryman (2008: 168</a:t>
            </a:r>
            <a:r>
              <a:rPr lang="en-GB" sz="2400" smtClean="0">
                <a:latin typeface="Arial" pitchFamily="34" charset="0"/>
                <a:cs typeface="Arial" pitchFamily="34" charset="0"/>
              </a:rPr>
              <a:t>)</a:t>
            </a:r>
          </a:p>
          <a:p>
            <a:endParaRPr lang="en-GB" sz="2400">
              <a:latin typeface="Arial" pitchFamily="34" charset="0"/>
              <a:cs typeface="Arial" pitchFamily="34" charset="0"/>
            </a:endParaRPr>
          </a:p>
          <a:p>
            <a:r>
              <a:rPr lang="en-GB" sz="2400" smtClean="0">
                <a:latin typeface="Arial" pitchFamily="34" charset="0"/>
                <a:cs typeface="Arial" pitchFamily="34" charset="0"/>
              </a:rPr>
              <a:t>If we want to generalise, we need large samples.</a:t>
            </a:r>
            <a:endParaRPr lang="en-GB" sz="2400">
              <a:latin typeface="Arial" pitchFamily="34" charset="0"/>
              <a:cs typeface="Arial" pitchFamily="34" charset="0"/>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476672"/>
            <a:ext cx="7848872" cy="4524315"/>
          </a:xfrm>
          <a:prstGeom prst="rect">
            <a:avLst/>
          </a:prstGeom>
          <a:noFill/>
        </p:spPr>
        <p:txBody>
          <a:bodyPr wrap="square" rtlCol="0">
            <a:spAutoFit/>
          </a:bodyPr>
          <a:lstStyle/>
          <a:p>
            <a:r>
              <a:rPr lang="en-GB" sz="2400">
                <a:latin typeface="Arial" pitchFamily="34" charset="0"/>
                <a:cs typeface="Arial" pitchFamily="34" charset="0"/>
              </a:rPr>
              <a:t>Sample size affects the extent to which you can be confident that results from your sample are representative of the population. </a:t>
            </a:r>
            <a:endParaRPr lang="en-GB" sz="2400" smtClean="0">
              <a:latin typeface="Arial" pitchFamily="34" charset="0"/>
              <a:cs typeface="Arial" pitchFamily="34" charset="0"/>
            </a:endParaRPr>
          </a:p>
          <a:p>
            <a:endParaRPr lang="en-GB" sz="2400">
              <a:latin typeface="Arial" pitchFamily="34" charset="0"/>
              <a:cs typeface="Arial" pitchFamily="34" charset="0"/>
            </a:endParaRPr>
          </a:p>
          <a:p>
            <a:r>
              <a:rPr lang="en-GB" sz="2400" smtClean="0">
                <a:latin typeface="Arial" pitchFamily="34" charset="0"/>
                <a:cs typeface="Arial" pitchFamily="34" charset="0"/>
              </a:rPr>
              <a:t>Actual </a:t>
            </a:r>
            <a:r>
              <a:rPr lang="en-GB" sz="2400">
                <a:latin typeface="Arial" pitchFamily="34" charset="0"/>
                <a:cs typeface="Arial" pitchFamily="34" charset="0"/>
              </a:rPr>
              <a:t>sample size is the number of usable responses you receive - </a:t>
            </a:r>
            <a:r>
              <a:rPr lang="en-GB" sz="2400" smtClean="0">
                <a:latin typeface="Arial" pitchFamily="34" charset="0"/>
                <a:cs typeface="Arial" pitchFamily="34" charset="0"/>
              </a:rPr>
              <a:t>the </a:t>
            </a:r>
            <a:r>
              <a:rPr lang="en-GB" sz="2400">
                <a:latin typeface="Arial" pitchFamily="34" charset="0"/>
                <a:cs typeface="Arial" pitchFamily="34" charset="0"/>
              </a:rPr>
              <a:t>number of invitations to provide a response, minus the people who do not respond or who do not provide usable data.</a:t>
            </a:r>
          </a:p>
          <a:p>
            <a:r>
              <a:rPr lang="en-GB" sz="2400">
                <a:latin typeface="Arial" pitchFamily="34" charset="0"/>
                <a:cs typeface="Arial" pitchFamily="34" charset="0"/>
              </a:rPr>
              <a:t> </a:t>
            </a:r>
          </a:p>
          <a:p>
            <a:r>
              <a:rPr lang="en-GB" sz="2400">
                <a:latin typeface="Arial" pitchFamily="34" charset="0"/>
                <a:cs typeface="Arial" pitchFamily="34" charset="0"/>
              </a:rPr>
              <a:t>The bigger a random sample, the more representative of the population it is likely to be. </a:t>
            </a:r>
          </a:p>
          <a:p>
            <a:endParaRPr lang="en-GB" sz="2400">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11560" y="476672"/>
            <a:ext cx="7992888" cy="6001643"/>
          </a:xfrm>
          <a:prstGeom prst="rect">
            <a:avLst/>
          </a:prstGeom>
          <a:noFill/>
        </p:spPr>
        <p:txBody>
          <a:bodyPr wrap="square" rtlCol="0">
            <a:spAutoFit/>
          </a:bodyPr>
          <a:lstStyle/>
          <a:p>
            <a:r>
              <a:rPr lang="en-GB" sz="2400" smtClean="0">
                <a:latin typeface="Arial" pitchFamily="34" charset="0"/>
                <a:cs typeface="Arial" pitchFamily="34" charset="0"/>
              </a:rPr>
              <a:t>How big should a sample be, in order to be representative?</a:t>
            </a:r>
          </a:p>
          <a:p>
            <a:endParaRPr lang="en-GB" sz="2400">
              <a:latin typeface="Arial" pitchFamily="34" charset="0"/>
              <a:cs typeface="Arial" pitchFamily="34" charset="0"/>
            </a:endParaRPr>
          </a:p>
          <a:p>
            <a:r>
              <a:rPr lang="en-GB" sz="2400" smtClean="0">
                <a:latin typeface="Arial" pitchFamily="34" charset="0"/>
                <a:cs typeface="Arial" pitchFamily="34" charset="0"/>
              </a:rPr>
              <a:t>Statisticians </a:t>
            </a:r>
            <a:r>
              <a:rPr lang="en-GB" sz="2400">
                <a:latin typeface="Arial" pitchFamily="34" charset="0"/>
                <a:cs typeface="Arial" pitchFamily="34" charset="0"/>
              </a:rPr>
              <a:t>express this in terms of </a:t>
            </a:r>
          </a:p>
          <a:p>
            <a:pPr>
              <a:buFont typeface="Arial" pitchFamily="34" charset="0"/>
              <a:buChar char="•"/>
            </a:pPr>
            <a:r>
              <a:rPr lang="en-GB" sz="2400">
                <a:latin typeface="Arial" pitchFamily="34" charset="0"/>
                <a:cs typeface="Arial" pitchFamily="34" charset="0"/>
              </a:rPr>
              <a:t> </a:t>
            </a:r>
            <a:r>
              <a:rPr lang="en-GB" sz="2400" smtClean="0">
                <a:latin typeface="Arial" pitchFamily="34" charset="0"/>
                <a:cs typeface="Arial" pitchFamily="34" charset="0"/>
              </a:rPr>
              <a:t>  confidence </a:t>
            </a:r>
            <a:r>
              <a:rPr lang="en-GB" sz="2400">
                <a:latin typeface="Arial" pitchFamily="34" charset="0"/>
                <a:cs typeface="Arial" pitchFamily="34" charset="0"/>
              </a:rPr>
              <a:t>level </a:t>
            </a:r>
            <a:r>
              <a:rPr lang="en-GB" sz="2400" smtClean="0">
                <a:latin typeface="Arial" pitchFamily="34" charset="0"/>
                <a:cs typeface="Arial" pitchFamily="34" charset="0"/>
              </a:rPr>
              <a:t> </a:t>
            </a:r>
            <a:endParaRPr lang="en-GB" sz="2400">
              <a:latin typeface="Arial" pitchFamily="34" charset="0"/>
              <a:cs typeface="Arial" pitchFamily="34" charset="0"/>
            </a:endParaRPr>
          </a:p>
          <a:p>
            <a:pPr lvl="0">
              <a:buFont typeface="Arial" pitchFamily="34" charset="0"/>
              <a:buChar char="•"/>
            </a:pPr>
            <a:r>
              <a:rPr lang="en-GB" sz="2400" smtClean="0">
                <a:latin typeface="Arial" pitchFamily="34" charset="0"/>
                <a:cs typeface="Arial" pitchFamily="34" charset="0"/>
              </a:rPr>
              <a:t>  error rate</a:t>
            </a:r>
            <a:endParaRPr lang="en-GB" sz="2400">
              <a:latin typeface="Arial" pitchFamily="34" charset="0"/>
              <a:cs typeface="Arial" pitchFamily="34" charset="0"/>
            </a:endParaRPr>
          </a:p>
          <a:p>
            <a:r>
              <a:rPr lang="en-GB" sz="2400">
                <a:latin typeface="Arial" pitchFamily="34" charset="0"/>
                <a:cs typeface="Arial" pitchFamily="34" charset="0"/>
              </a:rPr>
              <a:t> </a:t>
            </a:r>
          </a:p>
          <a:p>
            <a:r>
              <a:rPr lang="en-GB" sz="2400">
                <a:latin typeface="Arial" pitchFamily="34" charset="0"/>
                <a:cs typeface="Arial" pitchFamily="34" charset="0"/>
              </a:rPr>
              <a:t>The confidence level is the degree </a:t>
            </a:r>
            <a:r>
              <a:rPr lang="en-GB" sz="2400" smtClean="0">
                <a:latin typeface="Arial" pitchFamily="34" charset="0"/>
                <a:cs typeface="Arial" pitchFamily="34" charset="0"/>
              </a:rPr>
              <a:t>to </a:t>
            </a:r>
            <a:r>
              <a:rPr lang="en-GB" sz="2400">
                <a:latin typeface="Arial" pitchFamily="34" charset="0"/>
                <a:cs typeface="Arial" pitchFamily="34" charset="0"/>
              </a:rPr>
              <a:t>which you are certain that the responses from the sample are representative of the population. </a:t>
            </a:r>
            <a:endParaRPr lang="en-GB" sz="2400" smtClean="0">
              <a:latin typeface="Arial" pitchFamily="34" charset="0"/>
              <a:cs typeface="Arial" pitchFamily="34" charset="0"/>
            </a:endParaRPr>
          </a:p>
          <a:p>
            <a:endParaRPr lang="en-GB" sz="2400" smtClean="0">
              <a:latin typeface="Arial" pitchFamily="34" charset="0"/>
              <a:cs typeface="Arial" pitchFamily="34" charset="0"/>
            </a:endParaRPr>
          </a:p>
          <a:p>
            <a:r>
              <a:rPr lang="en-GB" sz="2400" smtClean="0">
                <a:latin typeface="Arial" pitchFamily="34" charset="0"/>
                <a:cs typeface="Arial" pitchFamily="34" charset="0"/>
              </a:rPr>
              <a:t>A </a:t>
            </a:r>
            <a:r>
              <a:rPr lang="en-GB" sz="2400">
                <a:latin typeface="Arial" pitchFamily="34" charset="0"/>
                <a:cs typeface="Arial" pitchFamily="34" charset="0"/>
              </a:rPr>
              <a:t>confidence level of 95% is used by many business researchers.</a:t>
            </a:r>
          </a:p>
          <a:p>
            <a:r>
              <a:rPr lang="en-GB" sz="2400">
                <a:latin typeface="Arial" pitchFamily="34" charset="0"/>
                <a:cs typeface="Arial" pitchFamily="34" charset="0"/>
              </a:rPr>
              <a:t> </a:t>
            </a:r>
          </a:p>
          <a:p>
            <a:r>
              <a:rPr lang="en-GB" sz="2400">
                <a:latin typeface="Arial" pitchFamily="34" charset="0"/>
                <a:cs typeface="Arial" pitchFamily="34" charset="0"/>
              </a:rPr>
              <a:t>The error rate is the margin of error.</a:t>
            </a:r>
          </a:p>
          <a:p>
            <a:endParaRPr lang="en-GB" sz="2400">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20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2000"/>
                                        <p:tgtEl>
                                          <p:spTgt spid="4">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Effect transition="in" filter="fade">
                                      <p:cBhvr>
                                        <p:cTn id="13" dur="2000"/>
                                        <p:tgtEl>
                                          <p:spTgt spid="4">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6" end="6"/>
                                            </p:txEl>
                                          </p:spTgt>
                                        </p:tgtEl>
                                        <p:attrNameLst>
                                          <p:attrName>style.visibility</p:attrName>
                                        </p:attrNameLst>
                                      </p:cBhvr>
                                      <p:to>
                                        <p:strVal val="visible"/>
                                      </p:to>
                                    </p:set>
                                    <p:animEffect transition="in" filter="fade">
                                      <p:cBhvr>
                                        <p:cTn id="18" dur="2000"/>
                                        <p:tgtEl>
                                          <p:spTgt spid="4">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animEffect transition="in" filter="fade">
                                      <p:cBhvr>
                                        <p:cTn id="21" dur="2000"/>
                                        <p:tgtEl>
                                          <p:spTgt spid="4">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10" end="10"/>
                                            </p:txEl>
                                          </p:spTgt>
                                        </p:tgtEl>
                                        <p:attrNameLst>
                                          <p:attrName>style.visibility</p:attrName>
                                        </p:attrNameLst>
                                      </p:cBhvr>
                                      <p:to>
                                        <p:strVal val="visible"/>
                                      </p:to>
                                    </p:set>
                                    <p:animEffect transition="in" filter="fade">
                                      <p:cBhvr>
                                        <p:cTn id="26" dur="20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548680"/>
            <a:ext cx="8208912" cy="4616648"/>
          </a:xfrm>
          <a:prstGeom prst="rect">
            <a:avLst/>
          </a:prstGeom>
          <a:noFill/>
        </p:spPr>
        <p:txBody>
          <a:bodyPr wrap="square" rtlCol="0">
            <a:spAutoFit/>
          </a:bodyPr>
          <a:lstStyle/>
          <a:p>
            <a:pPr>
              <a:lnSpc>
                <a:spcPct val="115000"/>
              </a:lnSpc>
              <a:spcAft>
                <a:spcPts val="0"/>
              </a:spcAft>
            </a:pPr>
            <a:r>
              <a:rPr lang="en-GB" sz="2400" smtClean="0">
                <a:latin typeface="Arial" pitchFamily="34" charset="0"/>
                <a:ea typeface="Calibri"/>
                <a:cs typeface="Arial" pitchFamily="34" charset="0"/>
              </a:rPr>
              <a:t>For example: </a:t>
            </a:r>
          </a:p>
          <a:p>
            <a:pPr>
              <a:lnSpc>
                <a:spcPct val="115000"/>
              </a:lnSpc>
              <a:spcAft>
                <a:spcPts val="0"/>
              </a:spcAft>
            </a:pPr>
            <a:endParaRPr lang="en-GB" sz="240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If 65% of respondents agree or strongly agree with an item in your survey, at a 95% confidence level, and a margin of error of 5%, then… </a:t>
            </a:r>
          </a:p>
          <a:p>
            <a:pPr>
              <a:lnSpc>
                <a:spcPct val="115000"/>
              </a:lnSpc>
              <a:spcAft>
                <a:spcPts val="0"/>
              </a:spcAft>
            </a:pPr>
            <a:endParaRPr lang="en-GB" sz="240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…you are 95% certain that 65% of the population (plus or minus 5% - ie between 60 and 70% of the  population)…</a:t>
            </a:r>
          </a:p>
          <a:p>
            <a:pPr>
              <a:lnSpc>
                <a:spcPct val="115000"/>
              </a:lnSpc>
              <a:spcAft>
                <a:spcPts val="0"/>
              </a:spcAft>
            </a:pPr>
            <a:endParaRPr lang="en-GB" sz="240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…will agree or strongly agree with the proposition.</a:t>
            </a:r>
            <a:endParaRPr lang="en-GB" sz="2400">
              <a:latin typeface="Arial" pitchFamily="34" charset="0"/>
              <a:ea typeface="Calibri"/>
              <a:cs typeface="Arial" pitchFamily="34" charset="0"/>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20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9552" y="677595"/>
            <a:ext cx="8136904" cy="2954655"/>
          </a:xfrm>
          <a:prstGeom prst="rect">
            <a:avLst/>
          </a:prstGeom>
          <a:noFill/>
        </p:spPr>
        <p:txBody>
          <a:bodyPr wrap="square" rtlCol="0">
            <a:spAutoFit/>
          </a:bodyPr>
          <a:lstStyle/>
          <a:p>
            <a:r>
              <a:rPr lang="en-GB" sz="2400">
                <a:latin typeface="Arial" pitchFamily="34" charset="0"/>
                <a:cs typeface="Arial" pitchFamily="34" charset="0"/>
              </a:rPr>
              <a:t>For random samples, there are formulae on appropriate sample sizes to achieve certain confidence levels at certain margins of error - these easily available on the internet.</a:t>
            </a:r>
          </a:p>
          <a:p>
            <a:r>
              <a:rPr lang="en-GB" sz="2400">
                <a:latin typeface="Arial" pitchFamily="34" charset="0"/>
                <a:cs typeface="Arial" pitchFamily="34" charset="0"/>
              </a:rPr>
              <a:t> </a:t>
            </a:r>
          </a:p>
          <a:p>
            <a:r>
              <a:rPr lang="en-GB" sz="2400">
                <a:latin typeface="Arial" pitchFamily="34" charset="0"/>
                <a:cs typeface="Arial" pitchFamily="34" charset="0"/>
              </a:rPr>
              <a:t>Statisticians usually advise that a sample size of 30 or more is needed for valid statistical analysis.</a:t>
            </a: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1637665" y="1837541"/>
          <a:ext cx="5868670" cy="3364992"/>
        </p:xfrm>
        <a:graphic>
          <a:graphicData uri="http://schemas.openxmlformats.org/drawingml/2006/table">
            <a:tbl>
              <a:tblPr/>
              <a:tblGrid>
                <a:gridCol w="1955800"/>
                <a:gridCol w="1956435"/>
                <a:gridCol w="1956435"/>
              </a:tblGrid>
              <a:tr h="0">
                <a:tc>
                  <a:txBody>
                    <a:bodyPr/>
                    <a:lstStyle/>
                    <a:p>
                      <a:pPr>
                        <a:lnSpc>
                          <a:spcPct val="115000"/>
                        </a:lnSpc>
                        <a:spcAft>
                          <a:spcPts val="0"/>
                        </a:spcAft>
                      </a:pPr>
                      <a:r>
                        <a:rPr lang="en-GB" sz="2400">
                          <a:latin typeface="Arial"/>
                          <a:ea typeface="Calibri"/>
                          <a:cs typeface="Times New Roman"/>
                        </a:rPr>
                        <a:t>Population</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2400">
                          <a:latin typeface="Arial"/>
                          <a:ea typeface="Calibri"/>
                          <a:cs typeface="Times New Roman"/>
                        </a:rPr>
                        <a:t>5% margin of error</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2400">
                          <a:latin typeface="Arial"/>
                          <a:ea typeface="Calibri"/>
                          <a:cs typeface="Times New Roman"/>
                        </a:rPr>
                        <a:t>3% margin of error</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pPr>
                      <a:r>
                        <a:rPr lang="en-GB" sz="2400">
                          <a:latin typeface="Arial"/>
                          <a:ea typeface="Calibri"/>
                          <a:cs typeface="Times New Roman"/>
                        </a:rPr>
                        <a:t>100</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Arial"/>
                          <a:ea typeface="Calibri"/>
                          <a:cs typeface="Times New Roman"/>
                        </a:rPr>
                        <a:t>79</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Arial"/>
                          <a:ea typeface="Calibri"/>
                          <a:cs typeface="Times New Roman"/>
                        </a:rPr>
                        <a:t>91</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pPr>
                      <a:r>
                        <a:rPr lang="en-GB" sz="2400">
                          <a:latin typeface="Arial"/>
                          <a:ea typeface="Calibri"/>
                          <a:cs typeface="Times New Roman"/>
                        </a:rPr>
                        <a:t>200</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Arial"/>
                          <a:ea typeface="Calibri"/>
                          <a:cs typeface="Times New Roman"/>
                        </a:rPr>
                        <a:t>132</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Arial"/>
                          <a:ea typeface="Calibri"/>
                          <a:cs typeface="Times New Roman"/>
                        </a:rPr>
                        <a:t>168</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pPr>
                      <a:r>
                        <a:rPr lang="en-GB" sz="2400">
                          <a:latin typeface="Arial"/>
                          <a:ea typeface="Calibri"/>
                          <a:cs typeface="Times New Roman"/>
                        </a:rPr>
                        <a:t>400</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Arial"/>
                          <a:ea typeface="Calibri"/>
                          <a:cs typeface="Times New Roman"/>
                        </a:rPr>
                        <a:t>196</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Arial"/>
                          <a:ea typeface="Calibri"/>
                          <a:cs typeface="Times New Roman"/>
                        </a:rPr>
                        <a:t>291</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pPr>
                      <a:r>
                        <a:rPr lang="en-GB" sz="2400">
                          <a:latin typeface="Arial"/>
                          <a:ea typeface="Calibri"/>
                          <a:cs typeface="Times New Roman"/>
                        </a:rPr>
                        <a:t>1,000</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Arial"/>
                          <a:ea typeface="Calibri"/>
                          <a:cs typeface="Times New Roman"/>
                        </a:rPr>
                        <a:t>278</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Arial"/>
                          <a:ea typeface="Calibri"/>
                          <a:cs typeface="Times New Roman"/>
                        </a:rPr>
                        <a:t>516</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pPr>
                      <a:r>
                        <a:rPr lang="en-GB" sz="2400">
                          <a:latin typeface="Arial"/>
                          <a:ea typeface="Calibri"/>
                          <a:cs typeface="Times New Roman"/>
                        </a:rPr>
                        <a:t>5,000</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Arial"/>
                          <a:ea typeface="Calibri"/>
                          <a:cs typeface="Times New Roman"/>
                        </a:rPr>
                        <a:t>357</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Arial"/>
                          <a:ea typeface="Calibri"/>
                          <a:cs typeface="Times New Roman"/>
                        </a:rPr>
                        <a:t>879</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pPr>
                      <a:r>
                        <a:rPr lang="en-GB" sz="2400">
                          <a:latin typeface="Arial"/>
                          <a:ea typeface="Calibri"/>
                          <a:cs typeface="Times New Roman"/>
                        </a:rPr>
                        <a:t>10,000</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Arial"/>
                          <a:ea typeface="Calibri"/>
                          <a:cs typeface="Times New Roman"/>
                        </a:rPr>
                        <a:t>370</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400">
                          <a:latin typeface="Arial"/>
                          <a:ea typeface="Calibri"/>
                          <a:cs typeface="Times New Roman"/>
                        </a:rPr>
                        <a:t>964</a:t>
                      </a:r>
                      <a:endParaRPr lang="en-GB"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25" name="Rectangle 1"/>
          <p:cNvSpPr>
            <a:spLocks noChangeArrowheads="1"/>
          </p:cNvSpPr>
          <p:nvPr/>
        </p:nvSpPr>
        <p:spPr bwMode="auto">
          <a:xfrm>
            <a:off x="0" y="-2232"/>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6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smtClean="0">
              <a:ln>
                <a:noFill/>
              </a:ln>
              <a:solidFill>
                <a:schemeClr val="tx1"/>
              </a:solidFill>
              <a:effectLst/>
              <a:latin typeface="Arial" pitchFamily="34" charset="0"/>
              <a:cs typeface="Arial" pitchFamily="34" charset="0"/>
            </a:endParaRPr>
          </a:p>
        </p:txBody>
      </p:sp>
      <p:sp>
        <p:nvSpPr>
          <p:cNvPr id="7" name="TextBox 6"/>
          <p:cNvSpPr txBox="1"/>
          <p:nvPr/>
        </p:nvSpPr>
        <p:spPr>
          <a:xfrm>
            <a:off x="1115616" y="1052736"/>
            <a:ext cx="5976664" cy="461665"/>
          </a:xfrm>
          <a:prstGeom prst="rect">
            <a:avLst/>
          </a:prstGeom>
          <a:noFill/>
        </p:spPr>
        <p:txBody>
          <a:bodyPr wrap="square" rtlCol="0">
            <a:spAutoFit/>
          </a:bodyPr>
          <a:lstStyle/>
          <a:p>
            <a:r>
              <a:rPr lang="en-GB" sz="2400">
                <a:latin typeface="Arial" pitchFamily="34" charset="0"/>
                <a:cs typeface="Arial" pitchFamily="34" charset="0"/>
              </a:rPr>
              <a:t>(From Saunders et al, 2009)</a:t>
            </a:r>
          </a:p>
        </p:txBody>
      </p:sp>
      <p:sp>
        <p:nvSpPr>
          <p:cNvPr id="6" name="Footer Placeholder 5"/>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476672"/>
            <a:ext cx="7992888" cy="5359929"/>
          </a:xfrm>
          <a:prstGeom prst="rect">
            <a:avLst/>
          </a:prstGeom>
          <a:noFill/>
        </p:spPr>
        <p:txBody>
          <a:bodyPr wrap="square" rtlCol="0">
            <a:spAutoFit/>
          </a:bodyPr>
          <a:lstStyle/>
          <a:p>
            <a:pPr>
              <a:lnSpc>
                <a:spcPct val="115000"/>
              </a:lnSpc>
              <a:spcAft>
                <a:spcPts val="0"/>
              </a:spcAft>
            </a:pPr>
            <a:r>
              <a:rPr lang="en-GB" sz="2400" b="1" smtClean="0">
                <a:latin typeface="Arial"/>
                <a:ea typeface="Calibri"/>
                <a:cs typeface="Times New Roman"/>
              </a:rPr>
              <a:t>Response rates</a:t>
            </a:r>
          </a:p>
          <a:p>
            <a:pPr>
              <a:lnSpc>
                <a:spcPct val="115000"/>
              </a:lnSpc>
              <a:spcAft>
                <a:spcPts val="0"/>
              </a:spcAft>
            </a:pPr>
            <a:endParaRPr lang="en-GB" sz="2400" smtClean="0">
              <a:latin typeface="Arial"/>
              <a:ea typeface="Calibri"/>
              <a:cs typeface="Times New Roman"/>
            </a:endParaRPr>
          </a:p>
          <a:p>
            <a:pPr>
              <a:lnSpc>
                <a:spcPct val="115000"/>
              </a:lnSpc>
              <a:spcAft>
                <a:spcPts val="0"/>
              </a:spcAft>
            </a:pPr>
            <a:r>
              <a:rPr lang="en-GB" sz="2400" smtClean="0">
                <a:latin typeface="Arial"/>
                <a:ea typeface="Calibri"/>
                <a:cs typeface="Times New Roman"/>
              </a:rPr>
              <a:t>For studies involving top management or representatives of organisations, a response rate of 35% is reasonable (Saunders et al, 2009)</a:t>
            </a:r>
          </a:p>
          <a:p>
            <a:pPr>
              <a:lnSpc>
                <a:spcPct val="115000"/>
              </a:lnSpc>
              <a:spcAft>
                <a:spcPts val="0"/>
              </a:spcAft>
            </a:pPr>
            <a:endParaRPr lang="en-GB" sz="2400">
              <a:latin typeface="Arial"/>
              <a:ea typeface="Calibri"/>
              <a:cs typeface="Times New Roman"/>
            </a:endParaRPr>
          </a:p>
          <a:p>
            <a:pPr>
              <a:lnSpc>
                <a:spcPct val="115000"/>
              </a:lnSpc>
              <a:spcAft>
                <a:spcPts val="0"/>
              </a:spcAft>
            </a:pPr>
            <a:r>
              <a:rPr lang="en-GB" sz="2400" smtClean="0">
                <a:latin typeface="Arial"/>
                <a:ea typeface="Calibri"/>
                <a:cs typeface="Times New Roman"/>
              </a:rPr>
              <a:t>Non-responses may bias the sample and therefore bias the results. </a:t>
            </a:r>
          </a:p>
          <a:p>
            <a:pPr>
              <a:lnSpc>
                <a:spcPct val="115000"/>
              </a:lnSpc>
              <a:spcAft>
                <a:spcPts val="0"/>
              </a:spcAft>
            </a:pPr>
            <a:endParaRPr lang="en-GB" sz="2400">
              <a:latin typeface="Arial"/>
              <a:ea typeface="Calibri"/>
              <a:cs typeface="Times New Roman"/>
            </a:endParaRPr>
          </a:p>
          <a:p>
            <a:pPr>
              <a:lnSpc>
                <a:spcPct val="115000"/>
              </a:lnSpc>
              <a:spcAft>
                <a:spcPts val="0"/>
              </a:spcAft>
            </a:pPr>
            <a:r>
              <a:rPr lang="en-GB" sz="2400" smtClean="0">
                <a:latin typeface="Arial"/>
                <a:ea typeface="Calibri"/>
                <a:cs typeface="Times New Roman"/>
              </a:rPr>
              <a:t>Sometimes possible to gather data to evaluate the extent to which your sample is biased</a:t>
            </a:r>
          </a:p>
          <a:p>
            <a:pPr>
              <a:lnSpc>
                <a:spcPct val="115000"/>
              </a:lnSpc>
              <a:spcAft>
                <a:spcPts val="0"/>
              </a:spcAft>
            </a:pPr>
            <a:endParaRPr lang="en-GB">
              <a:latin typeface="Arial"/>
              <a:ea typeface="Calibri"/>
              <a:cs typeface="Times New Roman"/>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2000"/>
                                        <p:tgtEl>
                                          <p:spTgt spid="4">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6" end="6"/>
                                            </p:txEl>
                                          </p:spTgt>
                                        </p:tgtEl>
                                        <p:attrNameLst>
                                          <p:attrName>style.visibility</p:attrName>
                                        </p:attrNameLst>
                                      </p:cBhvr>
                                      <p:to>
                                        <p:strVal val="visible"/>
                                      </p:to>
                                    </p:set>
                                    <p:animEffect transition="in" filter="fade">
                                      <p:cBhvr>
                                        <p:cTn id="10" dur="2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404664"/>
            <a:ext cx="8280920" cy="4191917"/>
          </a:xfrm>
          <a:prstGeom prst="rect">
            <a:avLst/>
          </a:prstGeom>
          <a:noFill/>
        </p:spPr>
        <p:txBody>
          <a:bodyPr wrap="square" rtlCol="0">
            <a:spAutoFit/>
          </a:bodyPr>
          <a:lstStyle/>
          <a:p>
            <a:pPr>
              <a:lnSpc>
                <a:spcPct val="115000"/>
              </a:lnSpc>
              <a:spcAft>
                <a:spcPts val="0"/>
              </a:spcAft>
            </a:pPr>
            <a:r>
              <a:rPr lang="en-GB" sz="2400" b="1" smtClean="0">
                <a:latin typeface="Arial" pitchFamily="34" charset="0"/>
                <a:ea typeface="Calibri"/>
                <a:cs typeface="Arial" pitchFamily="34" charset="0"/>
              </a:rPr>
              <a:t>Probability samples</a:t>
            </a:r>
            <a:endParaRPr lang="en-GB" sz="2400" b="1">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 </a:t>
            </a:r>
            <a:endParaRPr lang="en-GB" sz="240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Simple random sampling: use of random numbers</a:t>
            </a:r>
          </a:p>
          <a:p>
            <a:pPr>
              <a:lnSpc>
                <a:spcPct val="115000"/>
              </a:lnSpc>
              <a:spcAft>
                <a:spcPts val="0"/>
              </a:spcAft>
            </a:pPr>
            <a:r>
              <a:rPr lang="en-GB" sz="2400" smtClean="0">
                <a:latin typeface="Arial" pitchFamily="34" charset="0"/>
                <a:ea typeface="Calibri"/>
                <a:cs typeface="Arial" pitchFamily="34" charset="0"/>
              </a:rPr>
              <a:t> </a:t>
            </a:r>
            <a:endParaRPr lang="en-GB" sz="240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Systematic probability sampling: eg every 20</a:t>
            </a:r>
            <a:r>
              <a:rPr lang="en-GB" sz="2400" baseline="30000" smtClean="0">
                <a:latin typeface="Arial" pitchFamily="34" charset="0"/>
                <a:ea typeface="Calibri"/>
                <a:cs typeface="Arial" pitchFamily="34" charset="0"/>
              </a:rPr>
              <a:t>th</a:t>
            </a:r>
            <a:r>
              <a:rPr lang="en-GB" sz="2400" smtClean="0">
                <a:latin typeface="Arial" pitchFamily="34" charset="0"/>
                <a:ea typeface="Calibri"/>
                <a:cs typeface="Arial" pitchFamily="34" charset="0"/>
              </a:rPr>
              <a:t> person</a:t>
            </a:r>
            <a:endParaRPr lang="en-GB" sz="240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 </a:t>
            </a:r>
            <a:endParaRPr lang="en-GB" sz="240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Stratified random sampling: random sampling within strata</a:t>
            </a:r>
            <a:endParaRPr lang="en-GB" sz="240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 </a:t>
            </a:r>
            <a:endParaRPr lang="en-GB" sz="240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Cluster sampling: random choice of clusters</a:t>
            </a:r>
            <a:endParaRPr lang="en-GB" sz="2400">
              <a:latin typeface="Arial" pitchFamily="34" charset="0"/>
              <a:ea typeface="Calibri"/>
              <a:cs typeface="Arial" pitchFamily="34" charset="0"/>
            </a:endParaRP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20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2000"/>
                                        <p:tgtEl>
                                          <p:spTgt spid="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animEffect transition="in" filter="fade">
                                      <p:cBhvr>
                                        <p:cTn id="1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404664"/>
            <a:ext cx="8208912" cy="6647974"/>
          </a:xfrm>
          <a:prstGeom prst="rect">
            <a:avLst/>
          </a:prstGeom>
          <a:noFill/>
        </p:spPr>
        <p:txBody>
          <a:bodyPr wrap="square" rtlCol="0">
            <a:spAutoFit/>
          </a:bodyPr>
          <a:lstStyle/>
          <a:p>
            <a:r>
              <a:rPr lang="en-GB" sz="2400" b="1">
                <a:latin typeface="Arial" pitchFamily="34" charset="0"/>
                <a:cs typeface="Arial" pitchFamily="34" charset="0"/>
              </a:rPr>
              <a:t>Non-probability </a:t>
            </a:r>
            <a:r>
              <a:rPr lang="en-GB" sz="2400" b="1" smtClean="0">
                <a:latin typeface="Arial" pitchFamily="34" charset="0"/>
                <a:cs typeface="Arial" pitchFamily="34" charset="0"/>
              </a:rPr>
              <a:t>sampling</a:t>
            </a:r>
            <a:endParaRPr lang="en-GB" sz="2400" b="1">
              <a:latin typeface="Arial" pitchFamily="34" charset="0"/>
              <a:cs typeface="Arial" pitchFamily="34" charset="0"/>
            </a:endParaRPr>
          </a:p>
          <a:p>
            <a:r>
              <a:rPr lang="en-GB" sz="2400">
                <a:latin typeface="Arial" pitchFamily="34" charset="0"/>
                <a:cs typeface="Arial" pitchFamily="34" charset="0"/>
              </a:rPr>
              <a:t> </a:t>
            </a:r>
          </a:p>
          <a:p>
            <a:r>
              <a:rPr lang="en-GB" sz="2400">
                <a:latin typeface="Arial" pitchFamily="34" charset="0"/>
                <a:cs typeface="Arial" pitchFamily="34" charset="0"/>
              </a:rPr>
              <a:t>Quota sampling - </a:t>
            </a:r>
            <a:r>
              <a:rPr lang="en-GB" sz="2400" smtClean="0">
                <a:latin typeface="Arial" pitchFamily="34" charset="0"/>
                <a:cs typeface="Arial" pitchFamily="34" charset="0"/>
              </a:rPr>
              <a:t>aims </a:t>
            </a:r>
            <a:r>
              <a:rPr lang="en-GB" sz="2400">
                <a:latin typeface="Arial" pitchFamily="34" charset="0"/>
                <a:cs typeface="Arial" pitchFamily="34" charset="0"/>
              </a:rPr>
              <a:t>to obtain representatives of the various groups in a </a:t>
            </a:r>
            <a:r>
              <a:rPr lang="en-GB" sz="2400" smtClean="0">
                <a:latin typeface="Arial" pitchFamily="34" charset="0"/>
                <a:cs typeface="Arial" pitchFamily="34" charset="0"/>
              </a:rPr>
              <a:t>population</a:t>
            </a:r>
          </a:p>
          <a:p>
            <a:endParaRPr lang="en-GB" sz="2400">
              <a:latin typeface="Arial" pitchFamily="34" charset="0"/>
              <a:cs typeface="Arial" pitchFamily="34" charset="0"/>
            </a:endParaRPr>
          </a:p>
          <a:p>
            <a:r>
              <a:rPr lang="en-GB" sz="2400">
                <a:latin typeface="Arial" pitchFamily="34" charset="0"/>
                <a:cs typeface="Arial" pitchFamily="34" charset="0"/>
              </a:rPr>
              <a:t>Convenience sampling - using samples that are available and accessible to the </a:t>
            </a:r>
            <a:r>
              <a:rPr lang="en-GB" sz="2400" smtClean="0">
                <a:latin typeface="Arial" pitchFamily="34" charset="0"/>
                <a:cs typeface="Arial" pitchFamily="34" charset="0"/>
              </a:rPr>
              <a:t>researcher. These are 'acceptable </a:t>
            </a:r>
            <a:r>
              <a:rPr lang="en-GB" sz="2400">
                <a:latin typeface="Arial" pitchFamily="34" charset="0"/>
                <a:cs typeface="Arial" pitchFamily="34" charset="0"/>
              </a:rPr>
              <a:t>but not </a:t>
            </a:r>
            <a:r>
              <a:rPr lang="en-GB" sz="2400" smtClean="0">
                <a:latin typeface="Arial" pitchFamily="34" charset="0"/>
                <a:cs typeface="Arial" pitchFamily="34" charset="0"/>
              </a:rPr>
              <a:t>ideal‘ (Bryman (2008: 183) . </a:t>
            </a:r>
            <a:endParaRPr lang="en-GB" sz="2400">
              <a:latin typeface="Arial" pitchFamily="34" charset="0"/>
              <a:cs typeface="Arial" pitchFamily="34" charset="0"/>
            </a:endParaRPr>
          </a:p>
          <a:p>
            <a:r>
              <a:rPr lang="en-GB" sz="2400">
                <a:latin typeface="Arial" pitchFamily="34" charset="0"/>
                <a:cs typeface="Arial" pitchFamily="34" charset="0"/>
              </a:rPr>
              <a:t> </a:t>
            </a:r>
          </a:p>
          <a:p>
            <a:r>
              <a:rPr lang="en-GB" sz="2400" smtClean="0">
                <a:latin typeface="Arial" pitchFamily="34" charset="0"/>
                <a:cs typeface="Arial" pitchFamily="34" charset="0"/>
              </a:rPr>
              <a:t>Purposive </a:t>
            </a:r>
            <a:r>
              <a:rPr lang="en-GB" sz="2400">
                <a:latin typeface="Arial" pitchFamily="34" charset="0"/>
                <a:cs typeface="Arial" pitchFamily="34" charset="0"/>
              </a:rPr>
              <a:t>sampling: </a:t>
            </a:r>
            <a:r>
              <a:rPr lang="en-GB" sz="2400" smtClean="0">
                <a:latin typeface="Arial" pitchFamily="34" charset="0"/>
                <a:cs typeface="Arial" pitchFamily="34" charset="0"/>
              </a:rPr>
              <a:t>typically used by qualitative researchers: they </a:t>
            </a:r>
            <a:r>
              <a:rPr lang="en-GB" sz="2400">
                <a:latin typeface="Arial" pitchFamily="34" charset="0"/>
                <a:cs typeface="Arial" pitchFamily="34" charset="0"/>
              </a:rPr>
              <a:t>'sample cases/participants in a strategic way so that those sampled are relevant to the research questions that are being posed' (Bryman 2008:415). </a:t>
            </a:r>
            <a:endParaRPr lang="en-GB" sz="2400" smtClean="0">
              <a:latin typeface="Arial" pitchFamily="34" charset="0"/>
              <a:cs typeface="Arial" pitchFamily="34" charset="0"/>
            </a:endParaRPr>
          </a:p>
          <a:p>
            <a:endParaRPr lang="en-GB" sz="2400">
              <a:latin typeface="Arial" pitchFamily="34" charset="0"/>
              <a:cs typeface="Arial" pitchFamily="34" charset="0"/>
            </a:endParaRPr>
          </a:p>
          <a:p>
            <a:r>
              <a:rPr lang="en-GB" sz="2400">
                <a:latin typeface="Arial" pitchFamily="34" charset="0"/>
                <a:cs typeface="Arial" pitchFamily="34" charset="0"/>
              </a:rPr>
              <a:t>Snowball </a:t>
            </a:r>
            <a:r>
              <a:rPr lang="en-GB" sz="2400" smtClean="0">
                <a:latin typeface="Arial" pitchFamily="34" charset="0"/>
                <a:cs typeface="Arial" pitchFamily="34" charset="0"/>
              </a:rPr>
              <a:t>sampling: you </a:t>
            </a:r>
            <a:r>
              <a:rPr lang="en-GB" sz="2400">
                <a:latin typeface="Arial" pitchFamily="34" charset="0"/>
                <a:cs typeface="Arial" pitchFamily="34" charset="0"/>
              </a:rPr>
              <a:t>contact a small group who are relevant to the research, and through them you contact others. </a:t>
            </a:r>
          </a:p>
          <a:p>
            <a:endParaRPr lang="en-GB"/>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20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2000"/>
                                        <p:tgtEl>
                                          <p:spTgt spid="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animEffect transition="in" filter="fade">
                                      <p:cBhvr>
                                        <p:cTn id="1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404664"/>
            <a:ext cx="8352928" cy="5452262"/>
          </a:xfrm>
          <a:prstGeom prst="rect">
            <a:avLst/>
          </a:prstGeom>
          <a:noFill/>
        </p:spPr>
        <p:txBody>
          <a:bodyPr wrap="square" rtlCol="0">
            <a:spAutoFit/>
          </a:bodyPr>
          <a:lstStyle/>
          <a:p>
            <a:pPr>
              <a:lnSpc>
                <a:spcPct val="115000"/>
              </a:lnSpc>
              <a:spcAft>
                <a:spcPts val="0"/>
              </a:spcAft>
            </a:pPr>
            <a:r>
              <a:rPr lang="en-GB" smtClean="0">
                <a:latin typeface="Arial"/>
                <a:ea typeface="Calibri"/>
                <a:cs typeface="Times New Roman"/>
              </a:rPr>
              <a:t> </a:t>
            </a:r>
            <a:endParaRPr lang="en-GB" smtClean="0">
              <a:ea typeface="Calibri"/>
              <a:cs typeface="Times New Roman"/>
            </a:endParaRPr>
          </a:p>
          <a:p>
            <a:pPr>
              <a:lnSpc>
                <a:spcPct val="115000"/>
              </a:lnSpc>
              <a:spcAft>
                <a:spcPts val="0"/>
              </a:spcAft>
            </a:pPr>
            <a:r>
              <a:rPr lang="en-GB" sz="2400" smtClean="0">
                <a:latin typeface="Arial" pitchFamily="34" charset="0"/>
                <a:ea typeface="Calibri"/>
                <a:cs typeface="Arial" pitchFamily="34" charset="0"/>
              </a:rPr>
              <a:t>Sampling is a common feature of business research, particularly for cross sectional studies and surveys. There are a number of different ways of sampling, and different implications of those different ways.</a:t>
            </a:r>
          </a:p>
          <a:p>
            <a:pPr>
              <a:lnSpc>
                <a:spcPct val="115000"/>
              </a:lnSpc>
              <a:spcAft>
                <a:spcPts val="0"/>
              </a:spcAft>
            </a:pPr>
            <a:endParaRPr lang="en-GB" sz="2400" smtClean="0">
              <a:latin typeface="Arial" pitchFamily="34" charset="0"/>
              <a:ea typeface="Calibri"/>
              <a:cs typeface="Arial" pitchFamily="34" charset="0"/>
            </a:endParaRPr>
          </a:p>
          <a:p>
            <a:pPr>
              <a:lnSpc>
                <a:spcPct val="115000"/>
              </a:lnSpc>
              <a:spcAft>
                <a:spcPts val="0"/>
              </a:spcAft>
            </a:pPr>
            <a:r>
              <a:rPr lang="en-GB" sz="2400" smtClean="0">
                <a:latin typeface="Arial"/>
                <a:ea typeface="Calibri"/>
                <a:cs typeface="Times New Roman"/>
              </a:rPr>
              <a:t>If you are concerned to show the generalisability of your research, then statistical sampling will be an important issue for you, and you will need to pay attention to the size of your sample and the representativeness of the sample.</a:t>
            </a:r>
            <a:endParaRPr lang="en-GB" sz="2400" smtClean="0">
              <a:ea typeface="Calibri"/>
              <a:cs typeface="Times New Roman"/>
            </a:endParaRPr>
          </a:p>
          <a:p>
            <a:pPr>
              <a:lnSpc>
                <a:spcPct val="115000"/>
              </a:lnSpc>
              <a:spcAft>
                <a:spcPts val="0"/>
              </a:spcAft>
            </a:pPr>
            <a:r>
              <a:rPr lang="en-GB" sz="2400" smtClean="0">
                <a:latin typeface="Arial"/>
                <a:ea typeface="Calibri"/>
                <a:cs typeface="Times New Roman"/>
              </a:rPr>
              <a:t> </a:t>
            </a:r>
            <a:endParaRPr lang="en-GB" sz="2400" smtClean="0">
              <a:ea typeface="Calibri"/>
              <a:cs typeface="Times New Roman"/>
            </a:endParaRPr>
          </a:p>
          <a:p>
            <a:pPr>
              <a:lnSpc>
                <a:spcPct val="115000"/>
              </a:lnSpc>
              <a:spcAft>
                <a:spcPts val="0"/>
              </a:spcAft>
            </a:pPr>
            <a:endParaRPr lang="en-GB" sz="2400" smtClean="0">
              <a:latin typeface="Arial" pitchFamily="34" charset="0"/>
              <a:ea typeface="Calibri"/>
              <a:cs typeface="Arial" pitchFamily="34" charset="0"/>
            </a:endParaRPr>
          </a:p>
          <a:p>
            <a:endParaRPr lang="en-GB" sz="2400">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476672"/>
            <a:ext cx="7704856" cy="4708981"/>
          </a:xfrm>
          <a:prstGeom prst="rect">
            <a:avLst/>
          </a:prstGeom>
          <a:noFill/>
        </p:spPr>
        <p:txBody>
          <a:bodyPr wrap="square" rtlCol="0">
            <a:spAutoFit/>
          </a:bodyPr>
          <a:lstStyle/>
          <a:p>
            <a:pPr>
              <a:lnSpc>
                <a:spcPct val="115000"/>
              </a:lnSpc>
              <a:spcAft>
                <a:spcPts val="0"/>
              </a:spcAft>
            </a:pPr>
            <a:r>
              <a:rPr lang="en-GB" sz="2400" smtClean="0">
                <a:latin typeface="Arial" pitchFamily="34" charset="0"/>
                <a:ea typeface="Calibri"/>
                <a:cs typeface="Arial" pitchFamily="34" charset="0"/>
              </a:rPr>
              <a:t>Qualitative researchers typically use purposive sampling. </a:t>
            </a:r>
          </a:p>
          <a:p>
            <a:pPr>
              <a:lnSpc>
                <a:spcPct val="115000"/>
              </a:lnSpc>
              <a:spcAft>
                <a:spcPts val="0"/>
              </a:spcAft>
            </a:pPr>
            <a:endParaRPr lang="en-GB" sz="2400" smtClean="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They are concerned to explore perceptions of a situation, rather than to prove that their results are generalisable. </a:t>
            </a:r>
          </a:p>
          <a:p>
            <a:pPr>
              <a:lnSpc>
                <a:spcPct val="115000"/>
              </a:lnSpc>
              <a:spcAft>
                <a:spcPts val="0"/>
              </a:spcAft>
            </a:pPr>
            <a:endParaRPr lang="en-GB" sz="2400" smtClean="0">
              <a:latin typeface="Arial" pitchFamily="34" charset="0"/>
              <a:ea typeface="Calibri"/>
              <a:cs typeface="Arial" pitchFamily="34" charset="0"/>
            </a:endParaRPr>
          </a:p>
          <a:p>
            <a:pPr>
              <a:lnSpc>
                <a:spcPct val="115000"/>
              </a:lnSpc>
              <a:spcAft>
                <a:spcPts val="0"/>
              </a:spcAft>
            </a:pPr>
            <a:r>
              <a:rPr lang="en-GB" sz="2400" smtClean="0">
                <a:latin typeface="Arial" pitchFamily="34" charset="0"/>
                <a:ea typeface="Calibri"/>
                <a:cs typeface="Arial" pitchFamily="34" charset="0"/>
              </a:rPr>
              <a:t>However, qualitative researchers usually consider how their sample can be structured to provide as range of perspectives on their research topic.</a:t>
            </a:r>
          </a:p>
          <a:p>
            <a:endParaRPr lang="en-GB" sz="2400">
              <a:latin typeface="Arial" pitchFamily="34" charset="0"/>
              <a:cs typeface="Arial" pitchFamily="34" charset="0"/>
            </a:endParaRPr>
          </a:p>
        </p:txBody>
      </p:sp>
      <p:sp>
        <p:nvSpPr>
          <p:cNvPr id="3" name="Footer Placeholder 2"/>
          <p:cNvSpPr>
            <a:spLocks noGrp="1"/>
          </p:cNvSpPr>
          <p:nvPr>
            <p:ph type="ftr" sz="quarter" idx="11"/>
          </p:nvPr>
        </p:nvSpPr>
        <p:spPr/>
        <p:txBody>
          <a:bodyPr/>
          <a:lstStyle/>
          <a:p>
            <a:r>
              <a:rPr lang="en-GB" smtClean="0"/>
              <a:t>George Boak 2013</a:t>
            </a:r>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497</Words>
  <Application>Microsoft Office PowerPoint</Application>
  <PresentationFormat>On-screen Show (4:3)</PresentationFormat>
  <Paragraphs>129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George</dc:creator>
  <cp:lastModifiedBy>George</cp:lastModifiedBy>
  <cp:revision>9</cp:revision>
  <dcterms:created xsi:type="dcterms:W3CDTF">2013-08-02T17:07:02Z</dcterms:created>
  <dcterms:modified xsi:type="dcterms:W3CDTF">2013-08-11T16:08:27Z</dcterms:modified>
</cp:coreProperties>
</file>