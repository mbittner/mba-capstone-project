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4" r:id="rId3"/>
    <p:sldId id="258" r:id="rId4"/>
    <p:sldId id="277" r:id="rId5"/>
    <p:sldId id="278" r:id="rId6"/>
    <p:sldId id="279" r:id="rId7"/>
    <p:sldId id="262" r:id="rId8"/>
    <p:sldId id="263" r:id="rId9"/>
    <p:sldId id="280" r:id="rId10"/>
    <p:sldId id="265" r:id="rId11"/>
    <p:sldId id="266" r:id="rId12"/>
    <p:sldId id="282" r:id="rId13"/>
    <p:sldId id="284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0BE77-84B0-4D15-B87C-44D66DFB6C7C}" type="datetimeFigureOut">
              <a:rPr lang="en-GB" smtClean="0"/>
              <a:pPr/>
              <a:t>12/08/2013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66F94-B213-42E4-B2E3-F397B995A5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429540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0030F-82A3-4A3D-B4F3-9D85E79AF04F}" type="datetimeFigureOut">
              <a:rPr lang="en-GB" smtClean="0"/>
              <a:t>12/08/2013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670EC-F06C-4158-8FA9-370F02CC631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32C9B-C9A5-4507-AF20-78C3A9B9F0CB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BD40E-815A-47B0-993F-16A5958AC669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9717-FCD0-4894-AE0D-4C94EF1049F3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174CE-E091-418C-8B8B-673319640F26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E3AE5-9242-4331-8BBB-671A720A5D8F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43CF1-C1C4-4C53-9A22-7245D46AAAB4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78F20-7FEF-417D-982C-7A1D251E312C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8D16-A359-4537-B25A-226461B34256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147E-0F3B-4649-9394-92F9F3708A46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D461-BA38-4764-9F15-EE3A3955CE78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E435E-DB55-4F4A-8237-0B918C146F11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417C4-06C6-4409-A961-E2F74FAA050C}" type="datetime1">
              <a:rPr lang="en-GB" smtClean="0"/>
              <a:t>12/08/2013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George Boak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AF8F3-2B2B-4F80-95A0-B7BBD61B51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620688"/>
            <a:ext cx="7992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Arial" pitchFamily="34" charset="0"/>
                <a:cs typeface="Arial" pitchFamily="34" charset="0"/>
              </a:rPr>
              <a:t>Group interviews and discussions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620688"/>
            <a:ext cx="82089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You may include group interviews or group discussions in your research:</a:t>
            </a:r>
          </a:p>
          <a:p>
            <a:pPr lvl="0"/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lvl="0"/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lvl="0"/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opportunity is naturally present to gather information from people in groups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you can include more people in the research in this way than by 1:1 interviews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more and better information may emerge during discussion between people in groups than in 1:1 interviews, or if the participants answered questionnaires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548680"/>
            <a:ext cx="82089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Research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into how 12 different teams of clinical therapists are going about bringing about change and improvement to the services they provide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. Information gathered: 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pPr lvl="0">
              <a:buFont typeface="Arial" pitchFamily="34" charset="0"/>
              <a:buChar char="•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  through surveys of team leaders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  through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telephone interviews with the team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leaders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  at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progress meetings of all the team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leaders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548680"/>
            <a:ext cx="82809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Case studies of three teams:</a:t>
            </a:r>
          </a:p>
          <a:p>
            <a:pPr lvl="0"/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lvl="0"/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Team A: an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interview with two team members together, and then two 1:1 interviews with team members</a:t>
            </a:r>
          </a:p>
          <a:p>
            <a:pPr lvl="0"/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Team B: an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interview with the team leader together with a key member of her team</a:t>
            </a:r>
          </a:p>
          <a:p>
            <a:pPr lvl="0"/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GB" sz="2400" dirty="0" smtClean="0">
                <a:latin typeface="Arial" pitchFamily="34" charset="0"/>
                <a:cs typeface="Arial" pitchFamily="34" charset="0"/>
              </a:rPr>
              <a:t>Team C: offered an hour on the agenda of a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full team meeting of 16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therapists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04664"/>
            <a:ext cx="82089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rial" pitchFamily="34" charset="0"/>
                <a:cs typeface="Arial" pitchFamily="34" charset="0"/>
              </a:rPr>
              <a:t>Focus groups </a:t>
            </a:r>
            <a:endParaRPr lang="en-GB" sz="2400" b="1" dirty="0" smtClean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Group discussion with a distinctive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set of features. 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  used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in market research since the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1920s</a:t>
            </a:r>
          </a:p>
          <a:p>
            <a:pPr>
              <a:buFont typeface="Arial" pitchFamily="34" charset="0"/>
              <a:buChar char="•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  used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by political parties and government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departments</a:t>
            </a:r>
          </a:p>
          <a:p>
            <a:pPr>
              <a:buFont typeface="Arial" pitchFamily="34" charset="0"/>
              <a:buChar char="•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  used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in organisational research since at least the 1940s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An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emphasis on discussing a fairly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tightly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defined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topic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Barbour, 2007).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04664"/>
            <a:ext cx="842493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Focus groups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Group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interaction is an important part of the process.</a:t>
            </a: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You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need to ensure 'that participants talk amongst themselves rather than interacting only with the researcher'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Barbour (2007:2) 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The discussion between members in a focus group will often provide a researcher with information about </a:t>
            </a:r>
            <a:r>
              <a:rPr lang="en-GB" sz="2400" u="sng" dirty="0">
                <a:latin typeface="Arial" pitchFamily="34" charset="0"/>
                <a:cs typeface="Arial" pitchFamily="34" charset="0"/>
              </a:rPr>
              <a:t>why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 people hold certain opinions (Denscombe, 2007).</a:t>
            </a: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The discussion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'enables this method to generate more insights in the research issues than a series of in-depth interviews with the same number of participants'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(Hennink et al (2011: 136)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548680"/>
            <a:ext cx="77768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The discussion may lead to consensus, or may lead to the expression of a range of opinions and feelings around a topic - either of these outcomes can be of value to the researcher. </a:t>
            </a:r>
          </a:p>
          <a:p>
            <a:endParaRPr lang="en-GB" dirty="0">
              <a:latin typeface="Arial" pitchFamily="34" charset="0"/>
              <a:cs typeface="Arial" pitchFamily="34" charset="0"/>
            </a:endParaRPr>
          </a:p>
          <a:p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404664"/>
            <a:ext cx="82809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itchFamily="34" charset="0"/>
                <a:cs typeface="Arial" pitchFamily="34" charset="0"/>
              </a:rPr>
              <a:t>Size: between 3 and 8 people (Barbour, 2007)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Timing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, an hour to two hours.</a:t>
            </a: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Need a moderator to introduce questions and guide discussion. 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moderator should aim to create 'an informal comfortable group environment' and avoid being too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directive (Hennink et al, 2011: 159)  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Need some means of recording the information you wish to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capture – eg note taking and/or audio recording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476672"/>
            <a:ext cx="80648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itchFamily="34" charset="0"/>
                <a:cs typeface="Arial" pitchFamily="34" charset="0"/>
              </a:rPr>
              <a:t>Participants should have some experience of the topic being researched</a:t>
            </a: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Bring together people who are similar or people who are different?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A group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of people with a similar background are more likely to provide valuable information 'because participants are more likely to share their views and experiences with others who are similar to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themselves‘ (Hennink et al, 2011:150)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You could hold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different focus group meetings for different groups, and compare the views that are expressed.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04664"/>
            <a:ext cx="806489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Should you bring together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people who know each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other,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or people who are strangers to one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another?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Should the discussion guide have a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small number of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questions, or many questions?  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dirty="0"/>
              <a:t> </a:t>
            </a:r>
          </a:p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04664"/>
            <a:ext cx="820891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Limitations/disadvantages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 </a:t>
            </a:r>
            <a:endParaRPr lang="en-GB" sz="2400" dirty="0">
              <a:latin typeface="Arial" pitchFamily="34" charset="0"/>
              <a:ea typeface="Calibri"/>
              <a:cs typeface="Arial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Group effects - some people may dominate and others feel not able to contribute</a:t>
            </a:r>
            <a:endParaRPr lang="en-GB" sz="2400" dirty="0">
              <a:latin typeface="Arial" pitchFamily="34" charset="0"/>
              <a:ea typeface="Calibri"/>
              <a:cs typeface="Arial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Sometimes people may be inhibited from providing information or expressing what they really think</a:t>
            </a:r>
            <a:endParaRPr lang="en-GB" sz="2400" dirty="0">
              <a:latin typeface="Arial" pitchFamily="34" charset="0"/>
              <a:ea typeface="Calibri"/>
              <a:cs typeface="Arial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Even where there is apparent consensus, you can't take this to be what each member of the group  thinks </a:t>
            </a:r>
            <a:endParaRPr lang="en-GB" sz="2400" dirty="0">
              <a:latin typeface="Arial" pitchFamily="34" charset="0"/>
              <a:ea typeface="Calibri"/>
              <a:cs typeface="Arial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They can produce a lot of data, but this may be difficult to transcribe and analyse</a:t>
            </a:r>
            <a:endParaRPr lang="en-GB" sz="2400" dirty="0">
              <a:latin typeface="Arial" pitchFamily="34" charset="0"/>
              <a:ea typeface="Calibri"/>
              <a:cs typeface="Arial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They can be difficult to organise and to get people to attend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GB" sz="2400" dirty="0">
              <a:latin typeface="Arial" pitchFamily="34" charset="0"/>
              <a:ea typeface="Calibri"/>
              <a:cs typeface="Arial" pitchFamily="34" charset="0"/>
            </a:endParaRPr>
          </a:p>
          <a:p>
            <a:pPr>
              <a:lnSpc>
                <a:spcPct val="115000"/>
              </a:lnSpc>
            </a:pPr>
            <a:r>
              <a:rPr lang="en-GB" sz="2400" dirty="0" smtClean="0">
                <a:latin typeface="Arial" pitchFamily="34" charset="0"/>
                <a:ea typeface="Calibri"/>
                <a:cs typeface="Arial" pitchFamily="34" charset="0"/>
              </a:rPr>
              <a:t>(Based on Bryman, 2008)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GB" sz="2400" dirty="0">
              <a:latin typeface="Arial" pitchFamily="34" charset="0"/>
              <a:ea typeface="Calibri"/>
              <a:cs typeface="Arial" pitchFamily="34" charset="0"/>
            </a:endParaRPr>
          </a:p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332656"/>
            <a:ext cx="79208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Not every group is a focus group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Group of 16 therapists….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Briefing on the project, why I was there and what information I was interested in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Break into their working teams and discuss….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…. with a note-taker in each team…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…. what they liked about the current arrangements, and what they saw as problems…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 feed back some points to the whole group at the end, and discuss</a:t>
            </a:r>
            <a:endParaRPr lang="en-GB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_156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2540497" y="821433"/>
            <a:ext cx="7137037" cy="5710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520" y="62068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Arial" pitchFamily="34" charset="0"/>
                <a:cs typeface="Arial" pitchFamily="34" charset="0"/>
              </a:rPr>
              <a:t>Another approach</a:t>
            </a:r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53077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04664"/>
            <a:ext cx="80648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Briefing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about the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research, and answer questions…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…perhaps some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discussion in smaller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groups…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each individual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asked to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write their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thoughts…</a:t>
            </a: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 … about specified topics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>
                <a:latin typeface="Arial" pitchFamily="34" charset="0"/>
                <a:cs typeface="Arial" pitchFamily="34" charset="0"/>
              </a:rPr>
              <a:t>e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g for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research into a change suitable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topic headings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might be 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'What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has helped us to get here?' 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'What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has been difficult about getting here?' </a:t>
            </a:r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'What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do we need to do next?'</a:t>
            </a:r>
          </a:p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04664"/>
            <a:ext cx="813690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You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may then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ask people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to read the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comments…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…indicate agreement with them…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…cluster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them to identify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themes…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…and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discuss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some themes.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76672"/>
            <a:ext cx="849694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Advantages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You can get many comments in a short period of time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Comments are almost completely anonymous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You can avoid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group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effects in getting the comments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You can often easily identify common themes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Provides </a:t>
            </a:r>
            <a:r>
              <a:rPr lang="en-GB" sz="2400" dirty="0">
                <a:latin typeface="Arial" pitchFamily="34" charset="0"/>
                <a:cs typeface="Arial" pitchFamily="34" charset="0"/>
              </a:rPr>
              <a:t>some documentary data that you can take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away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Flexible – you can agree on topic headings in the meeting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Limitations</a:t>
            </a:r>
          </a:p>
          <a:p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Some comments may be difficult to understand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Group effects may begin as soon as you discuss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590</Words>
  <Application>Microsoft Office PowerPoint</Application>
  <PresentationFormat>On-screen Show (4:3)</PresentationFormat>
  <Paragraphs>133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George</dc:creator>
  <cp:lastModifiedBy>George</cp:lastModifiedBy>
  <cp:revision>12</cp:revision>
  <dcterms:created xsi:type="dcterms:W3CDTF">2013-08-04T12:23:14Z</dcterms:created>
  <dcterms:modified xsi:type="dcterms:W3CDTF">2013-08-12T16:17:04Z</dcterms:modified>
</cp:coreProperties>
</file>