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</p:sldMasterIdLst>
  <p:notesMasterIdLst>
    <p:notesMasterId r:id="rId15"/>
  </p:notesMasterIdLst>
  <p:handoutMasterIdLst>
    <p:handoutMasterId r:id="rId16"/>
  </p:handoutMasterIdLst>
  <p:sldIdLst>
    <p:sldId id="256" r:id="rId2"/>
    <p:sldId id="390" r:id="rId3"/>
    <p:sldId id="402" r:id="rId4"/>
    <p:sldId id="392" r:id="rId5"/>
    <p:sldId id="393" r:id="rId6"/>
    <p:sldId id="394" r:id="rId7"/>
    <p:sldId id="396" r:id="rId8"/>
    <p:sldId id="397" r:id="rId9"/>
    <p:sldId id="398" r:id="rId10"/>
    <p:sldId id="399" r:id="rId11"/>
    <p:sldId id="400" r:id="rId12"/>
    <p:sldId id="401" r:id="rId13"/>
    <p:sldId id="403" r:id="rId14"/>
  </p:sldIdLst>
  <p:sldSz cx="9144000" cy="6858000" type="screen4x3"/>
  <p:notesSz cx="6669088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616"/>
    <a:srgbClr val="FF9900"/>
    <a:srgbClr val="080300"/>
    <a:srgbClr val="070008"/>
    <a:srgbClr val="070107"/>
    <a:srgbClr val="070401"/>
    <a:srgbClr val="0005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 autoAdjust="0"/>
  </p:normalViewPr>
  <p:slideViewPr>
    <p:cSldViewPr>
      <p:cViewPr varScale="1">
        <p:scale>
          <a:sx n="78" d="100"/>
          <a:sy n="78" d="100"/>
        </p:scale>
        <p:origin x="135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1908" y="-78"/>
      </p:cViewPr>
      <p:guideLst>
        <p:guide orient="horz" pos="3128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2975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58E9270E-8C09-49A4-B283-C014A9AFAB5F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99041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663" y="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F81D1A9-7D7E-4A84-BE6C-B1750DE62939}" type="datetimeFigureOut">
              <a:rPr lang="en-GB"/>
              <a:pPr>
                <a:defRPr/>
              </a:pPr>
              <a:t>15/04/2020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16463"/>
            <a:ext cx="5335588" cy="44672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663" y="942975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B63C051-0E79-4E4E-8469-4694D55C3CEF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580053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6CBD06-BC13-4671-A588-F3E2ED5ED7DA}" type="slidenum">
              <a:rPr lang="en-GB" altLang="en-US" smtClean="0"/>
              <a:pPr/>
              <a:t>10</a:t>
            </a:fld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690565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2B2C12-03FE-40F6-925F-90D5CDF50DE2}" type="slidenum">
              <a:rPr lang="en-GB" altLang="en-US" smtClean="0"/>
              <a:pPr/>
              <a:t>11</a:t>
            </a:fld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879045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D85F5-3009-4838-9925-A1745C6994B6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284938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33255-B8DE-469E-B4CC-F2D6A488C95B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70543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5C86F-3376-42AD-91EE-C688EA551E6F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637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1293B-76E3-40D4-98F9-F9DAD31340C0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0656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7871-540A-4304-8592-244B7E9317D7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18913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C902E-D8F0-4613-A1CD-20A24A37CDA8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9553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72F35-0591-47BC-8F98-FE1500F95199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103286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E7473-26EF-49C4-83D4-CF934C106F6D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5897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2E4DD-04F4-4BE5-AD7F-FDF93CC43EC1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85220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CD5C5-8120-4B2F-99FA-C5980E8F460A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54735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CB130-CABC-4C67-BA71-A2CE8274CFC4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72579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DF988CA-E93D-435D-A8EE-DC64CFB5B026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media9.m4a"/><Relationship Id="rId2" Type="http://schemas.microsoft.com/office/2007/relationships/media" Target="../media/media9.m4a"/><Relationship Id="rId1" Type="http://schemas.openxmlformats.org/officeDocument/2006/relationships/tags" Target="../tags/tag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media12.m4a"/><Relationship Id="rId2" Type="http://schemas.microsoft.com/office/2007/relationships/media" Target="../media/media12.m4a"/><Relationship Id="rId1" Type="http://schemas.openxmlformats.org/officeDocument/2006/relationships/tags" Target="../tags/tag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6764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The </a:t>
            </a:r>
            <a:r>
              <a:rPr lang="en-US" altLang="en-US" b="1" dirty="0" smtClean="0">
                <a:solidFill>
                  <a:srgbClr val="FF0000"/>
                </a:solidFill>
              </a:rPr>
              <a:t>Dissertation: </a:t>
            </a:r>
            <a:br>
              <a:rPr lang="en-US" altLang="en-US" b="1" dirty="0" smtClean="0">
                <a:solidFill>
                  <a:srgbClr val="FF0000"/>
                </a:solidFill>
              </a:rPr>
            </a:br>
            <a:r>
              <a:rPr lang="en-US" altLang="en-US" b="1" dirty="0" smtClean="0">
                <a:solidFill>
                  <a:srgbClr val="FF0000"/>
                </a:solidFill>
              </a:rPr>
              <a:t>What you need to do to succeed</a:t>
            </a:r>
            <a:endParaRPr lang="en-GB" altLang="en-US" b="1" dirty="0">
              <a:solidFill>
                <a:srgbClr val="FF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914"/>
    </mc:Choice>
    <mc:Fallback>
      <p:transition spd="slow" advTm="239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404665"/>
            <a:ext cx="871296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Don't</a:t>
            </a:r>
          </a:p>
          <a:p>
            <a:endParaRPr lang="en-GB" sz="2400" b="1" dirty="0">
              <a:solidFill>
                <a:srgbClr val="FF00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Try to </a:t>
            </a:r>
            <a:r>
              <a:rPr lang="en-GB" sz="2400" b="1" smtClean="0">
                <a:solidFill>
                  <a:srgbClr val="FF0000"/>
                </a:solidFill>
                <a:latin typeface="+mn-lt"/>
              </a:rPr>
              <a:t>cover too many </a:t>
            </a:r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things</a:t>
            </a:r>
          </a:p>
          <a:p>
            <a:endParaRPr lang="en-GB" sz="2400" b="1" dirty="0">
              <a:latin typeface="+mn-lt"/>
            </a:endParaRPr>
          </a:p>
          <a:p>
            <a:endParaRPr lang="en-GB" sz="2400" b="1" dirty="0"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Do</a:t>
            </a:r>
          </a:p>
          <a:p>
            <a:endParaRPr lang="en-GB" sz="2400" b="1" dirty="0">
              <a:solidFill>
                <a:srgbClr val="006600"/>
              </a:solidFill>
              <a:latin typeface="+mn-lt"/>
            </a:endParaRPr>
          </a:p>
          <a:p>
            <a:r>
              <a:rPr lang="en-GB" sz="2400" b="1" dirty="0">
                <a:solidFill>
                  <a:srgbClr val="006600"/>
                </a:solidFill>
                <a:latin typeface="+mn-lt"/>
              </a:rPr>
              <a:t>Focus on a narrow research question and clear research objectives</a:t>
            </a:r>
          </a:p>
          <a:p>
            <a:endParaRPr lang="en-GB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67744" y="3501008"/>
            <a:ext cx="3888432" cy="2916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48460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399"/>
    </mc:Choice>
    <mc:Fallback>
      <p:transition spd="slow" advTm="133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76672"/>
            <a:ext cx="81369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n-lt"/>
              </a:rPr>
              <a:t>Don't</a:t>
            </a:r>
          </a:p>
          <a:p>
            <a:endParaRPr lang="en-GB" sz="2400" b="1" dirty="0" smtClean="0">
              <a:solidFill>
                <a:srgbClr val="FF00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Think 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that you can just rely on literature you have already covered in the other </a:t>
            </a:r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modules</a:t>
            </a:r>
          </a:p>
          <a:p>
            <a:endParaRPr lang="en-GB" sz="2400" b="1" dirty="0"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Do</a:t>
            </a:r>
          </a:p>
          <a:p>
            <a:endParaRPr lang="en-GB" sz="2400" b="1" dirty="0">
              <a:solidFill>
                <a:srgbClr val="0066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Search </a:t>
            </a:r>
            <a:r>
              <a:rPr lang="en-GB" sz="2400" b="1" dirty="0">
                <a:solidFill>
                  <a:srgbClr val="006600"/>
                </a:solidFill>
                <a:latin typeface="+mn-lt"/>
              </a:rPr>
              <a:t>for literature specific to your area of research, using the </a:t>
            </a:r>
            <a:r>
              <a:rPr lang="en-GB" sz="2400" b="1">
                <a:solidFill>
                  <a:srgbClr val="006600"/>
                </a:solidFill>
                <a:latin typeface="+mn-lt"/>
              </a:rPr>
              <a:t>University </a:t>
            </a:r>
            <a:r>
              <a:rPr lang="en-GB" sz="2400" b="1" smtClean="0">
                <a:solidFill>
                  <a:srgbClr val="006600"/>
                </a:solidFill>
                <a:latin typeface="+mn-lt"/>
              </a:rPr>
              <a:t>databases and Google Scholar</a:t>
            </a:r>
            <a:endParaRPr lang="en-GB" sz="2400" b="1" dirty="0">
              <a:solidFill>
                <a:srgbClr val="006600"/>
              </a:solidFill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730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576"/>
    </mc:Choice>
    <mc:Fallback>
      <p:transition spd="slow" advTm="175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76672"/>
            <a:ext cx="828092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n-lt"/>
              </a:rPr>
              <a:t>Don't</a:t>
            </a:r>
          </a:p>
          <a:p>
            <a:endParaRPr lang="en-GB" sz="2400" b="1" dirty="0" smtClean="0">
              <a:solidFill>
                <a:srgbClr val="FF0000"/>
              </a:solidFill>
              <a:latin typeface="+mn-lt"/>
            </a:endParaRPr>
          </a:p>
          <a:p>
            <a:endParaRPr lang="en-GB" sz="2400" b="1" dirty="0">
              <a:solidFill>
                <a:srgbClr val="FF00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Try 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to prove a </a:t>
            </a:r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point</a:t>
            </a:r>
          </a:p>
          <a:p>
            <a:endParaRPr lang="en-GB" sz="2400" b="1" dirty="0"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Do</a:t>
            </a:r>
          </a:p>
          <a:p>
            <a:endParaRPr lang="en-GB" sz="2400" b="1" dirty="0">
              <a:solidFill>
                <a:srgbClr val="0066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Be </a:t>
            </a:r>
            <a:r>
              <a:rPr lang="en-GB" sz="2400" b="1" dirty="0">
                <a:solidFill>
                  <a:srgbClr val="006600"/>
                </a:solidFill>
                <a:latin typeface="+mn-lt"/>
              </a:rPr>
              <a:t>open minded – or at least be prepared to be surprised about what you will find – and make a fair evaluation of the information you gather</a:t>
            </a:r>
          </a:p>
          <a:p>
            <a:endParaRPr lang="en-GB" b="1" dirty="0">
              <a:latin typeface="+mn-lt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73298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034"/>
    </mc:Choice>
    <mc:Fallback>
      <p:transition spd="slow" advTm="220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476672"/>
            <a:ext cx="799288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n-lt"/>
              </a:rPr>
              <a:t>Don't</a:t>
            </a:r>
          </a:p>
          <a:p>
            <a:endParaRPr lang="en-GB" sz="2400" b="1" dirty="0" smtClean="0">
              <a:solidFill>
                <a:srgbClr val="FF00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Try 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to do it all </a:t>
            </a:r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alone</a:t>
            </a:r>
          </a:p>
          <a:p>
            <a:endParaRPr lang="en-GB" sz="2400" b="1" dirty="0"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Do</a:t>
            </a:r>
          </a:p>
          <a:p>
            <a:endParaRPr lang="en-GB" sz="2400" b="1" dirty="0">
              <a:solidFill>
                <a:srgbClr val="0066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Work </a:t>
            </a:r>
            <a:r>
              <a:rPr lang="en-GB" sz="2400" b="1" dirty="0">
                <a:solidFill>
                  <a:srgbClr val="006600"/>
                </a:solidFill>
                <a:latin typeface="+mn-lt"/>
              </a:rPr>
              <a:t>with your supervisor: get feedback on plans and on drafts, and act on that feedback. </a:t>
            </a:r>
            <a:endParaRPr lang="en-GB" sz="2400" b="1" dirty="0" smtClean="0">
              <a:solidFill>
                <a:srgbClr val="0066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Keep </a:t>
            </a:r>
            <a:r>
              <a:rPr lang="en-GB" sz="2400" b="1" dirty="0">
                <a:solidFill>
                  <a:srgbClr val="006600"/>
                </a:solidFill>
                <a:latin typeface="+mn-lt"/>
              </a:rPr>
              <a:t>in touch with colleagues, too, and compare notes and help each other out with moral support.</a:t>
            </a:r>
          </a:p>
          <a:p>
            <a:endParaRPr lang="en-GB" sz="2400" b="1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4644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626"/>
    </mc:Choice>
    <mc:Fallback>
      <p:transition spd="slow" advTm="36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332656"/>
            <a:ext cx="79208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n-lt"/>
              </a:rPr>
              <a:t>Don't</a:t>
            </a:r>
          </a:p>
          <a:p>
            <a:endParaRPr lang="en-GB" sz="2400" b="1" dirty="0" smtClean="0">
              <a:solidFill>
                <a:srgbClr val="FF00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Leave 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it all till the last minute – it is a big piece of </a:t>
            </a:r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work</a:t>
            </a:r>
          </a:p>
          <a:p>
            <a:endParaRPr lang="en-GB" sz="2400" b="1" dirty="0"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Do</a:t>
            </a:r>
          </a:p>
          <a:p>
            <a:endParaRPr lang="en-GB" sz="2400" b="1" dirty="0">
              <a:solidFill>
                <a:srgbClr val="0066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Plan </a:t>
            </a:r>
            <a:r>
              <a:rPr lang="en-GB" sz="2400" b="1" dirty="0">
                <a:solidFill>
                  <a:srgbClr val="006600"/>
                </a:solidFill>
                <a:latin typeface="+mn-lt"/>
              </a:rPr>
              <a:t>the work and undertake it over the period allowed for the dissertation. </a:t>
            </a:r>
            <a:endParaRPr lang="en-GB" sz="2400" b="1" dirty="0" smtClean="0">
              <a:solidFill>
                <a:srgbClr val="0066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Leave </a:t>
            </a:r>
            <a:r>
              <a:rPr lang="en-GB" sz="2400" b="1" dirty="0">
                <a:solidFill>
                  <a:srgbClr val="006600"/>
                </a:solidFill>
                <a:latin typeface="+mn-lt"/>
              </a:rPr>
              <a:t>time to test </a:t>
            </a:r>
            <a:r>
              <a:rPr lang="en-GB" sz="2400" b="1">
                <a:solidFill>
                  <a:srgbClr val="006600"/>
                </a:solidFill>
                <a:latin typeface="+mn-lt"/>
              </a:rPr>
              <a:t>interview </a:t>
            </a:r>
            <a:r>
              <a:rPr lang="en-GB" sz="2400" b="1" smtClean="0">
                <a:solidFill>
                  <a:srgbClr val="006600"/>
                </a:solidFill>
                <a:latin typeface="+mn-lt"/>
              </a:rPr>
              <a:t>outlines and/or questionnaires</a:t>
            </a:r>
            <a:endParaRPr lang="en-GB" sz="2400" b="1">
              <a:solidFill>
                <a:srgbClr val="006600"/>
              </a:solidFill>
              <a:latin typeface="+mn-lt"/>
            </a:endParaRPr>
          </a:p>
          <a:p>
            <a:r>
              <a:rPr lang="en-GB" sz="2400" b="1" smtClean="0">
                <a:solidFill>
                  <a:srgbClr val="006600"/>
                </a:solidFill>
                <a:latin typeface="+mn-lt"/>
              </a:rPr>
              <a:t>Allow time for analysing data</a:t>
            </a:r>
          </a:p>
          <a:p>
            <a:r>
              <a:rPr lang="en-GB" sz="2400" b="1" smtClean="0">
                <a:solidFill>
                  <a:srgbClr val="006600"/>
                </a:solidFill>
                <a:latin typeface="+mn-lt"/>
              </a:rPr>
              <a:t>Build in time </a:t>
            </a:r>
            <a:r>
              <a:rPr lang="en-GB" sz="2400" b="1" dirty="0">
                <a:solidFill>
                  <a:srgbClr val="006600"/>
                </a:solidFill>
                <a:latin typeface="+mn-lt"/>
              </a:rPr>
              <a:t>to get feedback from your supervisor </a:t>
            </a:r>
            <a:r>
              <a:rPr lang="en-GB" sz="2400" b="1">
                <a:solidFill>
                  <a:srgbClr val="006600"/>
                </a:solidFill>
                <a:latin typeface="+mn-lt"/>
              </a:rPr>
              <a:t>on </a:t>
            </a:r>
            <a:r>
              <a:rPr lang="en-GB" sz="2400" b="1" smtClean="0">
                <a:solidFill>
                  <a:srgbClr val="006600"/>
                </a:solidFill>
                <a:latin typeface="+mn-lt"/>
              </a:rPr>
              <a:t>plans and drafts.</a:t>
            </a:r>
            <a:endParaRPr lang="en-GB" sz="2400" b="1" dirty="0">
              <a:solidFill>
                <a:srgbClr val="006600"/>
              </a:solidFill>
              <a:latin typeface="+mn-lt"/>
            </a:endParaRPr>
          </a:p>
          <a:p>
            <a:endParaRPr lang="en-GB" b="1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87438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735"/>
    </mc:Choice>
    <mc:Fallback>
      <p:transition spd="slow" advTm="277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404664"/>
            <a:ext cx="80648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n-lt"/>
              </a:rPr>
              <a:t>Don't</a:t>
            </a:r>
          </a:p>
          <a:p>
            <a:endParaRPr lang="en-GB" sz="2400" b="1" dirty="0" smtClean="0">
              <a:solidFill>
                <a:srgbClr val="FF00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Assume 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that the field work will be straightforward and that everyone will cooperate with </a:t>
            </a:r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you</a:t>
            </a:r>
          </a:p>
          <a:p>
            <a:endParaRPr lang="en-GB" sz="2400" b="1" dirty="0"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Do</a:t>
            </a:r>
          </a:p>
          <a:p>
            <a:endParaRPr lang="en-GB" sz="2400" b="1" dirty="0">
              <a:solidFill>
                <a:srgbClr val="0066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Check </a:t>
            </a:r>
            <a:r>
              <a:rPr lang="en-GB" sz="2400" b="1" dirty="0">
                <a:solidFill>
                  <a:srgbClr val="006600"/>
                </a:solidFill>
                <a:latin typeface="+mn-lt"/>
              </a:rPr>
              <a:t>on access to information and to respondents at an early stage and adjust your plans where necessary</a:t>
            </a:r>
          </a:p>
          <a:p>
            <a:endParaRPr lang="en-GB" dirty="0">
              <a:latin typeface="+mn-lt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6893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829"/>
    </mc:Choice>
    <mc:Fallback>
      <p:transition spd="slow" advTm="188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404664"/>
            <a:ext cx="770485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n-lt"/>
              </a:rPr>
              <a:t>Don't</a:t>
            </a:r>
          </a:p>
          <a:p>
            <a:endParaRPr lang="en-GB" sz="2400" b="1" dirty="0" smtClean="0">
              <a:solidFill>
                <a:srgbClr val="FF00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Forget about the 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material on research methods from this week, from the </a:t>
            </a:r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videos, 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and from the </a:t>
            </a:r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readings</a:t>
            </a:r>
          </a:p>
          <a:p>
            <a:endParaRPr lang="en-GB" sz="2400" b="1" dirty="0"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Do</a:t>
            </a:r>
          </a:p>
          <a:p>
            <a:endParaRPr lang="en-GB" sz="2400" b="1" dirty="0">
              <a:solidFill>
                <a:srgbClr val="0066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Use </a:t>
            </a:r>
            <a:r>
              <a:rPr lang="en-GB" sz="2400" b="1" dirty="0">
                <a:solidFill>
                  <a:srgbClr val="006600"/>
                </a:solidFill>
                <a:latin typeface="+mn-lt"/>
              </a:rPr>
              <a:t>the research methods material that is relevant to your approach: apply it in the research and discuss it in the dissertation</a:t>
            </a:r>
          </a:p>
          <a:p>
            <a:endParaRPr lang="en-GB" sz="2400" b="1" dirty="0">
              <a:latin typeface="+mn-lt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7673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122"/>
    </mc:Choice>
    <mc:Fallback>
      <p:transition spd="slow" advTm="181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04664"/>
            <a:ext cx="83529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n-lt"/>
              </a:rPr>
              <a:t>Don't</a:t>
            </a:r>
          </a:p>
          <a:p>
            <a:endParaRPr lang="en-GB" sz="2400" b="1" dirty="0" smtClean="0">
              <a:solidFill>
                <a:srgbClr val="FF00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Treat 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the dissertation as a collection of separate chapters </a:t>
            </a:r>
            <a:endParaRPr lang="en-GB" sz="2400" b="1" dirty="0" smtClean="0">
              <a:solidFill>
                <a:srgbClr val="FF0000"/>
              </a:solidFill>
              <a:latin typeface="+mn-lt"/>
            </a:endParaRPr>
          </a:p>
          <a:p>
            <a:endParaRPr lang="en-GB" sz="2400" b="1" dirty="0"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Do</a:t>
            </a:r>
          </a:p>
          <a:p>
            <a:endParaRPr lang="en-GB" sz="2400" b="1" dirty="0">
              <a:solidFill>
                <a:srgbClr val="0066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Try </a:t>
            </a:r>
            <a:r>
              <a:rPr lang="en-GB" sz="2400" b="1" dirty="0">
                <a:solidFill>
                  <a:srgbClr val="006600"/>
                </a:solidFill>
                <a:latin typeface="+mn-lt"/>
              </a:rPr>
              <a:t>to see the dissertation as an integrated whole, with connections between each different part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1309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149"/>
    </mc:Choice>
    <mc:Fallback>
      <p:transition spd="slow" advTm="131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895600" y="304800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27" name="Rounded Rectangle 26"/>
          <p:cNvSpPr/>
          <p:nvPr/>
        </p:nvSpPr>
        <p:spPr>
          <a:xfrm>
            <a:off x="2895600" y="14478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28" name="Rounded Rectangle 27"/>
          <p:cNvSpPr/>
          <p:nvPr/>
        </p:nvSpPr>
        <p:spPr>
          <a:xfrm>
            <a:off x="2971800" y="472440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29" name="Rounded Rectangle 28"/>
          <p:cNvSpPr/>
          <p:nvPr/>
        </p:nvSpPr>
        <p:spPr>
          <a:xfrm>
            <a:off x="2895600" y="2209800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30" name="Rounded Rectangle 29"/>
          <p:cNvSpPr/>
          <p:nvPr/>
        </p:nvSpPr>
        <p:spPr>
          <a:xfrm>
            <a:off x="2895600" y="297180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31" name="Rounded Rectangle 30"/>
          <p:cNvSpPr/>
          <p:nvPr/>
        </p:nvSpPr>
        <p:spPr>
          <a:xfrm>
            <a:off x="2895600" y="3810000"/>
            <a:ext cx="3352800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28681" name="TextBox 4"/>
          <p:cNvSpPr txBox="1">
            <a:spLocks noChangeArrowheads="1"/>
          </p:cNvSpPr>
          <p:nvPr/>
        </p:nvSpPr>
        <p:spPr bwMode="auto">
          <a:xfrm>
            <a:off x="3048000" y="295275"/>
            <a:ext cx="3124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Introduction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Research question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Objectives</a:t>
            </a:r>
          </a:p>
        </p:txBody>
      </p:sp>
      <p:sp>
        <p:nvSpPr>
          <p:cNvPr id="28682" name="TextBox 5"/>
          <p:cNvSpPr txBox="1">
            <a:spLocks noChangeArrowheads="1"/>
          </p:cNvSpPr>
          <p:nvPr/>
        </p:nvSpPr>
        <p:spPr bwMode="auto">
          <a:xfrm>
            <a:off x="2971800" y="16002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Literature review</a:t>
            </a:r>
          </a:p>
        </p:txBody>
      </p:sp>
      <p:sp>
        <p:nvSpPr>
          <p:cNvPr id="28683" name="TextBox 6"/>
          <p:cNvSpPr txBox="1">
            <a:spLocks noChangeArrowheads="1"/>
          </p:cNvSpPr>
          <p:nvPr/>
        </p:nvSpPr>
        <p:spPr bwMode="auto">
          <a:xfrm>
            <a:off x="2971800" y="2362200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Methodology</a:t>
            </a:r>
          </a:p>
        </p:txBody>
      </p:sp>
      <p:sp>
        <p:nvSpPr>
          <p:cNvPr id="28684" name="TextBox 7"/>
          <p:cNvSpPr txBox="1">
            <a:spLocks noChangeArrowheads="1"/>
          </p:cNvSpPr>
          <p:nvPr/>
        </p:nvSpPr>
        <p:spPr bwMode="auto">
          <a:xfrm>
            <a:off x="3200400" y="31242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Findings</a:t>
            </a:r>
          </a:p>
        </p:txBody>
      </p:sp>
      <p:sp>
        <p:nvSpPr>
          <p:cNvPr id="28685" name="TextBox 8"/>
          <p:cNvSpPr txBox="1">
            <a:spLocks noChangeArrowheads="1"/>
          </p:cNvSpPr>
          <p:nvPr/>
        </p:nvSpPr>
        <p:spPr bwMode="auto">
          <a:xfrm>
            <a:off x="2971800" y="39624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Analysis</a:t>
            </a:r>
          </a:p>
        </p:txBody>
      </p:sp>
      <p:sp>
        <p:nvSpPr>
          <p:cNvPr id="28686" name="TextBox 9"/>
          <p:cNvSpPr txBox="1">
            <a:spLocks noChangeArrowheads="1"/>
          </p:cNvSpPr>
          <p:nvPr/>
        </p:nvSpPr>
        <p:spPr bwMode="auto">
          <a:xfrm>
            <a:off x="3124200" y="48768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Conclusions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5600" y="5867400"/>
            <a:ext cx="3352800" cy="609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28688" name="TextBox 7"/>
          <p:cNvSpPr txBox="1">
            <a:spLocks noChangeArrowheads="1"/>
          </p:cNvSpPr>
          <p:nvPr/>
        </p:nvSpPr>
        <p:spPr bwMode="auto">
          <a:xfrm>
            <a:off x="3124200" y="5954713"/>
            <a:ext cx="2819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Reflections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907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171"/>
    </mc:Choice>
    <mc:Fallback>
      <p:transition spd="slow" advTm="7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895600" y="2519363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27" name="Rounded Rectangle 26"/>
          <p:cNvSpPr/>
          <p:nvPr/>
        </p:nvSpPr>
        <p:spPr>
          <a:xfrm>
            <a:off x="179388" y="14478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28" name="Rounded Rectangle 27"/>
          <p:cNvSpPr/>
          <p:nvPr/>
        </p:nvSpPr>
        <p:spPr>
          <a:xfrm>
            <a:off x="2971800" y="487680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29" name="Rounded Rectangle 28"/>
          <p:cNvSpPr/>
          <p:nvPr/>
        </p:nvSpPr>
        <p:spPr>
          <a:xfrm>
            <a:off x="5651500" y="1450975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30" name="Rounded Rectangle 29"/>
          <p:cNvSpPr/>
          <p:nvPr/>
        </p:nvSpPr>
        <p:spPr>
          <a:xfrm>
            <a:off x="5322888" y="389890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31" name="Rounded Rectangle 30"/>
          <p:cNvSpPr/>
          <p:nvPr/>
        </p:nvSpPr>
        <p:spPr>
          <a:xfrm>
            <a:off x="511175" y="4038600"/>
            <a:ext cx="2981325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34824" name="TextBox 4"/>
          <p:cNvSpPr txBox="1">
            <a:spLocks noChangeArrowheads="1"/>
          </p:cNvSpPr>
          <p:nvPr/>
        </p:nvSpPr>
        <p:spPr bwMode="auto">
          <a:xfrm>
            <a:off x="2987675" y="2638425"/>
            <a:ext cx="3124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Research question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Objectives</a:t>
            </a:r>
          </a:p>
        </p:txBody>
      </p:sp>
      <p:sp>
        <p:nvSpPr>
          <p:cNvPr id="34825" name="TextBox 5"/>
          <p:cNvSpPr txBox="1">
            <a:spLocks noChangeArrowheads="1"/>
          </p:cNvSpPr>
          <p:nvPr/>
        </p:nvSpPr>
        <p:spPr bwMode="auto">
          <a:xfrm>
            <a:off x="219075" y="16002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Literature review</a:t>
            </a:r>
          </a:p>
        </p:txBody>
      </p:sp>
      <p:sp>
        <p:nvSpPr>
          <p:cNvPr id="34826" name="TextBox 6"/>
          <p:cNvSpPr txBox="1">
            <a:spLocks noChangeArrowheads="1"/>
          </p:cNvSpPr>
          <p:nvPr/>
        </p:nvSpPr>
        <p:spPr bwMode="auto">
          <a:xfrm>
            <a:off x="5768975" y="1546225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Methodology</a:t>
            </a:r>
          </a:p>
        </p:txBody>
      </p:sp>
      <p:sp>
        <p:nvSpPr>
          <p:cNvPr id="34827" name="TextBox 7"/>
          <p:cNvSpPr txBox="1">
            <a:spLocks noChangeArrowheads="1"/>
          </p:cNvSpPr>
          <p:nvPr/>
        </p:nvSpPr>
        <p:spPr bwMode="auto">
          <a:xfrm>
            <a:off x="5651500" y="4005263"/>
            <a:ext cx="2819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Findings</a:t>
            </a:r>
          </a:p>
        </p:txBody>
      </p:sp>
      <p:sp>
        <p:nvSpPr>
          <p:cNvPr id="34828" name="TextBox 8"/>
          <p:cNvSpPr txBox="1">
            <a:spLocks noChangeArrowheads="1"/>
          </p:cNvSpPr>
          <p:nvPr/>
        </p:nvSpPr>
        <p:spPr bwMode="auto">
          <a:xfrm>
            <a:off x="685800" y="4114800"/>
            <a:ext cx="2362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Analysis</a:t>
            </a:r>
          </a:p>
        </p:txBody>
      </p:sp>
      <p:sp>
        <p:nvSpPr>
          <p:cNvPr id="34829" name="TextBox 9"/>
          <p:cNvSpPr txBox="1">
            <a:spLocks noChangeArrowheads="1"/>
          </p:cNvSpPr>
          <p:nvPr/>
        </p:nvSpPr>
        <p:spPr bwMode="auto">
          <a:xfrm>
            <a:off x="3124200" y="50292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Conclusions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43213" y="333375"/>
            <a:ext cx="3352800" cy="431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34831" name="TextBox 4"/>
          <p:cNvSpPr txBox="1">
            <a:spLocks noChangeArrowheads="1"/>
          </p:cNvSpPr>
          <p:nvPr/>
        </p:nvSpPr>
        <p:spPr bwMode="auto">
          <a:xfrm>
            <a:off x="2987675" y="344488"/>
            <a:ext cx="3124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Introduction</a:t>
            </a:r>
          </a:p>
        </p:txBody>
      </p:sp>
      <p:sp>
        <p:nvSpPr>
          <p:cNvPr id="17" name="Bent Arrow 16"/>
          <p:cNvSpPr/>
          <p:nvPr/>
        </p:nvSpPr>
        <p:spPr>
          <a:xfrm rot="16200000">
            <a:off x="2339976" y="2205037"/>
            <a:ext cx="863600" cy="574675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4356100" y="765175"/>
            <a:ext cx="287338" cy="180022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20" name="Down Arrow 19"/>
          <p:cNvSpPr/>
          <p:nvPr/>
        </p:nvSpPr>
        <p:spPr>
          <a:xfrm>
            <a:off x="4356100" y="3357563"/>
            <a:ext cx="287338" cy="147320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22" name="Bent Arrow 21"/>
          <p:cNvSpPr/>
          <p:nvPr/>
        </p:nvSpPr>
        <p:spPr>
          <a:xfrm rot="5400000">
            <a:off x="6046788" y="3105150"/>
            <a:ext cx="1009650" cy="647700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Bent Arrow 24"/>
          <p:cNvSpPr/>
          <p:nvPr/>
        </p:nvSpPr>
        <p:spPr>
          <a:xfrm rot="5400000" flipV="1">
            <a:off x="2195512" y="3213101"/>
            <a:ext cx="936625" cy="647700"/>
          </a:xfrm>
          <a:prstGeom prst="bentArrow">
            <a:avLst>
              <a:gd name="adj1" fmla="val 25000"/>
              <a:gd name="adj2" fmla="val 29267"/>
              <a:gd name="adj3" fmla="val 25000"/>
              <a:gd name="adj4" fmla="val 4375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Bent Arrow 25"/>
          <p:cNvSpPr/>
          <p:nvPr/>
        </p:nvSpPr>
        <p:spPr>
          <a:xfrm rot="5400000" flipH="1">
            <a:off x="6119812" y="2168526"/>
            <a:ext cx="792163" cy="576262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933700" y="5867400"/>
            <a:ext cx="3352800" cy="609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34839" name="TextBox 9"/>
          <p:cNvSpPr txBox="1">
            <a:spLocks noChangeArrowheads="1"/>
          </p:cNvSpPr>
          <p:nvPr/>
        </p:nvSpPr>
        <p:spPr bwMode="auto">
          <a:xfrm>
            <a:off x="3048000" y="59436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Reflections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492500" y="1557338"/>
            <a:ext cx="2159000" cy="28733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33" name="Right Arrow 32"/>
          <p:cNvSpPr/>
          <p:nvPr/>
        </p:nvSpPr>
        <p:spPr>
          <a:xfrm rot="5400000">
            <a:off x="359569" y="2888456"/>
            <a:ext cx="1944688" cy="28892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34" name="Right Arrow 33"/>
          <p:cNvSpPr/>
          <p:nvPr/>
        </p:nvSpPr>
        <p:spPr>
          <a:xfrm rot="5400000">
            <a:off x="6911975" y="2889250"/>
            <a:ext cx="1873250" cy="2159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36" name="Right Arrow 35"/>
          <p:cNvSpPr/>
          <p:nvPr/>
        </p:nvSpPr>
        <p:spPr>
          <a:xfrm rot="10800000">
            <a:off x="3505200" y="4038600"/>
            <a:ext cx="1817688" cy="287338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37" name="Bent Arrow 36"/>
          <p:cNvSpPr/>
          <p:nvPr/>
        </p:nvSpPr>
        <p:spPr>
          <a:xfrm flipV="1">
            <a:off x="1905000" y="4648200"/>
            <a:ext cx="1054100" cy="7620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56616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8" name="Bent Arrow 37"/>
          <p:cNvSpPr/>
          <p:nvPr/>
        </p:nvSpPr>
        <p:spPr>
          <a:xfrm rot="5400000" flipH="1">
            <a:off x="6739732" y="3788568"/>
            <a:ext cx="4114800" cy="652463"/>
          </a:xfrm>
          <a:prstGeom prst="bentArrow">
            <a:avLst>
              <a:gd name="adj1" fmla="val 28023"/>
              <a:gd name="adj2" fmla="val 25458"/>
              <a:gd name="adj3" fmla="val 25000"/>
              <a:gd name="adj4" fmla="val 4375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9" name="Right Arrow 38"/>
          <p:cNvSpPr/>
          <p:nvPr/>
        </p:nvSpPr>
        <p:spPr>
          <a:xfrm rot="10800000">
            <a:off x="6259513" y="5889625"/>
            <a:ext cx="2173287" cy="35877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40" name="Down Arrow 39"/>
          <p:cNvSpPr/>
          <p:nvPr/>
        </p:nvSpPr>
        <p:spPr>
          <a:xfrm rot="10800000">
            <a:off x="7637463" y="4495800"/>
            <a:ext cx="287337" cy="1473200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41" name="Down Arrow 40"/>
          <p:cNvSpPr/>
          <p:nvPr/>
        </p:nvSpPr>
        <p:spPr>
          <a:xfrm rot="10800000">
            <a:off x="1143000" y="4648200"/>
            <a:ext cx="287338" cy="1473200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42" name="Right Arrow 41"/>
          <p:cNvSpPr/>
          <p:nvPr/>
        </p:nvSpPr>
        <p:spPr>
          <a:xfrm>
            <a:off x="762000" y="5943600"/>
            <a:ext cx="2159000" cy="287338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44" name="Bent Arrow 43"/>
          <p:cNvSpPr/>
          <p:nvPr/>
        </p:nvSpPr>
        <p:spPr>
          <a:xfrm rot="16200000">
            <a:off x="-1570037" y="3798887"/>
            <a:ext cx="4114800" cy="631825"/>
          </a:xfrm>
          <a:prstGeom prst="ben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Up-Down Arrow 7"/>
          <p:cNvSpPr/>
          <p:nvPr/>
        </p:nvSpPr>
        <p:spPr>
          <a:xfrm>
            <a:off x="4419600" y="5562600"/>
            <a:ext cx="147638" cy="304800"/>
          </a:xfrm>
          <a:prstGeom prst="up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3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11"/>
    </mc:Choice>
    <mc:Fallback>
      <p:transition spd="slow" advTm="74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476672"/>
            <a:ext cx="79928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n-lt"/>
              </a:rPr>
              <a:t>Don't</a:t>
            </a:r>
          </a:p>
          <a:p>
            <a:endParaRPr lang="en-GB" sz="2400" b="1" dirty="0" smtClean="0">
              <a:solidFill>
                <a:srgbClr val="FF0000"/>
              </a:solidFill>
              <a:latin typeface="+mn-lt"/>
            </a:endParaRPr>
          </a:p>
          <a:p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Think 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this is all hard work – a </a:t>
            </a:r>
            <a:r>
              <a:rPr lang="en-GB" sz="2400" b="1" dirty="0" smtClean="0">
                <a:solidFill>
                  <a:srgbClr val="FF0000"/>
                </a:solidFill>
                <a:latin typeface="+mn-lt"/>
              </a:rPr>
              <a:t>chore</a:t>
            </a:r>
          </a:p>
          <a:p>
            <a:endParaRPr lang="en-GB" sz="2400" dirty="0" smtClean="0">
              <a:latin typeface="+mn-lt"/>
            </a:endParaRPr>
          </a:p>
          <a:p>
            <a:r>
              <a:rPr lang="en-GB" sz="2400" b="1" dirty="0" smtClean="0">
                <a:solidFill>
                  <a:srgbClr val="006600"/>
                </a:solidFill>
                <a:latin typeface="+mn-lt"/>
              </a:rPr>
              <a:t>Do</a:t>
            </a:r>
          </a:p>
          <a:p>
            <a:endParaRPr lang="en-GB" sz="2400" b="1" dirty="0">
              <a:solidFill>
                <a:srgbClr val="006600"/>
              </a:solidFill>
              <a:latin typeface="+mn-lt"/>
            </a:endParaRPr>
          </a:p>
          <a:p>
            <a:r>
              <a:rPr lang="en-GB" sz="2400" b="1" dirty="0">
                <a:solidFill>
                  <a:srgbClr val="006600"/>
                </a:solidFill>
                <a:latin typeface="+mn-lt"/>
              </a:rPr>
              <a:t>Find time to enjoy yourself while you are doing this</a:t>
            </a:r>
          </a:p>
          <a:p>
            <a:endParaRPr lang="en-GB" sz="2400" dirty="0">
              <a:latin typeface="+mn-lt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714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83"/>
    </mc:Choice>
    <mc:Fallback>
      <p:transition spd="slow" advTm="93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805"/>
            <a:ext cx="9144000" cy="4788389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74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130"/>
    </mc:Choice>
    <mc:Fallback>
      <p:transition spd="slow" advTm="281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3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8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3012</TotalTime>
  <Words>347</Words>
  <Application>Microsoft Office PowerPoint</Application>
  <PresentationFormat>On-screen Show (4:3)</PresentationFormat>
  <Paragraphs>90</Paragraphs>
  <Slides>13</Slides>
  <Notes>2</Notes>
  <HiddenSlides>0</HiddenSlides>
  <MMClips>13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1_Office Theme</vt:lpstr>
      <vt:lpstr>The Dissertation:  What you need to do to succeed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Hull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26432</dc:title>
  <dc:creator>David Nicholas Tucker</dc:creator>
  <cp:lastModifiedBy>George</cp:lastModifiedBy>
  <cp:revision>141</cp:revision>
  <cp:lastPrinted>2015-04-12T10:54:10Z</cp:lastPrinted>
  <dcterms:created xsi:type="dcterms:W3CDTF">2005-09-18T18:21:05Z</dcterms:created>
  <dcterms:modified xsi:type="dcterms:W3CDTF">2020-04-15T15:06:35Z</dcterms:modified>
</cp:coreProperties>
</file>