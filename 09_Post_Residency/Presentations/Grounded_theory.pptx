
<file path=[Content_Types].xml><?xml version="1.0" encoding="utf-8"?>
<Types xmlns="http://schemas.openxmlformats.org/package/2006/content-types">
  <Override PartName="/ppt/slides/slide5.xml" ContentType="application/vnd.openxmlformats-officedocument.presentationml.slide+xml"/>
  <Override PartName="/ppt/slides/slide6.xml" ContentType="application/vnd.openxmlformats-officedocument.presentationml.slide+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Masters/slideMaster1.xml" ContentType="application/vnd.openxmlformats-officedocument.presentationml.slideMaster+xml"/>
  <Override PartName="/ppt/slides/slide3.xml" ContentType="application/vnd.openxmlformats-officedocument.presentationml.slide+xml"/>
  <Override PartName="/ppt/slides/slide4.xml" ContentType="application/vnd.openxmlformats-officedocument.presentationml.slide+xml"/>
  <Override PartName="/ppt/presProps.xml" ContentType="application/vnd.openxmlformats-officedocument.presentationml.presProps+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slides/slide1.xml" ContentType="application/vnd.openxmlformats-officedocument.presentationml.slide+xml"/>
  <Override PartName="/ppt/slides/slide2.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Override PartName="/ppt/slideLayouts/slideLayout3.xml" ContentType="application/vnd.openxmlformats-officedocument.presentationml.slideLayout+xml"/>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slideLayouts/slideLayout1.xml" ContentType="application/vnd.openxmlformats-officedocument.presentationml.slideLayout+xml"/>
  <Override PartName="/docProps/app.xml" ContentType="application/vnd.openxmlformats-officedocument.extended-properties+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ppt/slideLayouts/slideLayout10.xml" ContentType="application/vnd.openxmlformats-officedocument.presentationml.slideLayout+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handoutMasters/handoutMaster1.xml" ContentType="application/vnd.openxmlformats-officedocument.presentationml.handoutMaster+xml"/>
  <Override PartName="/ppt/viewProps.xml" ContentType="application/vnd.openxmlformats-officedocument.presentationml.viewProps+xml"/>
  <Override PartName="/ppt/slideLayouts/slideLayout9.xml" ContentType="application/vnd.openxmlformats-officedocument.presentationml.slideLayout+xml"/>
  <Override PartName="/docProps/core.xml" ContentType="application/vnd.openxmlformats-package.core-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8"/>
  </p:notesMasterIdLst>
  <p:handoutMasterIdLst>
    <p:handoutMasterId r:id="rId19"/>
  </p:handoutMasterIdLst>
  <p:sldIdLst>
    <p:sldId id="256" r:id="rId2"/>
    <p:sldId id="257" r:id="rId3"/>
    <p:sldId id="272" r:id="rId4"/>
    <p:sldId id="273" r:id="rId5"/>
    <p:sldId id="260" r:id="rId6"/>
    <p:sldId id="274" r:id="rId7"/>
    <p:sldId id="276" r:id="rId8"/>
    <p:sldId id="263" r:id="rId9"/>
    <p:sldId id="277" r:id="rId10"/>
    <p:sldId id="264" r:id="rId11"/>
    <p:sldId id="278" r:id="rId12"/>
    <p:sldId id="266" r:id="rId13"/>
    <p:sldId id="267" r:id="rId14"/>
    <p:sldId id="271" r:id="rId15"/>
    <p:sldId id="279" r:id="rId16"/>
    <p:sldId id="269" r:id="rId17"/>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 xmlns:p14="http://schemas.microsoft.com/office/powerpoint/2010/main" val="0"/>
    </p:ext>
    <p:ext uri="{D31A062A-798A-4329-ABDD-BBA856620510}">
      <p14:defaultImageDpi xmlns=""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p:cViewPr varScale="1">
        <p:scale>
          <a:sx n="110" d="100"/>
          <a:sy n="110" d="100"/>
        </p:scale>
        <p:origin x="-1644" y="-90"/>
      </p:cViewPr>
      <p:guideLst>
        <p:guide orient="horz" pos="2160"/>
        <p:guide pos="2880"/>
      </p:guideLst>
    </p:cSldViewPr>
  </p:slideViewPr>
  <p:notesTextViewPr>
    <p:cViewPr>
      <p:scale>
        <a:sx n="100" d="100"/>
        <a:sy n="100" d="100"/>
      </p:scale>
      <p:origin x="0" y="0"/>
    </p:cViewPr>
  </p:notesTextViewPr>
  <p:gridSpacing cx="73736200" cy="7373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handoutMaster" Target="handoutMasters/handout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heme" Target="theme/theme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7F79EC0A-0E24-4219-99B9-3076A0B7B8A7}" type="datetimeFigureOut">
              <a:rPr lang="en-GB" smtClean="0"/>
              <a:pPr/>
              <a:t>11/08/2013</a:t>
            </a:fld>
            <a:endParaRPr lang="en-GB"/>
          </a:p>
        </p:txBody>
      </p:sp>
      <p:sp>
        <p:nvSpPr>
          <p:cNvPr id="4" name="Footer Placeholder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lang="en-GB"/>
          </a:p>
        </p:txBody>
      </p:sp>
      <p:sp>
        <p:nvSpPr>
          <p:cNvPr id="5" name="Slide Number Placeholder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FA4D13B7-215C-4554-A522-D225B42936D2}" type="slidenum">
              <a:rPr lang="en-GB" smtClean="0"/>
              <a:pPr/>
              <a:t>‹#›</a:t>
            </a:fld>
            <a:endParaRPr lang="en-GB"/>
          </a:p>
        </p:txBody>
      </p:sp>
    </p:spTree>
    <p:extLst>
      <p:ext uri="{BB962C8B-B14F-4D97-AF65-F5344CB8AC3E}">
        <p14:creationId xmlns="" xmlns:p14="http://schemas.microsoft.com/office/powerpoint/2010/main" val="3391102703"/>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3365588A-A06A-4751-AE0C-5CFA403CDDBA}" type="datetimeFigureOut">
              <a:rPr lang="en-GB" smtClean="0"/>
              <a:pPr/>
              <a:t>11/08/2013</a:t>
            </a:fld>
            <a:endParaRPr lang="en-GB"/>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GB"/>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7225E887-3A81-454A-A58B-A6B64572ED12}" type="slidenum">
              <a:rPr lang="en-GB" smtClean="0"/>
              <a:pPr/>
              <a:t>‹#›</a:t>
            </a:fld>
            <a:endParaRPr lang="en-GB"/>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GB"/>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GB"/>
          </a:p>
        </p:txBody>
      </p:sp>
      <p:sp>
        <p:nvSpPr>
          <p:cNvPr id="4" name="Date Placeholder 3"/>
          <p:cNvSpPr>
            <a:spLocks noGrp="1"/>
          </p:cNvSpPr>
          <p:nvPr>
            <p:ph type="dt" sz="half" idx="10"/>
          </p:nvPr>
        </p:nvSpPr>
        <p:spPr/>
        <p:txBody>
          <a:bodyPr/>
          <a:lstStyle/>
          <a:p>
            <a:fld id="{8FDFF1A7-567F-485D-85CC-A11B964659AA}" type="datetime1">
              <a:rPr lang="en-GB" smtClean="0"/>
              <a:pPr/>
              <a:t>11/08/2013</a:t>
            </a:fld>
            <a:endParaRPr lang="en-GB"/>
          </a:p>
        </p:txBody>
      </p:sp>
      <p:sp>
        <p:nvSpPr>
          <p:cNvPr id="5" name="Footer Placeholder 4"/>
          <p:cNvSpPr>
            <a:spLocks noGrp="1"/>
          </p:cNvSpPr>
          <p:nvPr>
            <p:ph type="ftr" sz="quarter" idx="11"/>
          </p:nvPr>
        </p:nvSpPr>
        <p:spPr/>
        <p:txBody>
          <a:bodyPr/>
          <a:lstStyle/>
          <a:p>
            <a:r>
              <a:rPr lang="en-GB" smtClean="0"/>
              <a:t>George Boak 2013</a:t>
            </a:r>
            <a:endParaRPr lang="en-GB"/>
          </a:p>
        </p:txBody>
      </p:sp>
      <p:sp>
        <p:nvSpPr>
          <p:cNvPr id="6" name="Slide Number Placeholder 5"/>
          <p:cNvSpPr>
            <a:spLocks noGrp="1"/>
          </p:cNvSpPr>
          <p:nvPr>
            <p:ph type="sldNum" sz="quarter" idx="12"/>
          </p:nvPr>
        </p:nvSpPr>
        <p:spPr/>
        <p:txBody>
          <a:bodyPr/>
          <a:lstStyle/>
          <a:p>
            <a:fld id="{5454F0FC-3D31-4E1D-8C93-C9D7F90BB326}" type="slidenum">
              <a:rPr lang="en-GB" smtClean="0"/>
              <a:pPr/>
              <a:t>‹#›</a:t>
            </a:fld>
            <a:endParaRPr lang="en-GB"/>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GB"/>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4" name="Date Placeholder 3"/>
          <p:cNvSpPr>
            <a:spLocks noGrp="1"/>
          </p:cNvSpPr>
          <p:nvPr>
            <p:ph type="dt" sz="half" idx="10"/>
          </p:nvPr>
        </p:nvSpPr>
        <p:spPr/>
        <p:txBody>
          <a:bodyPr/>
          <a:lstStyle/>
          <a:p>
            <a:fld id="{35E040C1-F4DC-41F7-B93B-7A66B4091D7D}" type="datetime1">
              <a:rPr lang="en-GB" smtClean="0"/>
              <a:pPr/>
              <a:t>11/08/2013</a:t>
            </a:fld>
            <a:endParaRPr lang="en-GB"/>
          </a:p>
        </p:txBody>
      </p:sp>
      <p:sp>
        <p:nvSpPr>
          <p:cNvPr id="5" name="Footer Placeholder 4"/>
          <p:cNvSpPr>
            <a:spLocks noGrp="1"/>
          </p:cNvSpPr>
          <p:nvPr>
            <p:ph type="ftr" sz="quarter" idx="11"/>
          </p:nvPr>
        </p:nvSpPr>
        <p:spPr/>
        <p:txBody>
          <a:bodyPr/>
          <a:lstStyle/>
          <a:p>
            <a:r>
              <a:rPr lang="en-GB" smtClean="0"/>
              <a:t>George Boak 2013</a:t>
            </a:r>
            <a:endParaRPr lang="en-GB"/>
          </a:p>
        </p:txBody>
      </p:sp>
      <p:sp>
        <p:nvSpPr>
          <p:cNvPr id="6" name="Slide Number Placeholder 5"/>
          <p:cNvSpPr>
            <a:spLocks noGrp="1"/>
          </p:cNvSpPr>
          <p:nvPr>
            <p:ph type="sldNum" sz="quarter" idx="12"/>
          </p:nvPr>
        </p:nvSpPr>
        <p:spPr/>
        <p:txBody>
          <a:bodyPr/>
          <a:lstStyle/>
          <a:p>
            <a:fld id="{5454F0FC-3D31-4E1D-8C93-C9D7F90BB326}" type="slidenum">
              <a:rPr lang="en-GB" smtClean="0"/>
              <a:pPr/>
              <a:t>‹#›</a:t>
            </a:fld>
            <a:endParaRPr lang="en-GB"/>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GB"/>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699EEAD7-CDDA-4C7D-BDC9-0B924990D0C7}" type="datetime1">
              <a:rPr lang="en-GB" smtClean="0"/>
              <a:pPr/>
              <a:t>11/08/2013</a:t>
            </a:fld>
            <a:endParaRPr lang="en-GB"/>
          </a:p>
        </p:txBody>
      </p:sp>
      <p:sp>
        <p:nvSpPr>
          <p:cNvPr id="5" name="Footer Placeholder 4"/>
          <p:cNvSpPr>
            <a:spLocks noGrp="1"/>
          </p:cNvSpPr>
          <p:nvPr>
            <p:ph type="ftr" sz="quarter" idx="11"/>
          </p:nvPr>
        </p:nvSpPr>
        <p:spPr/>
        <p:txBody>
          <a:bodyPr/>
          <a:lstStyle/>
          <a:p>
            <a:r>
              <a:rPr lang="en-GB" smtClean="0"/>
              <a:t>George Boak 2013</a:t>
            </a:r>
            <a:endParaRPr lang="en-GB"/>
          </a:p>
        </p:txBody>
      </p:sp>
      <p:sp>
        <p:nvSpPr>
          <p:cNvPr id="6" name="Slide Number Placeholder 5"/>
          <p:cNvSpPr>
            <a:spLocks noGrp="1"/>
          </p:cNvSpPr>
          <p:nvPr>
            <p:ph type="sldNum" sz="quarter" idx="12"/>
          </p:nvPr>
        </p:nvSpPr>
        <p:spPr/>
        <p:txBody>
          <a:bodyPr/>
          <a:lstStyle/>
          <a:p>
            <a:fld id="{5454F0FC-3D31-4E1D-8C93-C9D7F90BB326}" type="slidenum">
              <a:rPr lang="en-GB" smtClean="0"/>
              <a:pPr/>
              <a:t>‹#›</a:t>
            </a:fld>
            <a:endParaRPr lang="en-GB"/>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GB"/>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5" name="Date Placeholder 4"/>
          <p:cNvSpPr>
            <a:spLocks noGrp="1"/>
          </p:cNvSpPr>
          <p:nvPr>
            <p:ph type="dt" sz="half" idx="10"/>
          </p:nvPr>
        </p:nvSpPr>
        <p:spPr/>
        <p:txBody>
          <a:bodyPr/>
          <a:lstStyle/>
          <a:p>
            <a:fld id="{432C78C1-2817-4409-BC26-1D58C631EC0D}" type="datetime1">
              <a:rPr lang="en-GB" smtClean="0"/>
              <a:pPr/>
              <a:t>11/08/2013</a:t>
            </a:fld>
            <a:endParaRPr lang="en-GB"/>
          </a:p>
        </p:txBody>
      </p:sp>
      <p:sp>
        <p:nvSpPr>
          <p:cNvPr id="6" name="Footer Placeholder 5"/>
          <p:cNvSpPr>
            <a:spLocks noGrp="1"/>
          </p:cNvSpPr>
          <p:nvPr>
            <p:ph type="ftr" sz="quarter" idx="11"/>
          </p:nvPr>
        </p:nvSpPr>
        <p:spPr/>
        <p:txBody>
          <a:bodyPr/>
          <a:lstStyle/>
          <a:p>
            <a:r>
              <a:rPr lang="en-GB" smtClean="0"/>
              <a:t>George Boak 2013</a:t>
            </a:r>
            <a:endParaRPr lang="en-GB"/>
          </a:p>
        </p:txBody>
      </p:sp>
      <p:sp>
        <p:nvSpPr>
          <p:cNvPr id="7" name="Slide Number Placeholder 6"/>
          <p:cNvSpPr>
            <a:spLocks noGrp="1"/>
          </p:cNvSpPr>
          <p:nvPr>
            <p:ph type="sldNum" sz="quarter" idx="12"/>
          </p:nvPr>
        </p:nvSpPr>
        <p:spPr/>
        <p:txBody>
          <a:bodyPr/>
          <a:lstStyle/>
          <a:p>
            <a:fld id="{5454F0FC-3D31-4E1D-8C93-C9D7F90BB326}" type="slidenum">
              <a:rPr lang="en-GB" smtClean="0"/>
              <a:pPr/>
              <a:t>‹#›</a:t>
            </a:fld>
            <a:endParaRPr lang="en-GB"/>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GB"/>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7" name="Date Placeholder 6"/>
          <p:cNvSpPr>
            <a:spLocks noGrp="1"/>
          </p:cNvSpPr>
          <p:nvPr>
            <p:ph type="dt" sz="half" idx="10"/>
          </p:nvPr>
        </p:nvSpPr>
        <p:spPr/>
        <p:txBody>
          <a:bodyPr/>
          <a:lstStyle/>
          <a:p>
            <a:fld id="{69370207-4DAB-4E61-AFCA-DC5924D08A75}" type="datetime1">
              <a:rPr lang="en-GB" smtClean="0"/>
              <a:pPr/>
              <a:t>11/08/2013</a:t>
            </a:fld>
            <a:endParaRPr lang="en-GB"/>
          </a:p>
        </p:txBody>
      </p:sp>
      <p:sp>
        <p:nvSpPr>
          <p:cNvPr id="8" name="Footer Placeholder 7"/>
          <p:cNvSpPr>
            <a:spLocks noGrp="1"/>
          </p:cNvSpPr>
          <p:nvPr>
            <p:ph type="ftr" sz="quarter" idx="11"/>
          </p:nvPr>
        </p:nvSpPr>
        <p:spPr/>
        <p:txBody>
          <a:bodyPr/>
          <a:lstStyle/>
          <a:p>
            <a:r>
              <a:rPr lang="en-GB" smtClean="0"/>
              <a:t>George Boak 2013</a:t>
            </a:r>
            <a:endParaRPr lang="en-GB"/>
          </a:p>
        </p:txBody>
      </p:sp>
      <p:sp>
        <p:nvSpPr>
          <p:cNvPr id="9" name="Slide Number Placeholder 8"/>
          <p:cNvSpPr>
            <a:spLocks noGrp="1"/>
          </p:cNvSpPr>
          <p:nvPr>
            <p:ph type="sldNum" sz="quarter" idx="12"/>
          </p:nvPr>
        </p:nvSpPr>
        <p:spPr/>
        <p:txBody>
          <a:bodyPr/>
          <a:lstStyle/>
          <a:p>
            <a:fld id="{5454F0FC-3D31-4E1D-8C93-C9D7F90BB326}" type="slidenum">
              <a:rPr lang="en-GB" smtClean="0"/>
              <a:pPr/>
              <a:t>‹#›</a:t>
            </a:fld>
            <a:endParaRPr lang="en-GB"/>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GB"/>
          </a:p>
        </p:txBody>
      </p:sp>
      <p:sp>
        <p:nvSpPr>
          <p:cNvPr id="3" name="Date Placeholder 2"/>
          <p:cNvSpPr>
            <a:spLocks noGrp="1"/>
          </p:cNvSpPr>
          <p:nvPr>
            <p:ph type="dt" sz="half" idx="10"/>
          </p:nvPr>
        </p:nvSpPr>
        <p:spPr/>
        <p:txBody>
          <a:bodyPr/>
          <a:lstStyle/>
          <a:p>
            <a:fld id="{3424C97F-43FE-4BC7-BCA5-2E73A3269ED9}" type="datetime1">
              <a:rPr lang="en-GB" smtClean="0"/>
              <a:pPr/>
              <a:t>11/08/2013</a:t>
            </a:fld>
            <a:endParaRPr lang="en-GB"/>
          </a:p>
        </p:txBody>
      </p:sp>
      <p:sp>
        <p:nvSpPr>
          <p:cNvPr id="4" name="Footer Placeholder 3"/>
          <p:cNvSpPr>
            <a:spLocks noGrp="1"/>
          </p:cNvSpPr>
          <p:nvPr>
            <p:ph type="ftr" sz="quarter" idx="11"/>
          </p:nvPr>
        </p:nvSpPr>
        <p:spPr/>
        <p:txBody>
          <a:bodyPr/>
          <a:lstStyle/>
          <a:p>
            <a:r>
              <a:rPr lang="en-GB" smtClean="0"/>
              <a:t>George Boak 2013</a:t>
            </a:r>
            <a:endParaRPr lang="en-GB"/>
          </a:p>
        </p:txBody>
      </p:sp>
      <p:sp>
        <p:nvSpPr>
          <p:cNvPr id="5" name="Slide Number Placeholder 4"/>
          <p:cNvSpPr>
            <a:spLocks noGrp="1"/>
          </p:cNvSpPr>
          <p:nvPr>
            <p:ph type="sldNum" sz="quarter" idx="12"/>
          </p:nvPr>
        </p:nvSpPr>
        <p:spPr/>
        <p:txBody>
          <a:bodyPr/>
          <a:lstStyle/>
          <a:p>
            <a:fld id="{5454F0FC-3D31-4E1D-8C93-C9D7F90BB326}" type="slidenum">
              <a:rPr lang="en-GB" smtClean="0"/>
              <a:pPr/>
              <a:t>‹#›</a:t>
            </a:fld>
            <a:endParaRPr lang="en-GB"/>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71A4696-D1B7-4611-93B8-6D2E74349FD7}" type="datetime1">
              <a:rPr lang="en-GB" smtClean="0"/>
              <a:pPr/>
              <a:t>11/08/2013</a:t>
            </a:fld>
            <a:endParaRPr lang="en-GB"/>
          </a:p>
        </p:txBody>
      </p:sp>
      <p:sp>
        <p:nvSpPr>
          <p:cNvPr id="3" name="Footer Placeholder 2"/>
          <p:cNvSpPr>
            <a:spLocks noGrp="1"/>
          </p:cNvSpPr>
          <p:nvPr>
            <p:ph type="ftr" sz="quarter" idx="11"/>
          </p:nvPr>
        </p:nvSpPr>
        <p:spPr/>
        <p:txBody>
          <a:bodyPr/>
          <a:lstStyle/>
          <a:p>
            <a:r>
              <a:rPr lang="en-GB" smtClean="0"/>
              <a:t>George Boak 2013</a:t>
            </a:r>
            <a:endParaRPr lang="en-GB"/>
          </a:p>
        </p:txBody>
      </p:sp>
      <p:sp>
        <p:nvSpPr>
          <p:cNvPr id="4" name="Slide Number Placeholder 3"/>
          <p:cNvSpPr>
            <a:spLocks noGrp="1"/>
          </p:cNvSpPr>
          <p:nvPr>
            <p:ph type="sldNum" sz="quarter" idx="12"/>
          </p:nvPr>
        </p:nvSpPr>
        <p:spPr/>
        <p:txBody>
          <a:bodyPr/>
          <a:lstStyle/>
          <a:p>
            <a:fld id="{5454F0FC-3D31-4E1D-8C93-C9D7F90BB326}" type="slidenum">
              <a:rPr lang="en-GB" smtClean="0"/>
              <a:pPr/>
              <a:t>‹#›</a:t>
            </a:fld>
            <a:endParaRPr lang="en-GB"/>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GB"/>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E9653C82-416B-4A0D-AB1E-4BD3AEC27246}" type="datetime1">
              <a:rPr lang="en-GB" smtClean="0"/>
              <a:pPr/>
              <a:t>11/08/2013</a:t>
            </a:fld>
            <a:endParaRPr lang="en-GB"/>
          </a:p>
        </p:txBody>
      </p:sp>
      <p:sp>
        <p:nvSpPr>
          <p:cNvPr id="6" name="Footer Placeholder 5"/>
          <p:cNvSpPr>
            <a:spLocks noGrp="1"/>
          </p:cNvSpPr>
          <p:nvPr>
            <p:ph type="ftr" sz="quarter" idx="11"/>
          </p:nvPr>
        </p:nvSpPr>
        <p:spPr/>
        <p:txBody>
          <a:bodyPr/>
          <a:lstStyle/>
          <a:p>
            <a:r>
              <a:rPr lang="en-GB" smtClean="0"/>
              <a:t>George Boak 2013</a:t>
            </a:r>
            <a:endParaRPr lang="en-GB"/>
          </a:p>
        </p:txBody>
      </p:sp>
      <p:sp>
        <p:nvSpPr>
          <p:cNvPr id="7" name="Slide Number Placeholder 6"/>
          <p:cNvSpPr>
            <a:spLocks noGrp="1"/>
          </p:cNvSpPr>
          <p:nvPr>
            <p:ph type="sldNum" sz="quarter" idx="12"/>
          </p:nvPr>
        </p:nvSpPr>
        <p:spPr/>
        <p:txBody>
          <a:bodyPr/>
          <a:lstStyle/>
          <a:p>
            <a:fld id="{5454F0FC-3D31-4E1D-8C93-C9D7F90BB326}" type="slidenum">
              <a:rPr lang="en-GB" smtClean="0"/>
              <a:pPr/>
              <a:t>‹#›</a:t>
            </a:fld>
            <a:endParaRPr lang="en-GB"/>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GB"/>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GB"/>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4D4B7196-D195-48E8-BA0E-4ECA90248A18}" type="datetime1">
              <a:rPr lang="en-GB" smtClean="0"/>
              <a:pPr/>
              <a:t>11/08/2013</a:t>
            </a:fld>
            <a:endParaRPr lang="en-GB"/>
          </a:p>
        </p:txBody>
      </p:sp>
      <p:sp>
        <p:nvSpPr>
          <p:cNvPr id="6" name="Footer Placeholder 5"/>
          <p:cNvSpPr>
            <a:spLocks noGrp="1"/>
          </p:cNvSpPr>
          <p:nvPr>
            <p:ph type="ftr" sz="quarter" idx="11"/>
          </p:nvPr>
        </p:nvSpPr>
        <p:spPr/>
        <p:txBody>
          <a:bodyPr/>
          <a:lstStyle/>
          <a:p>
            <a:r>
              <a:rPr lang="en-GB" smtClean="0"/>
              <a:t>George Boak 2013</a:t>
            </a:r>
            <a:endParaRPr lang="en-GB"/>
          </a:p>
        </p:txBody>
      </p:sp>
      <p:sp>
        <p:nvSpPr>
          <p:cNvPr id="7" name="Slide Number Placeholder 6"/>
          <p:cNvSpPr>
            <a:spLocks noGrp="1"/>
          </p:cNvSpPr>
          <p:nvPr>
            <p:ph type="sldNum" sz="quarter" idx="12"/>
          </p:nvPr>
        </p:nvSpPr>
        <p:spPr/>
        <p:txBody>
          <a:bodyPr/>
          <a:lstStyle/>
          <a:p>
            <a:fld id="{5454F0FC-3D31-4E1D-8C93-C9D7F90BB326}" type="slidenum">
              <a:rPr lang="en-GB" smtClean="0"/>
              <a:pPr/>
              <a:t>‹#›</a:t>
            </a:fld>
            <a:endParaRPr lang="en-GB"/>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GB"/>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4" name="Date Placeholder 3"/>
          <p:cNvSpPr>
            <a:spLocks noGrp="1"/>
          </p:cNvSpPr>
          <p:nvPr>
            <p:ph type="dt" sz="half" idx="10"/>
          </p:nvPr>
        </p:nvSpPr>
        <p:spPr/>
        <p:txBody>
          <a:bodyPr/>
          <a:lstStyle/>
          <a:p>
            <a:fld id="{09CE1D57-F4E3-4E8C-91B2-C1894CB44FA7}" type="datetime1">
              <a:rPr lang="en-GB" smtClean="0"/>
              <a:pPr/>
              <a:t>11/08/2013</a:t>
            </a:fld>
            <a:endParaRPr lang="en-GB"/>
          </a:p>
        </p:txBody>
      </p:sp>
      <p:sp>
        <p:nvSpPr>
          <p:cNvPr id="5" name="Footer Placeholder 4"/>
          <p:cNvSpPr>
            <a:spLocks noGrp="1"/>
          </p:cNvSpPr>
          <p:nvPr>
            <p:ph type="ftr" sz="quarter" idx="11"/>
          </p:nvPr>
        </p:nvSpPr>
        <p:spPr/>
        <p:txBody>
          <a:bodyPr/>
          <a:lstStyle/>
          <a:p>
            <a:r>
              <a:rPr lang="en-GB" smtClean="0"/>
              <a:t>George Boak 2013</a:t>
            </a:r>
            <a:endParaRPr lang="en-GB"/>
          </a:p>
        </p:txBody>
      </p:sp>
      <p:sp>
        <p:nvSpPr>
          <p:cNvPr id="6" name="Slide Number Placeholder 5"/>
          <p:cNvSpPr>
            <a:spLocks noGrp="1"/>
          </p:cNvSpPr>
          <p:nvPr>
            <p:ph type="sldNum" sz="quarter" idx="12"/>
          </p:nvPr>
        </p:nvSpPr>
        <p:spPr/>
        <p:txBody>
          <a:bodyPr/>
          <a:lstStyle/>
          <a:p>
            <a:fld id="{5454F0FC-3D31-4E1D-8C93-C9D7F90BB326}" type="slidenum">
              <a:rPr lang="en-GB" smtClean="0"/>
              <a:pPr/>
              <a:t>‹#›</a:t>
            </a:fld>
            <a:endParaRPr lang="en-GB"/>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GB"/>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4" name="Date Placeholder 3"/>
          <p:cNvSpPr>
            <a:spLocks noGrp="1"/>
          </p:cNvSpPr>
          <p:nvPr>
            <p:ph type="dt" sz="half" idx="10"/>
          </p:nvPr>
        </p:nvSpPr>
        <p:spPr/>
        <p:txBody>
          <a:bodyPr/>
          <a:lstStyle/>
          <a:p>
            <a:fld id="{250171FA-F237-45F3-B88B-0420C243EA0D}" type="datetime1">
              <a:rPr lang="en-GB" smtClean="0"/>
              <a:pPr/>
              <a:t>11/08/2013</a:t>
            </a:fld>
            <a:endParaRPr lang="en-GB"/>
          </a:p>
        </p:txBody>
      </p:sp>
      <p:sp>
        <p:nvSpPr>
          <p:cNvPr id="5" name="Footer Placeholder 4"/>
          <p:cNvSpPr>
            <a:spLocks noGrp="1"/>
          </p:cNvSpPr>
          <p:nvPr>
            <p:ph type="ftr" sz="quarter" idx="11"/>
          </p:nvPr>
        </p:nvSpPr>
        <p:spPr/>
        <p:txBody>
          <a:bodyPr/>
          <a:lstStyle/>
          <a:p>
            <a:r>
              <a:rPr lang="en-GB" smtClean="0"/>
              <a:t>George Boak 2013</a:t>
            </a:r>
            <a:endParaRPr lang="en-GB"/>
          </a:p>
        </p:txBody>
      </p:sp>
      <p:sp>
        <p:nvSpPr>
          <p:cNvPr id="6" name="Slide Number Placeholder 5"/>
          <p:cNvSpPr>
            <a:spLocks noGrp="1"/>
          </p:cNvSpPr>
          <p:nvPr>
            <p:ph type="sldNum" sz="quarter" idx="12"/>
          </p:nvPr>
        </p:nvSpPr>
        <p:spPr/>
        <p:txBody>
          <a:bodyPr/>
          <a:lstStyle/>
          <a:p>
            <a:fld id="{5454F0FC-3D31-4E1D-8C93-C9D7F90BB326}" type="slidenum">
              <a:rPr lang="en-GB" smtClean="0"/>
              <a:pPr/>
              <a:t>‹#›</a:t>
            </a:fld>
            <a:endParaRPr lang="en-GB"/>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GB"/>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365AB6C0-76B6-4AE3-A49C-BDBEE8477F6C}" type="datetime1">
              <a:rPr lang="en-GB" smtClean="0"/>
              <a:pPr/>
              <a:t>11/08/2013</a:t>
            </a:fld>
            <a:endParaRPr lang="en-GB"/>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GB" smtClean="0"/>
              <a:t>George Boak 2013</a:t>
            </a:r>
            <a:endParaRPr lang="en-GB"/>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5454F0FC-3D31-4E1D-8C93-C9D7F90BB326}" type="slidenum">
              <a:rPr lang="en-GB" smtClean="0"/>
              <a:pPr/>
              <a:t>‹#›</a:t>
            </a:fld>
            <a:endParaRPr lang="en-GB"/>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539552" y="908720"/>
            <a:ext cx="8424936" cy="461665"/>
          </a:xfrm>
          <a:prstGeom prst="rect">
            <a:avLst/>
          </a:prstGeom>
          <a:noFill/>
        </p:spPr>
        <p:txBody>
          <a:bodyPr wrap="square" rtlCol="0">
            <a:spAutoFit/>
          </a:bodyPr>
          <a:lstStyle/>
          <a:p>
            <a:r>
              <a:rPr lang="en-GB" sz="2400" b="1" smtClean="0">
                <a:latin typeface="Arial" pitchFamily="34" charset="0"/>
                <a:cs typeface="Arial" pitchFamily="34" charset="0"/>
              </a:rPr>
              <a:t>Grounded theory and grounded analysis</a:t>
            </a:r>
            <a:endParaRPr lang="en-GB" sz="2400" b="1">
              <a:latin typeface="Arial" pitchFamily="34" charset="0"/>
              <a:cs typeface="Arial" pitchFamily="34" charset="0"/>
            </a:endParaRPr>
          </a:p>
        </p:txBody>
      </p:sp>
      <p:sp>
        <p:nvSpPr>
          <p:cNvPr id="3" name="Footer Placeholder 2"/>
          <p:cNvSpPr>
            <a:spLocks noGrp="1"/>
          </p:cNvSpPr>
          <p:nvPr>
            <p:ph type="ftr" sz="quarter" idx="11"/>
          </p:nvPr>
        </p:nvSpPr>
        <p:spPr/>
        <p:txBody>
          <a:bodyPr/>
          <a:lstStyle/>
          <a:p>
            <a:r>
              <a:rPr lang="en-GB" smtClean="0"/>
              <a:t>George Boak 2013</a:t>
            </a:r>
            <a:endParaRPr lang="en-GB"/>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755576" y="692696"/>
            <a:ext cx="7920880" cy="3046988"/>
          </a:xfrm>
          <a:prstGeom prst="rect">
            <a:avLst/>
          </a:prstGeom>
          <a:noFill/>
        </p:spPr>
        <p:txBody>
          <a:bodyPr wrap="square" rtlCol="0">
            <a:spAutoFit/>
          </a:bodyPr>
          <a:lstStyle/>
          <a:p>
            <a:r>
              <a:rPr lang="en-GB" sz="2400" b="1" smtClean="0">
                <a:latin typeface="Arial" pitchFamily="34" charset="0"/>
                <a:cs typeface="Arial" pitchFamily="34" charset="0"/>
              </a:rPr>
              <a:t>Grounded theory</a:t>
            </a:r>
          </a:p>
          <a:p>
            <a:endParaRPr lang="en-GB" sz="2400">
              <a:latin typeface="Arial" pitchFamily="34" charset="0"/>
              <a:cs typeface="Arial" pitchFamily="34" charset="0"/>
            </a:endParaRPr>
          </a:p>
          <a:p>
            <a:r>
              <a:rPr lang="en-GB" sz="2400" smtClean="0">
                <a:latin typeface="Arial" pitchFamily="34" charset="0"/>
                <a:cs typeface="Arial" pitchFamily="34" charset="0"/>
              </a:rPr>
              <a:t>first </a:t>
            </a:r>
            <a:r>
              <a:rPr lang="en-GB" sz="2400">
                <a:latin typeface="Arial" pitchFamily="34" charset="0"/>
                <a:cs typeface="Arial" pitchFamily="34" charset="0"/>
              </a:rPr>
              <a:t>developed by Glaser and Strauss (1967</a:t>
            </a:r>
            <a:r>
              <a:rPr lang="en-GB" sz="2400" smtClean="0">
                <a:latin typeface="Arial" pitchFamily="34" charset="0"/>
                <a:cs typeface="Arial" pitchFamily="34" charset="0"/>
              </a:rPr>
              <a:t>)</a:t>
            </a:r>
          </a:p>
          <a:p>
            <a:endParaRPr lang="en-GB" sz="2400">
              <a:latin typeface="Arial" pitchFamily="34" charset="0"/>
              <a:cs typeface="Arial" pitchFamily="34" charset="0"/>
            </a:endParaRPr>
          </a:p>
          <a:p>
            <a:r>
              <a:rPr lang="en-GB" sz="2400" smtClean="0">
                <a:latin typeface="Arial" pitchFamily="34" charset="0"/>
                <a:cs typeface="Arial" pitchFamily="34" charset="0"/>
              </a:rPr>
              <a:t>an </a:t>
            </a:r>
            <a:r>
              <a:rPr lang="en-GB" sz="2400">
                <a:latin typeface="Arial" pitchFamily="34" charset="0"/>
                <a:cs typeface="Arial" pitchFamily="34" charset="0"/>
              </a:rPr>
              <a:t>approach to gathering and analysing qualitative data where theory is developed from the data you gather, rather than using some previously-developed theory as a </a:t>
            </a:r>
            <a:r>
              <a:rPr lang="en-GB" sz="2400" smtClean="0">
                <a:latin typeface="Arial" pitchFamily="34" charset="0"/>
                <a:cs typeface="Arial" pitchFamily="34" charset="0"/>
              </a:rPr>
              <a:t>framework </a:t>
            </a:r>
            <a:endParaRPr lang="en-GB" sz="2400">
              <a:latin typeface="Arial" pitchFamily="34" charset="0"/>
              <a:cs typeface="Arial" pitchFamily="34" charset="0"/>
            </a:endParaRPr>
          </a:p>
        </p:txBody>
      </p:sp>
      <p:sp>
        <p:nvSpPr>
          <p:cNvPr id="3" name="Footer Placeholder 2"/>
          <p:cNvSpPr>
            <a:spLocks noGrp="1"/>
          </p:cNvSpPr>
          <p:nvPr>
            <p:ph type="ftr" sz="quarter" idx="11"/>
          </p:nvPr>
        </p:nvSpPr>
        <p:spPr/>
        <p:txBody>
          <a:bodyPr/>
          <a:lstStyle/>
          <a:p>
            <a:r>
              <a:rPr lang="en-GB" smtClean="0"/>
              <a:t>George Boak 2013</a:t>
            </a:r>
            <a:endParaRPr lang="en-GB"/>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539552" y="548680"/>
            <a:ext cx="8208912" cy="4893647"/>
          </a:xfrm>
          <a:prstGeom prst="rect">
            <a:avLst/>
          </a:prstGeom>
          <a:noFill/>
        </p:spPr>
        <p:txBody>
          <a:bodyPr wrap="square" rtlCol="0">
            <a:spAutoFit/>
          </a:bodyPr>
          <a:lstStyle/>
          <a:p>
            <a:r>
              <a:rPr lang="en-GB" sz="2400" smtClean="0">
                <a:latin typeface="Arial"/>
                <a:ea typeface="Times New Roman"/>
              </a:rPr>
              <a:t>'It is important to note that "I'm doing grounded theory!" should not be used as a justification for doing some vaguely qualitative research without any clear view of where it is supposed to lead. Grounded theory contains precisely articulated methods....‘</a:t>
            </a:r>
          </a:p>
          <a:p>
            <a:endParaRPr lang="en-GB" sz="2400">
              <a:latin typeface="Arial"/>
            </a:endParaRPr>
          </a:p>
          <a:p>
            <a:r>
              <a:rPr lang="en-GB" sz="2400" smtClean="0">
                <a:latin typeface="Arial"/>
                <a:ea typeface="Times New Roman"/>
              </a:rPr>
              <a:t>Easterby-Smith et al (2012: 58)</a:t>
            </a:r>
          </a:p>
          <a:p>
            <a:endParaRPr lang="en-GB" sz="2400">
              <a:latin typeface="Arial"/>
            </a:endParaRPr>
          </a:p>
          <a:p>
            <a:r>
              <a:rPr lang="en-GB" sz="2400" smtClean="0">
                <a:latin typeface="Arial"/>
              </a:rPr>
              <a:t>However, grounded theory has developed since 1967, and there are variations in approach. </a:t>
            </a:r>
          </a:p>
          <a:p>
            <a:endParaRPr lang="en-GB" sz="2400">
              <a:latin typeface="Arial"/>
            </a:endParaRPr>
          </a:p>
          <a:p>
            <a:r>
              <a:rPr lang="en-GB" sz="2400" smtClean="0">
                <a:latin typeface="Arial"/>
              </a:rPr>
              <a:t>So you need to explain exactly which methods you have used.</a:t>
            </a:r>
            <a:endParaRPr lang="en-GB" sz="2400"/>
          </a:p>
        </p:txBody>
      </p:sp>
      <p:sp>
        <p:nvSpPr>
          <p:cNvPr id="3" name="Footer Placeholder 2"/>
          <p:cNvSpPr>
            <a:spLocks noGrp="1"/>
          </p:cNvSpPr>
          <p:nvPr>
            <p:ph type="ftr" sz="quarter" idx="11"/>
          </p:nvPr>
        </p:nvSpPr>
        <p:spPr/>
        <p:txBody>
          <a:bodyPr/>
          <a:lstStyle/>
          <a:p>
            <a:r>
              <a:rPr lang="en-GB" smtClean="0"/>
              <a:t>George Boak 2013</a:t>
            </a:r>
            <a:endParaRPr lang="en-GB"/>
          </a:p>
        </p:txBody>
      </p:sp>
    </p:spTree>
    <p:extLst>
      <p:ext uri="{BB962C8B-B14F-4D97-AF65-F5344CB8AC3E}">
        <p14:creationId xmlns="" xmlns:p14="http://schemas.microsoft.com/office/powerpoint/2010/main" val="238231995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467544" y="548680"/>
            <a:ext cx="8136904" cy="5816977"/>
          </a:xfrm>
          <a:prstGeom prst="rect">
            <a:avLst/>
          </a:prstGeom>
          <a:noFill/>
        </p:spPr>
        <p:txBody>
          <a:bodyPr wrap="square" rtlCol="0">
            <a:spAutoFit/>
          </a:bodyPr>
          <a:lstStyle/>
          <a:p>
            <a:pPr>
              <a:spcAft>
                <a:spcPts val="0"/>
              </a:spcAft>
            </a:pPr>
            <a:r>
              <a:rPr lang="en-US" sz="2400" smtClean="0">
                <a:latin typeface="Arial"/>
                <a:ea typeface="Times New Roman"/>
              </a:rPr>
              <a:t>Grounded theory approaches include:</a:t>
            </a:r>
            <a:endParaRPr lang="en-GB" sz="2400" smtClean="0">
              <a:latin typeface="Arial"/>
              <a:ea typeface="Times New Roman"/>
            </a:endParaRPr>
          </a:p>
          <a:p>
            <a:pPr>
              <a:spcAft>
                <a:spcPts val="0"/>
              </a:spcAft>
            </a:pPr>
            <a:r>
              <a:rPr lang="en-US" sz="2400" smtClean="0">
                <a:latin typeface="Arial"/>
                <a:ea typeface="Times New Roman"/>
              </a:rPr>
              <a:t> </a:t>
            </a:r>
            <a:endParaRPr lang="en-GB" sz="2400" smtClean="0">
              <a:latin typeface="Arial"/>
              <a:ea typeface="Times New Roman"/>
            </a:endParaRPr>
          </a:p>
          <a:p>
            <a:pPr marL="342900" lvl="0" indent="-342900">
              <a:spcAft>
                <a:spcPts val="0"/>
              </a:spcAft>
              <a:buClr>
                <a:srgbClr val="000000"/>
              </a:buClr>
              <a:buFont typeface="Symbol"/>
              <a:buChar char=""/>
            </a:pPr>
            <a:r>
              <a:rPr lang="en-US" sz="2400" smtClean="0">
                <a:latin typeface="Arial"/>
                <a:ea typeface="Times New Roman"/>
              </a:rPr>
              <a:t>a constant analysis and comparison of the information gathered during the research, while information is still being gathered. </a:t>
            </a:r>
            <a:endParaRPr lang="en-GB" sz="2400" smtClean="0">
              <a:latin typeface="Arial"/>
              <a:ea typeface="Times New Roman"/>
            </a:endParaRPr>
          </a:p>
          <a:p>
            <a:pPr marL="342900" lvl="0" indent="-342900">
              <a:spcAft>
                <a:spcPts val="0"/>
              </a:spcAft>
              <a:buClr>
                <a:srgbClr val="000000"/>
              </a:buClr>
              <a:buFont typeface="Symbol"/>
              <a:buChar char=""/>
            </a:pPr>
            <a:r>
              <a:rPr lang="en-US" sz="2400" smtClean="0">
                <a:latin typeface="Arial"/>
                <a:ea typeface="Times New Roman"/>
              </a:rPr>
              <a:t>the use of ‘theoretical sampling’ to seek out further information, as the research progresses, in order to investigate particular categories or cases. </a:t>
            </a:r>
            <a:endParaRPr lang="en-GB" sz="2400" smtClean="0">
              <a:latin typeface="Arial"/>
              <a:ea typeface="Times New Roman"/>
            </a:endParaRPr>
          </a:p>
          <a:p>
            <a:pPr marL="800100">
              <a:spcAft>
                <a:spcPts val="0"/>
              </a:spcAft>
            </a:pPr>
            <a:r>
              <a:rPr lang="en-US" sz="2400" smtClean="0">
                <a:latin typeface="Arial"/>
                <a:ea typeface="Times New Roman"/>
              </a:rPr>
              <a:t> </a:t>
            </a:r>
            <a:endParaRPr lang="en-GB" sz="2400" smtClean="0">
              <a:latin typeface="Arial"/>
              <a:ea typeface="Times New Roman"/>
            </a:endParaRPr>
          </a:p>
          <a:p>
            <a:pPr>
              <a:spcAft>
                <a:spcPts val="0"/>
              </a:spcAft>
            </a:pPr>
            <a:r>
              <a:rPr lang="en-US" sz="2400" smtClean="0">
                <a:latin typeface="Arial"/>
                <a:ea typeface="Times New Roman"/>
              </a:rPr>
              <a:t>Approaches that develop theory from the data gathered during research, but do not include these two characteristics are probably better described as ‘grounded analyses’ (Easterby-Smith et al 2012) than grounded theory methods. </a:t>
            </a:r>
          </a:p>
          <a:p>
            <a:pPr>
              <a:spcAft>
                <a:spcPts val="0"/>
              </a:spcAft>
            </a:pPr>
            <a:endParaRPr lang="en-US">
              <a:latin typeface="Arial"/>
              <a:ea typeface="Times New Roman"/>
            </a:endParaRPr>
          </a:p>
          <a:p>
            <a:endParaRPr lang="en-GB"/>
          </a:p>
        </p:txBody>
      </p:sp>
      <p:sp>
        <p:nvSpPr>
          <p:cNvPr id="3" name="Footer Placeholder 2"/>
          <p:cNvSpPr>
            <a:spLocks noGrp="1"/>
          </p:cNvSpPr>
          <p:nvPr>
            <p:ph type="ftr" sz="quarter" idx="11"/>
          </p:nvPr>
        </p:nvSpPr>
        <p:spPr/>
        <p:txBody>
          <a:bodyPr/>
          <a:lstStyle/>
          <a:p>
            <a:r>
              <a:rPr lang="en-GB" smtClean="0"/>
              <a:t>George Boak 2013</a:t>
            </a:r>
            <a:endParaRPr lang="en-GB"/>
          </a:p>
        </p:txBody>
      </p:sp>
    </p:spTree>
    <p:extLst>
      <p:ext uri="{BB962C8B-B14F-4D97-AF65-F5344CB8AC3E}">
        <p14:creationId xmlns="" xmlns:p14="http://schemas.microsoft.com/office/powerpoint/2010/main" val="403566054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971600" y="908720"/>
            <a:ext cx="7704856" cy="3323987"/>
          </a:xfrm>
          <a:prstGeom prst="rect">
            <a:avLst/>
          </a:prstGeom>
          <a:noFill/>
        </p:spPr>
        <p:txBody>
          <a:bodyPr wrap="square" rtlCol="0">
            <a:spAutoFit/>
          </a:bodyPr>
          <a:lstStyle/>
          <a:p>
            <a:pPr>
              <a:spcAft>
                <a:spcPts val="0"/>
              </a:spcAft>
            </a:pPr>
            <a:r>
              <a:rPr lang="en-US" sz="2400" b="1" smtClean="0">
                <a:latin typeface="Arial"/>
                <a:ea typeface="Times New Roman"/>
              </a:rPr>
              <a:t>Gathering data</a:t>
            </a:r>
            <a:endParaRPr lang="en-GB" sz="2400" smtClean="0">
              <a:latin typeface="Arial"/>
              <a:ea typeface="Times New Roman"/>
            </a:endParaRPr>
          </a:p>
          <a:p>
            <a:pPr>
              <a:spcAft>
                <a:spcPts val="0"/>
              </a:spcAft>
            </a:pPr>
            <a:r>
              <a:rPr lang="en-US" sz="2400" b="1" smtClean="0">
                <a:latin typeface="Arial"/>
                <a:ea typeface="Times New Roman"/>
              </a:rPr>
              <a:t> </a:t>
            </a:r>
            <a:endParaRPr lang="en-GB" sz="2400" smtClean="0">
              <a:latin typeface="Arial"/>
              <a:ea typeface="Times New Roman"/>
            </a:endParaRPr>
          </a:p>
          <a:p>
            <a:pPr>
              <a:spcAft>
                <a:spcPts val="0"/>
              </a:spcAft>
            </a:pPr>
            <a:r>
              <a:rPr lang="en-US" sz="2400" smtClean="0">
                <a:latin typeface="Arial"/>
                <a:ea typeface="Times New Roman"/>
              </a:rPr>
              <a:t>Grounded theory and grounded analysis are particularly suitable for qualitative research. </a:t>
            </a:r>
          </a:p>
          <a:p>
            <a:pPr>
              <a:spcAft>
                <a:spcPts val="0"/>
              </a:spcAft>
            </a:pPr>
            <a:endParaRPr lang="en-US" sz="2400">
              <a:latin typeface="Arial"/>
              <a:ea typeface="Times New Roman"/>
            </a:endParaRPr>
          </a:p>
          <a:p>
            <a:pPr>
              <a:spcAft>
                <a:spcPts val="0"/>
              </a:spcAft>
            </a:pPr>
            <a:r>
              <a:rPr lang="en-US" sz="2400" smtClean="0">
                <a:latin typeface="Arial"/>
                <a:ea typeface="Times New Roman"/>
              </a:rPr>
              <a:t>Data can be gathered through interviews, observation, accessing written records, gathering qualitative replies to questionnaires.</a:t>
            </a:r>
            <a:endParaRPr lang="en-GB" sz="2400" smtClean="0">
              <a:latin typeface="Arial"/>
              <a:ea typeface="Times New Roman"/>
            </a:endParaRPr>
          </a:p>
          <a:p>
            <a:endParaRPr lang="en-GB"/>
          </a:p>
        </p:txBody>
      </p:sp>
      <p:sp>
        <p:nvSpPr>
          <p:cNvPr id="3" name="Footer Placeholder 2"/>
          <p:cNvSpPr>
            <a:spLocks noGrp="1"/>
          </p:cNvSpPr>
          <p:nvPr>
            <p:ph type="ftr" sz="quarter" idx="11"/>
          </p:nvPr>
        </p:nvSpPr>
        <p:spPr/>
        <p:txBody>
          <a:bodyPr/>
          <a:lstStyle/>
          <a:p>
            <a:r>
              <a:rPr lang="en-GB" smtClean="0"/>
              <a:t>George Boak 2013</a:t>
            </a:r>
            <a:endParaRPr lang="en-GB"/>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755576" y="620688"/>
            <a:ext cx="7560840" cy="7109639"/>
          </a:xfrm>
          <a:prstGeom prst="rect">
            <a:avLst/>
          </a:prstGeom>
          <a:noFill/>
        </p:spPr>
        <p:txBody>
          <a:bodyPr wrap="square" rtlCol="0">
            <a:spAutoFit/>
          </a:bodyPr>
          <a:lstStyle/>
          <a:p>
            <a:pPr>
              <a:spcAft>
                <a:spcPts val="0"/>
              </a:spcAft>
            </a:pPr>
            <a:r>
              <a:rPr lang="en-US" sz="2400" b="1" smtClean="0">
                <a:latin typeface="Arial"/>
                <a:ea typeface="Times New Roman"/>
              </a:rPr>
              <a:t>Analysing data </a:t>
            </a:r>
            <a:endParaRPr lang="en-GB" sz="2400" smtClean="0">
              <a:latin typeface="Arial"/>
              <a:ea typeface="Times New Roman"/>
            </a:endParaRPr>
          </a:p>
          <a:p>
            <a:pPr>
              <a:spcAft>
                <a:spcPts val="0"/>
              </a:spcAft>
            </a:pPr>
            <a:r>
              <a:rPr lang="en-US" sz="2400" smtClean="0">
                <a:latin typeface="Arial"/>
                <a:ea typeface="Times New Roman"/>
              </a:rPr>
              <a:t> </a:t>
            </a:r>
            <a:endParaRPr lang="en-GB" sz="2400" smtClean="0">
              <a:latin typeface="Arial"/>
              <a:ea typeface="Times New Roman"/>
            </a:endParaRPr>
          </a:p>
          <a:p>
            <a:r>
              <a:rPr lang="en-US" sz="2400" smtClean="0">
                <a:latin typeface="Arial"/>
                <a:ea typeface="Times New Roman"/>
              </a:rPr>
              <a:t>The process of identifying or allocating themes to data is generally called ‘coding’ in grounded theory, and the ‘codes’ are then developed, elaborated or combined to create ‘categories’. </a:t>
            </a:r>
          </a:p>
          <a:p>
            <a:endParaRPr lang="en-US" sz="2400">
              <a:latin typeface="Arial"/>
              <a:ea typeface="Times New Roman"/>
            </a:endParaRPr>
          </a:p>
          <a:p>
            <a:r>
              <a:rPr lang="en-US" sz="2400" smtClean="0">
                <a:latin typeface="Arial"/>
                <a:ea typeface="Times New Roman"/>
              </a:rPr>
              <a:t>‘Coding means naming segments of data with a label that simultaneously categorizes, summarizes, and accounts for each piece of data.’</a:t>
            </a:r>
          </a:p>
          <a:p>
            <a:endParaRPr lang="en-US" sz="2400">
              <a:latin typeface="Arial"/>
            </a:endParaRPr>
          </a:p>
          <a:p>
            <a:r>
              <a:rPr lang="en-US" sz="2400" smtClean="0">
                <a:latin typeface="Arial"/>
                <a:ea typeface="Times New Roman"/>
              </a:rPr>
              <a:t>Charmaz (2006: 43)</a:t>
            </a:r>
          </a:p>
          <a:p>
            <a:endParaRPr lang="en-US" sz="2400">
              <a:latin typeface="Arial"/>
              <a:ea typeface="Times New Roman"/>
            </a:endParaRPr>
          </a:p>
          <a:p>
            <a:r>
              <a:rPr lang="en-US" sz="2400" smtClean="0">
                <a:latin typeface="Arial"/>
                <a:ea typeface="Times New Roman"/>
              </a:rPr>
              <a:t>‘Through coding you </a:t>
            </a:r>
            <a:r>
              <a:rPr lang="en-US" sz="2400" i="1" smtClean="0">
                <a:latin typeface="Arial"/>
                <a:ea typeface="Times New Roman"/>
              </a:rPr>
              <a:t>define</a:t>
            </a:r>
            <a:r>
              <a:rPr lang="en-US" sz="2400" smtClean="0">
                <a:latin typeface="Arial"/>
                <a:ea typeface="Times New Roman"/>
              </a:rPr>
              <a:t> what is happening in the data and begin to grapple with what it means.’ Charmaz (2006: 46)</a:t>
            </a:r>
          </a:p>
          <a:p>
            <a:endParaRPr lang="en-US" smtClean="0">
              <a:latin typeface="Arial"/>
              <a:ea typeface="Times New Roman"/>
            </a:endParaRPr>
          </a:p>
          <a:p>
            <a:endParaRPr lang="en-US" smtClean="0">
              <a:latin typeface="Arial"/>
              <a:ea typeface="Times New Roman"/>
            </a:endParaRPr>
          </a:p>
          <a:p>
            <a:endParaRPr lang="en-US">
              <a:latin typeface="Arial"/>
            </a:endParaRPr>
          </a:p>
          <a:p>
            <a:endParaRPr lang="en-GB"/>
          </a:p>
        </p:txBody>
      </p:sp>
      <p:sp>
        <p:nvSpPr>
          <p:cNvPr id="3" name="Footer Placeholder 2"/>
          <p:cNvSpPr>
            <a:spLocks noGrp="1"/>
          </p:cNvSpPr>
          <p:nvPr>
            <p:ph type="ftr" sz="quarter" idx="11"/>
          </p:nvPr>
        </p:nvSpPr>
        <p:spPr/>
        <p:txBody>
          <a:bodyPr/>
          <a:lstStyle/>
          <a:p>
            <a:r>
              <a:rPr lang="en-GB" smtClean="0"/>
              <a:t>George Boak 2013</a:t>
            </a:r>
            <a:endParaRPr lang="en-GB"/>
          </a:p>
        </p:txBody>
      </p:sp>
    </p:spTree>
    <p:extLst>
      <p:ext uri="{BB962C8B-B14F-4D97-AF65-F5344CB8AC3E}">
        <p14:creationId xmlns="" xmlns:p14="http://schemas.microsoft.com/office/powerpoint/2010/main" val="350434025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755576" y="620688"/>
            <a:ext cx="8136904" cy="5170646"/>
          </a:xfrm>
          <a:prstGeom prst="rect">
            <a:avLst/>
          </a:prstGeom>
          <a:noFill/>
        </p:spPr>
        <p:txBody>
          <a:bodyPr wrap="square" rtlCol="0">
            <a:spAutoFit/>
          </a:bodyPr>
          <a:lstStyle/>
          <a:p>
            <a:pPr lvl="0"/>
            <a:r>
              <a:rPr lang="en-US" sz="2400" b="1" smtClean="0">
                <a:latin typeface="Arial" pitchFamily="34" charset="0"/>
                <a:cs typeface="Arial" pitchFamily="34" charset="0"/>
              </a:rPr>
              <a:t>Open coding</a:t>
            </a:r>
          </a:p>
          <a:p>
            <a:pPr lvl="0"/>
            <a:endParaRPr lang="en-US" sz="2400">
              <a:latin typeface="Arial" pitchFamily="34" charset="0"/>
              <a:cs typeface="Arial" pitchFamily="34" charset="0"/>
            </a:endParaRPr>
          </a:p>
          <a:p>
            <a:pPr lvl="0"/>
            <a:r>
              <a:rPr lang="en-US" sz="2400" smtClean="0">
                <a:latin typeface="Arial" pitchFamily="34" charset="0"/>
                <a:cs typeface="Arial" pitchFamily="34" charset="0"/>
              </a:rPr>
              <a:t>naming </a:t>
            </a:r>
            <a:r>
              <a:rPr lang="en-US" sz="2400">
                <a:latin typeface="Arial" pitchFamily="34" charset="0"/>
                <a:cs typeface="Arial" pitchFamily="34" charset="0"/>
              </a:rPr>
              <a:t>each word, line or segment of </a:t>
            </a:r>
            <a:r>
              <a:rPr lang="en-US" sz="2400" smtClean="0">
                <a:latin typeface="Arial" pitchFamily="34" charset="0"/>
                <a:cs typeface="Arial" pitchFamily="34" charset="0"/>
              </a:rPr>
              <a:t>data</a:t>
            </a:r>
          </a:p>
          <a:p>
            <a:pPr lvl="0"/>
            <a:endParaRPr lang="en-US" sz="2400">
              <a:latin typeface="Arial" pitchFamily="34" charset="0"/>
              <a:cs typeface="Arial" pitchFamily="34" charset="0"/>
            </a:endParaRPr>
          </a:p>
          <a:p>
            <a:pPr lvl="0"/>
            <a:r>
              <a:rPr lang="en-US" sz="2400" b="1" smtClean="0">
                <a:latin typeface="Arial" pitchFamily="34" charset="0"/>
                <a:cs typeface="Arial" pitchFamily="34" charset="0"/>
              </a:rPr>
              <a:t>Selective coding</a:t>
            </a:r>
          </a:p>
          <a:p>
            <a:pPr lvl="0"/>
            <a:endParaRPr lang="en-US" sz="2400" smtClean="0">
              <a:latin typeface="Arial" pitchFamily="34" charset="0"/>
              <a:cs typeface="Arial" pitchFamily="34" charset="0"/>
            </a:endParaRPr>
          </a:p>
          <a:p>
            <a:pPr lvl="0"/>
            <a:r>
              <a:rPr lang="en-US" sz="2400" smtClean="0">
                <a:latin typeface="Arial" pitchFamily="34" charset="0"/>
                <a:cs typeface="Arial" pitchFamily="34" charset="0"/>
              </a:rPr>
              <a:t>using </a:t>
            </a:r>
            <a:r>
              <a:rPr lang="en-US" sz="2400">
                <a:latin typeface="Arial" pitchFamily="34" charset="0"/>
                <a:cs typeface="Arial" pitchFamily="34" charset="0"/>
              </a:rPr>
              <a:t>the most frequent or significant of the initial </a:t>
            </a:r>
            <a:r>
              <a:rPr lang="en-US" sz="2400" smtClean="0">
                <a:latin typeface="Arial" pitchFamily="34" charset="0"/>
                <a:cs typeface="Arial" pitchFamily="34" charset="0"/>
              </a:rPr>
              <a:t>open codes </a:t>
            </a:r>
            <a:r>
              <a:rPr lang="en-US" sz="2400">
                <a:latin typeface="Arial" pitchFamily="34" charset="0"/>
                <a:cs typeface="Arial" pitchFamily="34" charset="0"/>
              </a:rPr>
              <a:t>to sort, organise, integrate and synthesise your </a:t>
            </a:r>
            <a:r>
              <a:rPr lang="en-US" sz="2400" smtClean="0">
                <a:latin typeface="Arial" pitchFamily="34" charset="0"/>
                <a:cs typeface="Arial" pitchFamily="34" charset="0"/>
              </a:rPr>
              <a:t>data</a:t>
            </a:r>
          </a:p>
          <a:p>
            <a:pPr lvl="0"/>
            <a:endParaRPr lang="en-US" sz="2400">
              <a:latin typeface="Arial" pitchFamily="34" charset="0"/>
              <a:cs typeface="Arial" pitchFamily="34" charset="0"/>
            </a:endParaRPr>
          </a:p>
          <a:p>
            <a:pPr lvl="0"/>
            <a:r>
              <a:rPr lang="en-US" sz="2400" b="1" smtClean="0">
                <a:latin typeface="Arial" pitchFamily="34" charset="0"/>
                <a:cs typeface="Arial" pitchFamily="34" charset="0"/>
              </a:rPr>
              <a:t>Theoretical coding</a:t>
            </a:r>
          </a:p>
          <a:p>
            <a:pPr lvl="0"/>
            <a:endParaRPr lang="en-US" sz="2400">
              <a:latin typeface="Arial" pitchFamily="34" charset="0"/>
              <a:cs typeface="Arial" pitchFamily="34" charset="0"/>
            </a:endParaRPr>
          </a:p>
          <a:p>
            <a:pPr lvl="0"/>
            <a:r>
              <a:rPr lang="en-US" sz="2400">
                <a:latin typeface="Arial" pitchFamily="34" charset="0"/>
                <a:cs typeface="Arial" pitchFamily="34" charset="0"/>
              </a:rPr>
              <a:t>conceptualises possible relationships between the categories developed in the selective coding</a:t>
            </a:r>
            <a:endParaRPr lang="en-GB" sz="2400">
              <a:latin typeface="Arial" pitchFamily="34" charset="0"/>
              <a:cs typeface="Arial" pitchFamily="34" charset="0"/>
            </a:endParaRPr>
          </a:p>
          <a:p>
            <a:endParaRPr lang="en-GB"/>
          </a:p>
        </p:txBody>
      </p:sp>
      <p:sp>
        <p:nvSpPr>
          <p:cNvPr id="3" name="Footer Placeholder 2"/>
          <p:cNvSpPr>
            <a:spLocks noGrp="1"/>
          </p:cNvSpPr>
          <p:nvPr>
            <p:ph type="ftr" sz="quarter" idx="11"/>
          </p:nvPr>
        </p:nvSpPr>
        <p:spPr/>
        <p:txBody>
          <a:bodyPr/>
          <a:lstStyle/>
          <a:p>
            <a:r>
              <a:rPr lang="en-GB" smtClean="0"/>
              <a:t>George Boak 2013</a:t>
            </a:r>
            <a:endParaRPr lang="en-GB"/>
          </a:p>
        </p:txBody>
      </p:sp>
    </p:spTree>
    <p:extLst>
      <p:ext uri="{BB962C8B-B14F-4D97-AF65-F5344CB8AC3E}">
        <p14:creationId xmlns="" xmlns:p14="http://schemas.microsoft.com/office/powerpoint/2010/main" val="173935771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611560" y="476672"/>
            <a:ext cx="7704856" cy="5170646"/>
          </a:xfrm>
          <a:prstGeom prst="rect">
            <a:avLst/>
          </a:prstGeom>
          <a:noFill/>
        </p:spPr>
        <p:txBody>
          <a:bodyPr wrap="square" rtlCol="0">
            <a:spAutoFit/>
          </a:bodyPr>
          <a:lstStyle/>
          <a:p>
            <a:pPr>
              <a:spcAft>
                <a:spcPts val="0"/>
              </a:spcAft>
            </a:pPr>
            <a:r>
              <a:rPr lang="en-US" sz="2400" smtClean="0">
                <a:latin typeface="Arial"/>
                <a:ea typeface="Times New Roman"/>
              </a:rPr>
              <a:t>For open coding: </a:t>
            </a:r>
            <a:endParaRPr lang="en-GB" sz="2400" smtClean="0">
              <a:latin typeface="Arial"/>
              <a:ea typeface="Times New Roman"/>
            </a:endParaRPr>
          </a:p>
          <a:p>
            <a:pPr>
              <a:spcAft>
                <a:spcPts val="0"/>
              </a:spcAft>
            </a:pPr>
            <a:r>
              <a:rPr lang="en-US" sz="2400" smtClean="0">
                <a:latin typeface="Arial"/>
                <a:ea typeface="Times New Roman"/>
              </a:rPr>
              <a:t> </a:t>
            </a:r>
            <a:endParaRPr lang="en-GB" sz="2400" smtClean="0">
              <a:latin typeface="Arial"/>
              <a:ea typeface="Times New Roman"/>
            </a:endParaRPr>
          </a:p>
          <a:p>
            <a:pPr marL="342900" lvl="0" indent="-342900">
              <a:spcAft>
                <a:spcPts val="0"/>
              </a:spcAft>
              <a:buFont typeface="Symbol"/>
              <a:buChar char=""/>
            </a:pPr>
            <a:r>
              <a:rPr lang="en-US" sz="2400" smtClean="0">
                <a:latin typeface="Arial"/>
                <a:ea typeface="Times New Roman"/>
              </a:rPr>
              <a:t>remain open to ideas and possibilities</a:t>
            </a:r>
            <a:endParaRPr lang="en-GB" sz="2400" smtClean="0">
              <a:latin typeface="Arial"/>
              <a:ea typeface="Times New Roman"/>
            </a:endParaRPr>
          </a:p>
          <a:p>
            <a:pPr marL="342900" lvl="0" indent="-342900">
              <a:spcAft>
                <a:spcPts val="0"/>
              </a:spcAft>
              <a:buFont typeface="Symbol"/>
              <a:buChar char=""/>
            </a:pPr>
            <a:r>
              <a:rPr lang="en-US" sz="2400" smtClean="0">
                <a:latin typeface="Arial"/>
                <a:ea typeface="Times New Roman"/>
              </a:rPr>
              <a:t>stay close to the data</a:t>
            </a:r>
            <a:endParaRPr lang="en-GB" sz="2400" smtClean="0">
              <a:latin typeface="Arial"/>
              <a:ea typeface="Times New Roman"/>
            </a:endParaRPr>
          </a:p>
          <a:p>
            <a:pPr marL="342900" lvl="0" indent="-342900">
              <a:spcAft>
                <a:spcPts val="0"/>
              </a:spcAft>
              <a:buFont typeface="Symbol"/>
              <a:buChar char=""/>
            </a:pPr>
            <a:r>
              <a:rPr lang="en-US" sz="2400" smtClean="0">
                <a:latin typeface="Arial"/>
                <a:ea typeface="Times New Roman"/>
              </a:rPr>
              <a:t>keep  your codes simple and precise</a:t>
            </a:r>
            <a:endParaRPr lang="en-GB" sz="2400" smtClean="0">
              <a:latin typeface="Arial"/>
              <a:ea typeface="Times New Roman"/>
            </a:endParaRPr>
          </a:p>
          <a:p>
            <a:pPr marL="342900" lvl="0" indent="-342900">
              <a:spcAft>
                <a:spcPts val="0"/>
              </a:spcAft>
              <a:buFont typeface="Symbol"/>
              <a:buChar char=""/>
            </a:pPr>
            <a:r>
              <a:rPr lang="en-US" sz="2400" smtClean="0">
                <a:latin typeface="Arial"/>
                <a:ea typeface="Times New Roman"/>
              </a:rPr>
              <a:t>construct short codes</a:t>
            </a:r>
            <a:endParaRPr lang="en-GB" sz="2400" smtClean="0">
              <a:latin typeface="Arial"/>
              <a:ea typeface="Times New Roman"/>
            </a:endParaRPr>
          </a:p>
          <a:p>
            <a:pPr marL="342900" lvl="0" indent="-342900">
              <a:spcAft>
                <a:spcPts val="0"/>
              </a:spcAft>
              <a:buFont typeface="Symbol"/>
              <a:buChar char=""/>
            </a:pPr>
            <a:endParaRPr lang="en-US" sz="2400" smtClean="0">
              <a:latin typeface="Arial"/>
              <a:ea typeface="Times New Roman"/>
            </a:endParaRPr>
          </a:p>
          <a:p>
            <a:pPr marL="342900" lvl="0" indent="-342900">
              <a:spcAft>
                <a:spcPts val="0"/>
              </a:spcAft>
              <a:buFont typeface="Symbol"/>
              <a:buChar char=""/>
            </a:pPr>
            <a:endParaRPr lang="en-US" sz="2400">
              <a:latin typeface="Arial"/>
              <a:ea typeface="Times New Roman"/>
            </a:endParaRPr>
          </a:p>
          <a:p>
            <a:pPr marL="342900" lvl="0" indent="-342900">
              <a:spcAft>
                <a:spcPts val="0"/>
              </a:spcAft>
              <a:buFont typeface="Symbol"/>
              <a:buChar char=""/>
            </a:pPr>
            <a:endParaRPr lang="en-US" sz="2400" smtClean="0">
              <a:latin typeface="Arial"/>
              <a:ea typeface="Times New Roman"/>
            </a:endParaRPr>
          </a:p>
          <a:p>
            <a:pPr marL="342900" lvl="0" indent="-342900">
              <a:spcAft>
                <a:spcPts val="0"/>
              </a:spcAft>
              <a:buFont typeface="Symbol"/>
              <a:buChar char=""/>
            </a:pPr>
            <a:endParaRPr lang="en-US" sz="2400">
              <a:latin typeface="Arial"/>
              <a:ea typeface="Times New Roman"/>
            </a:endParaRPr>
          </a:p>
          <a:p>
            <a:pPr marL="342900" lvl="0" indent="-342900">
              <a:spcAft>
                <a:spcPts val="0"/>
              </a:spcAft>
              <a:buFont typeface="Symbol"/>
              <a:buChar char=""/>
            </a:pPr>
            <a:endParaRPr lang="en-US" sz="2400" smtClean="0">
              <a:latin typeface="Arial"/>
              <a:ea typeface="Times New Roman"/>
            </a:endParaRPr>
          </a:p>
          <a:p>
            <a:pPr marL="342900" lvl="0" indent="-342900">
              <a:spcAft>
                <a:spcPts val="0"/>
              </a:spcAft>
              <a:buFont typeface="Symbol"/>
              <a:buChar char=""/>
            </a:pPr>
            <a:endParaRPr lang="en-US" sz="2400">
              <a:latin typeface="Arial"/>
              <a:ea typeface="Times New Roman"/>
            </a:endParaRPr>
          </a:p>
          <a:p>
            <a:pPr marL="342900" lvl="0" indent="-342900">
              <a:spcAft>
                <a:spcPts val="0"/>
              </a:spcAft>
            </a:pPr>
            <a:r>
              <a:rPr lang="en-US" sz="2400" smtClean="0">
                <a:latin typeface="Arial"/>
                <a:ea typeface="Times New Roman"/>
              </a:rPr>
              <a:t>Charmaz (2006: 49)</a:t>
            </a:r>
            <a:endParaRPr lang="en-GB" sz="2400" smtClean="0">
              <a:latin typeface="Arial"/>
              <a:ea typeface="Times New Roman"/>
            </a:endParaRPr>
          </a:p>
          <a:p>
            <a:endParaRPr lang="en-GB"/>
          </a:p>
        </p:txBody>
      </p:sp>
      <p:sp>
        <p:nvSpPr>
          <p:cNvPr id="3" name="Footer Placeholder 2"/>
          <p:cNvSpPr>
            <a:spLocks noGrp="1"/>
          </p:cNvSpPr>
          <p:nvPr>
            <p:ph type="ftr" sz="quarter" idx="11"/>
          </p:nvPr>
        </p:nvSpPr>
        <p:spPr/>
        <p:txBody>
          <a:bodyPr/>
          <a:lstStyle/>
          <a:p>
            <a:r>
              <a:rPr lang="en-GB" smtClean="0"/>
              <a:t>George Boak 2013</a:t>
            </a:r>
            <a:endParaRPr lang="en-GB"/>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611560" y="476672"/>
            <a:ext cx="7704856" cy="5170646"/>
          </a:xfrm>
          <a:prstGeom prst="rect">
            <a:avLst/>
          </a:prstGeom>
          <a:noFill/>
        </p:spPr>
        <p:txBody>
          <a:bodyPr wrap="square" rtlCol="0">
            <a:spAutoFit/>
          </a:bodyPr>
          <a:lstStyle/>
          <a:p>
            <a:pPr>
              <a:spcAft>
                <a:spcPts val="0"/>
              </a:spcAft>
            </a:pPr>
            <a:r>
              <a:rPr lang="en-US" sz="2400" smtClean="0">
                <a:latin typeface="Arial"/>
                <a:ea typeface="Times New Roman"/>
              </a:rPr>
              <a:t>For open coding: </a:t>
            </a:r>
            <a:endParaRPr lang="en-GB" sz="2400" smtClean="0">
              <a:latin typeface="Arial"/>
              <a:ea typeface="Times New Roman"/>
            </a:endParaRPr>
          </a:p>
          <a:p>
            <a:pPr>
              <a:spcAft>
                <a:spcPts val="0"/>
              </a:spcAft>
            </a:pPr>
            <a:r>
              <a:rPr lang="en-US" sz="2400" smtClean="0">
                <a:latin typeface="Arial"/>
                <a:ea typeface="Times New Roman"/>
              </a:rPr>
              <a:t> </a:t>
            </a:r>
            <a:endParaRPr lang="en-GB" sz="2400" smtClean="0">
              <a:latin typeface="Arial"/>
              <a:ea typeface="Times New Roman"/>
            </a:endParaRPr>
          </a:p>
          <a:p>
            <a:pPr marL="342900" lvl="0" indent="-342900">
              <a:spcAft>
                <a:spcPts val="0"/>
              </a:spcAft>
              <a:buFont typeface="Symbol"/>
              <a:buChar char=""/>
            </a:pPr>
            <a:r>
              <a:rPr lang="en-US" sz="2400" smtClean="0">
                <a:latin typeface="Arial"/>
                <a:ea typeface="Times New Roman"/>
              </a:rPr>
              <a:t>remain open to ideas and possibilities</a:t>
            </a:r>
            <a:endParaRPr lang="en-GB" sz="2400" smtClean="0">
              <a:latin typeface="Arial"/>
              <a:ea typeface="Times New Roman"/>
            </a:endParaRPr>
          </a:p>
          <a:p>
            <a:pPr marL="342900" lvl="0" indent="-342900">
              <a:spcAft>
                <a:spcPts val="0"/>
              </a:spcAft>
              <a:buFont typeface="Symbol"/>
              <a:buChar char=""/>
            </a:pPr>
            <a:r>
              <a:rPr lang="en-US" sz="2400" smtClean="0">
                <a:latin typeface="Arial"/>
                <a:ea typeface="Times New Roman"/>
              </a:rPr>
              <a:t>stay close to the data</a:t>
            </a:r>
            <a:endParaRPr lang="en-GB" sz="2400" smtClean="0">
              <a:latin typeface="Arial"/>
              <a:ea typeface="Times New Roman"/>
            </a:endParaRPr>
          </a:p>
          <a:p>
            <a:pPr marL="342900" lvl="0" indent="-342900">
              <a:spcAft>
                <a:spcPts val="0"/>
              </a:spcAft>
              <a:buFont typeface="Symbol"/>
              <a:buChar char=""/>
            </a:pPr>
            <a:r>
              <a:rPr lang="en-US" sz="2400" smtClean="0">
                <a:latin typeface="Arial"/>
                <a:ea typeface="Times New Roman"/>
              </a:rPr>
              <a:t>keep  your codes simple and precise</a:t>
            </a:r>
            <a:endParaRPr lang="en-GB" sz="2400" smtClean="0">
              <a:latin typeface="Arial"/>
              <a:ea typeface="Times New Roman"/>
            </a:endParaRPr>
          </a:p>
          <a:p>
            <a:pPr marL="342900" lvl="0" indent="-342900">
              <a:spcAft>
                <a:spcPts val="0"/>
              </a:spcAft>
              <a:buFont typeface="Symbol"/>
              <a:buChar char=""/>
            </a:pPr>
            <a:r>
              <a:rPr lang="en-US" sz="2400" smtClean="0">
                <a:latin typeface="Arial"/>
                <a:ea typeface="Times New Roman"/>
              </a:rPr>
              <a:t>construct short codes</a:t>
            </a:r>
            <a:endParaRPr lang="en-GB" sz="2400" smtClean="0">
              <a:latin typeface="Arial"/>
              <a:ea typeface="Times New Roman"/>
            </a:endParaRPr>
          </a:p>
          <a:p>
            <a:pPr marL="342900" lvl="0" indent="-342900">
              <a:spcAft>
                <a:spcPts val="0"/>
              </a:spcAft>
              <a:buFont typeface="Symbol"/>
              <a:buChar char=""/>
            </a:pPr>
            <a:r>
              <a:rPr lang="en-US" sz="2400" smtClean="0">
                <a:latin typeface="Arial"/>
                <a:ea typeface="Times New Roman"/>
              </a:rPr>
              <a:t>focus on actions – what is happening?</a:t>
            </a:r>
            <a:endParaRPr lang="en-GB" sz="2400" smtClean="0">
              <a:latin typeface="Arial"/>
              <a:ea typeface="Times New Roman"/>
            </a:endParaRPr>
          </a:p>
          <a:p>
            <a:pPr marL="342900" lvl="0" indent="-342900">
              <a:spcAft>
                <a:spcPts val="0"/>
              </a:spcAft>
              <a:buFont typeface="Symbol"/>
              <a:buChar char=""/>
            </a:pPr>
            <a:r>
              <a:rPr lang="en-US" sz="2400" smtClean="0">
                <a:latin typeface="Arial"/>
                <a:ea typeface="Times New Roman"/>
              </a:rPr>
              <a:t>compare data with data - within interviews and across interviewees</a:t>
            </a:r>
            <a:endParaRPr lang="en-GB" sz="2400" smtClean="0">
              <a:latin typeface="Arial"/>
              <a:ea typeface="Times New Roman"/>
            </a:endParaRPr>
          </a:p>
          <a:p>
            <a:pPr marL="342900" lvl="0" indent="-342900">
              <a:spcAft>
                <a:spcPts val="0"/>
              </a:spcAft>
              <a:buFont typeface="Symbol"/>
              <a:buChar char=""/>
            </a:pPr>
            <a:r>
              <a:rPr lang="en-US" sz="2400" smtClean="0">
                <a:latin typeface="Arial"/>
                <a:ea typeface="Times New Roman"/>
              </a:rPr>
              <a:t>move quickly through the data – working quickly can inspire fresh views of the data</a:t>
            </a:r>
          </a:p>
          <a:p>
            <a:pPr marL="342900" lvl="0" indent="-342900">
              <a:spcAft>
                <a:spcPts val="0"/>
              </a:spcAft>
              <a:buFont typeface="Symbol"/>
              <a:buChar char=""/>
            </a:pPr>
            <a:endParaRPr lang="en-US" sz="2400">
              <a:latin typeface="Arial"/>
              <a:ea typeface="Times New Roman"/>
            </a:endParaRPr>
          </a:p>
          <a:p>
            <a:pPr marL="342900" lvl="0" indent="-342900">
              <a:spcAft>
                <a:spcPts val="0"/>
              </a:spcAft>
            </a:pPr>
            <a:r>
              <a:rPr lang="en-US" sz="2400" smtClean="0">
                <a:latin typeface="Arial"/>
                <a:ea typeface="Times New Roman"/>
              </a:rPr>
              <a:t>Charmaz (2006: 49)</a:t>
            </a:r>
            <a:endParaRPr lang="en-GB" sz="2400" smtClean="0">
              <a:latin typeface="Arial"/>
              <a:ea typeface="Times New Roman"/>
            </a:endParaRPr>
          </a:p>
          <a:p>
            <a:endParaRPr lang="en-GB"/>
          </a:p>
        </p:txBody>
      </p:sp>
      <p:sp>
        <p:nvSpPr>
          <p:cNvPr id="3" name="Footer Placeholder 2"/>
          <p:cNvSpPr>
            <a:spLocks noGrp="1"/>
          </p:cNvSpPr>
          <p:nvPr>
            <p:ph type="ftr" sz="quarter" idx="11"/>
          </p:nvPr>
        </p:nvSpPr>
        <p:spPr/>
        <p:txBody>
          <a:bodyPr/>
          <a:lstStyle/>
          <a:p>
            <a:r>
              <a:rPr lang="en-GB" smtClean="0"/>
              <a:t>George Boak 2013</a:t>
            </a:r>
            <a:endParaRPr lang="en-GB"/>
          </a:p>
        </p:txBody>
      </p:sp>
    </p:spTree>
    <p:extLst>
      <p:ext uri="{BB962C8B-B14F-4D97-AF65-F5344CB8AC3E}">
        <p14:creationId xmlns="" xmlns:p14="http://schemas.microsoft.com/office/powerpoint/2010/main" val="369143115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755576" y="548680"/>
            <a:ext cx="8064896" cy="3231654"/>
          </a:xfrm>
          <a:prstGeom prst="rect">
            <a:avLst/>
          </a:prstGeom>
          <a:noFill/>
        </p:spPr>
        <p:txBody>
          <a:bodyPr wrap="square" rtlCol="0">
            <a:spAutoFit/>
          </a:bodyPr>
          <a:lstStyle/>
          <a:p>
            <a:pPr>
              <a:spcAft>
                <a:spcPts val="0"/>
              </a:spcAft>
            </a:pPr>
            <a:r>
              <a:rPr lang="en-US" smtClean="0">
                <a:latin typeface="Arial"/>
                <a:ea typeface="Times New Roman"/>
              </a:rPr>
              <a:t> </a:t>
            </a:r>
            <a:endParaRPr lang="en-GB" smtClean="0">
              <a:latin typeface="Arial"/>
              <a:ea typeface="Times New Roman"/>
            </a:endParaRPr>
          </a:p>
          <a:p>
            <a:pPr marL="342900" lvl="0" indent="-342900">
              <a:spcAft>
                <a:spcPts val="0"/>
              </a:spcAft>
            </a:pPr>
            <a:r>
              <a:rPr lang="en-US" sz="2400" smtClean="0">
                <a:latin typeface="Arial"/>
                <a:ea typeface="Times New Roman"/>
              </a:rPr>
              <a:t>Avoid</a:t>
            </a:r>
          </a:p>
          <a:p>
            <a:pPr marL="342900" lvl="0" indent="-342900">
              <a:spcAft>
                <a:spcPts val="0"/>
              </a:spcAft>
              <a:buFont typeface="Symbol"/>
              <a:buChar char=""/>
            </a:pPr>
            <a:endParaRPr lang="en-US" sz="2400">
              <a:latin typeface="Arial"/>
              <a:ea typeface="Times New Roman"/>
            </a:endParaRPr>
          </a:p>
          <a:p>
            <a:pPr marL="342900" lvl="0" indent="-342900">
              <a:spcAft>
                <a:spcPts val="0"/>
              </a:spcAft>
              <a:buFont typeface="Symbol"/>
              <a:buChar char=""/>
            </a:pPr>
            <a:r>
              <a:rPr lang="en-US" sz="2400" smtClean="0">
                <a:latin typeface="Arial"/>
                <a:ea typeface="Times New Roman"/>
              </a:rPr>
              <a:t>applying your own pre-conceived ideas to the data</a:t>
            </a:r>
            <a:endParaRPr lang="en-GB" sz="2400" smtClean="0">
              <a:latin typeface="Arial"/>
              <a:ea typeface="Times New Roman"/>
            </a:endParaRPr>
          </a:p>
          <a:p>
            <a:pPr marL="342900" lvl="0" indent="-342900">
              <a:spcAft>
                <a:spcPts val="0"/>
              </a:spcAft>
              <a:buFont typeface="Symbol"/>
              <a:buChar char=""/>
            </a:pPr>
            <a:r>
              <a:rPr lang="en-US" sz="2400" smtClean="0">
                <a:latin typeface="Arial"/>
                <a:ea typeface="Times New Roman"/>
              </a:rPr>
              <a:t>coding at too general a level, rather than being specific and making sure there are clear connections between the codes and the data</a:t>
            </a:r>
            <a:endParaRPr lang="en-GB" sz="2400" smtClean="0">
              <a:latin typeface="Arial"/>
              <a:ea typeface="Times New Roman"/>
            </a:endParaRPr>
          </a:p>
          <a:p>
            <a:pPr marL="342900" lvl="0" indent="-342900">
              <a:spcAft>
                <a:spcPts val="0"/>
              </a:spcAft>
              <a:buFont typeface="Symbol"/>
              <a:buChar char=""/>
            </a:pPr>
            <a:r>
              <a:rPr lang="en-US" sz="2400" smtClean="0">
                <a:latin typeface="Arial"/>
                <a:ea typeface="Times New Roman"/>
              </a:rPr>
              <a:t>coding topics rather than actions or processes</a:t>
            </a:r>
            <a:endParaRPr lang="en-GB" sz="2400" smtClean="0">
              <a:latin typeface="Arial"/>
              <a:ea typeface="Times New Roman"/>
            </a:endParaRPr>
          </a:p>
          <a:p>
            <a:endParaRPr lang="en-GB"/>
          </a:p>
        </p:txBody>
      </p:sp>
      <p:sp>
        <p:nvSpPr>
          <p:cNvPr id="3" name="Footer Placeholder 2"/>
          <p:cNvSpPr>
            <a:spLocks noGrp="1"/>
          </p:cNvSpPr>
          <p:nvPr>
            <p:ph type="ftr" sz="quarter" idx="11"/>
          </p:nvPr>
        </p:nvSpPr>
        <p:spPr/>
        <p:txBody>
          <a:bodyPr/>
          <a:lstStyle/>
          <a:p>
            <a:r>
              <a:rPr lang="en-GB" smtClean="0"/>
              <a:t>George Boak 2013</a:t>
            </a:r>
            <a:endParaRPr lang="en-GB"/>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539552" y="404664"/>
            <a:ext cx="7848872" cy="6370975"/>
          </a:xfrm>
          <a:prstGeom prst="rect">
            <a:avLst/>
          </a:prstGeom>
          <a:noFill/>
        </p:spPr>
        <p:txBody>
          <a:bodyPr wrap="square" rtlCol="0">
            <a:spAutoFit/>
          </a:bodyPr>
          <a:lstStyle/>
          <a:p>
            <a:pPr>
              <a:spcAft>
                <a:spcPts val="0"/>
              </a:spcAft>
            </a:pPr>
            <a:r>
              <a:rPr lang="en-US" sz="2400" b="1" smtClean="0">
                <a:latin typeface="Arial" pitchFamily="34" charset="0"/>
                <a:ea typeface="Times New Roman"/>
                <a:cs typeface="Arial" pitchFamily="34" charset="0"/>
              </a:rPr>
              <a:t>Constant comparison</a:t>
            </a:r>
            <a:endParaRPr lang="en-GB" sz="2400" smtClean="0">
              <a:latin typeface="Arial" pitchFamily="34" charset="0"/>
              <a:ea typeface="Times New Roman"/>
              <a:cs typeface="Arial" pitchFamily="34" charset="0"/>
            </a:endParaRPr>
          </a:p>
          <a:p>
            <a:pPr>
              <a:spcAft>
                <a:spcPts val="0"/>
              </a:spcAft>
            </a:pPr>
            <a:r>
              <a:rPr lang="en-US" sz="2400" smtClean="0">
                <a:latin typeface="Arial" pitchFamily="34" charset="0"/>
                <a:ea typeface="Times New Roman"/>
                <a:cs typeface="Arial" pitchFamily="34" charset="0"/>
              </a:rPr>
              <a:t> - a core characteristic of the grounded theory approach. </a:t>
            </a:r>
          </a:p>
          <a:p>
            <a:pPr>
              <a:spcAft>
                <a:spcPts val="0"/>
              </a:spcAft>
            </a:pPr>
            <a:endParaRPr lang="en-US" sz="2400">
              <a:latin typeface="Arial" pitchFamily="34" charset="0"/>
              <a:ea typeface="Times New Roman"/>
              <a:cs typeface="Arial" pitchFamily="34" charset="0"/>
            </a:endParaRPr>
          </a:p>
          <a:p>
            <a:pPr>
              <a:spcAft>
                <a:spcPts val="0"/>
              </a:spcAft>
            </a:pPr>
            <a:r>
              <a:rPr lang="en-US" sz="2400" smtClean="0">
                <a:latin typeface="Arial" pitchFamily="34" charset="0"/>
                <a:ea typeface="Times New Roman"/>
                <a:cs typeface="Arial" pitchFamily="34" charset="0"/>
              </a:rPr>
              <a:t>The researcher compares and contrasts new codes and categories as they emerge - for example, by comparing each coded activity with others that have been assigned a similar (or the same) code, and by contrasting it with activities that have been coded differently. </a:t>
            </a:r>
          </a:p>
          <a:p>
            <a:pPr>
              <a:spcAft>
                <a:spcPts val="0"/>
              </a:spcAft>
            </a:pPr>
            <a:endParaRPr lang="en-US" sz="2400">
              <a:latin typeface="Arial" pitchFamily="34" charset="0"/>
              <a:ea typeface="Times New Roman"/>
              <a:cs typeface="Arial" pitchFamily="34" charset="0"/>
            </a:endParaRPr>
          </a:p>
          <a:p>
            <a:pPr>
              <a:spcAft>
                <a:spcPts val="0"/>
              </a:spcAft>
            </a:pPr>
            <a:r>
              <a:rPr lang="en-US" sz="2400" smtClean="0">
                <a:latin typeface="Arial" pitchFamily="34" charset="0"/>
                <a:ea typeface="Times New Roman"/>
                <a:cs typeface="Arial" pitchFamily="34" charset="0"/>
              </a:rPr>
              <a:t>This enables you to refine the codes and categories by:</a:t>
            </a:r>
            <a:endParaRPr lang="en-GB" sz="2400" smtClean="0">
              <a:latin typeface="Arial" pitchFamily="34" charset="0"/>
              <a:ea typeface="Times New Roman"/>
              <a:cs typeface="Arial" pitchFamily="34" charset="0"/>
            </a:endParaRPr>
          </a:p>
          <a:p>
            <a:pPr>
              <a:spcAft>
                <a:spcPts val="0"/>
              </a:spcAft>
            </a:pPr>
            <a:r>
              <a:rPr lang="en-US" sz="2400" smtClean="0">
                <a:latin typeface="Arial" pitchFamily="34" charset="0"/>
                <a:ea typeface="Times New Roman"/>
                <a:cs typeface="Arial" pitchFamily="34" charset="0"/>
              </a:rPr>
              <a:t> </a:t>
            </a:r>
            <a:endParaRPr lang="en-GB" sz="2400" smtClean="0">
              <a:latin typeface="Arial" pitchFamily="34" charset="0"/>
              <a:ea typeface="Times New Roman"/>
              <a:cs typeface="Arial" pitchFamily="34" charset="0"/>
            </a:endParaRPr>
          </a:p>
          <a:p>
            <a:pPr marL="342900" lvl="0" indent="-342900">
              <a:spcAft>
                <a:spcPts val="0"/>
              </a:spcAft>
              <a:buFont typeface="Symbol"/>
              <a:buChar char=""/>
            </a:pPr>
            <a:r>
              <a:rPr lang="en-US" sz="2400" smtClean="0">
                <a:latin typeface="Arial" pitchFamily="34" charset="0"/>
                <a:ea typeface="Times New Roman"/>
                <a:cs typeface="Arial" pitchFamily="34" charset="0"/>
              </a:rPr>
              <a:t>highlighting the similarities and differences that exist</a:t>
            </a:r>
          </a:p>
          <a:p>
            <a:pPr marL="342900" lvl="0" indent="-342900">
              <a:spcAft>
                <a:spcPts val="0"/>
              </a:spcAft>
              <a:buFont typeface="Symbol"/>
              <a:buChar char=""/>
            </a:pPr>
            <a:r>
              <a:rPr lang="en-US" sz="2400" smtClean="0">
                <a:latin typeface="Arial" pitchFamily="34" charset="0"/>
                <a:ea typeface="Times New Roman"/>
                <a:cs typeface="Arial" pitchFamily="34" charset="0"/>
              </a:rPr>
              <a:t>enabling integration of some codes and categories</a:t>
            </a:r>
          </a:p>
          <a:p>
            <a:pPr marL="342900" lvl="0" indent="-342900">
              <a:spcAft>
                <a:spcPts val="0"/>
              </a:spcAft>
              <a:buFont typeface="Symbol"/>
              <a:buChar char=""/>
            </a:pPr>
            <a:r>
              <a:rPr lang="en-US" sz="2400">
                <a:latin typeface="Arial" pitchFamily="34" charset="0"/>
                <a:ea typeface="Times New Roman"/>
                <a:cs typeface="Arial" pitchFamily="34" charset="0"/>
              </a:rPr>
              <a:t>h</a:t>
            </a:r>
            <a:r>
              <a:rPr lang="en-US" sz="2400" smtClean="0">
                <a:latin typeface="Arial" pitchFamily="34" charset="0"/>
                <a:ea typeface="Times New Roman"/>
                <a:cs typeface="Arial" pitchFamily="34" charset="0"/>
              </a:rPr>
              <a:t>elping you to verify, challenge and improve your developing theories </a:t>
            </a:r>
            <a:endParaRPr lang="en-GB" sz="2400" smtClean="0">
              <a:latin typeface="Arial" pitchFamily="34" charset="0"/>
              <a:ea typeface="Times New Roman"/>
              <a:cs typeface="Arial" pitchFamily="34" charset="0"/>
            </a:endParaRPr>
          </a:p>
          <a:p>
            <a:pPr marL="342900" lvl="0" indent="-342900">
              <a:spcAft>
                <a:spcPts val="0"/>
              </a:spcAft>
            </a:pPr>
            <a:endParaRPr lang="en-GB" sz="2400" smtClean="0">
              <a:latin typeface="Arial" pitchFamily="34" charset="0"/>
              <a:cs typeface="Arial" pitchFamily="34" charset="0"/>
            </a:endParaRPr>
          </a:p>
          <a:p>
            <a:pPr marL="342900" lvl="0" indent="-342900">
              <a:spcAft>
                <a:spcPts val="0"/>
              </a:spcAft>
            </a:pPr>
            <a:r>
              <a:rPr lang="en-GB" sz="2400" smtClean="0">
                <a:latin typeface="Arial" pitchFamily="34" charset="0"/>
                <a:cs typeface="Arial" pitchFamily="34" charset="0"/>
              </a:rPr>
              <a:t>Denscombe (2007: 99)</a:t>
            </a:r>
            <a:endParaRPr lang="en-GB" sz="2400">
              <a:latin typeface="Arial" pitchFamily="34" charset="0"/>
              <a:cs typeface="Arial" pitchFamily="34" charset="0"/>
            </a:endParaRPr>
          </a:p>
        </p:txBody>
      </p:sp>
      <p:sp>
        <p:nvSpPr>
          <p:cNvPr id="3" name="Footer Placeholder 2"/>
          <p:cNvSpPr>
            <a:spLocks noGrp="1"/>
          </p:cNvSpPr>
          <p:nvPr>
            <p:ph type="ftr" sz="quarter" idx="11"/>
          </p:nvPr>
        </p:nvSpPr>
        <p:spPr/>
        <p:txBody>
          <a:bodyPr/>
          <a:lstStyle/>
          <a:p>
            <a:r>
              <a:rPr lang="en-GB" smtClean="0"/>
              <a:t>George Boak 2013</a:t>
            </a:r>
            <a:endParaRPr lang="en-GB"/>
          </a:p>
        </p:txBody>
      </p:sp>
    </p:spTree>
    <p:extLst>
      <p:ext uri="{BB962C8B-B14F-4D97-AF65-F5344CB8AC3E}">
        <p14:creationId xmlns="" xmlns:p14="http://schemas.microsoft.com/office/powerpoint/2010/main" val="302682259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683568" y="620688"/>
            <a:ext cx="7632848" cy="3785652"/>
          </a:xfrm>
          <a:prstGeom prst="rect">
            <a:avLst/>
          </a:prstGeom>
          <a:noFill/>
        </p:spPr>
        <p:txBody>
          <a:bodyPr wrap="square" rtlCol="0">
            <a:spAutoFit/>
          </a:bodyPr>
          <a:lstStyle/>
          <a:p>
            <a:pPr>
              <a:spcAft>
                <a:spcPts val="0"/>
              </a:spcAft>
            </a:pPr>
            <a:r>
              <a:rPr lang="en-US" sz="2400" b="1" smtClean="0">
                <a:latin typeface="Arial"/>
                <a:ea typeface="Times New Roman"/>
              </a:rPr>
              <a:t>Theoretical sampling</a:t>
            </a:r>
            <a:endParaRPr lang="en-GB" sz="2400" smtClean="0">
              <a:latin typeface="Arial"/>
              <a:ea typeface="Times New Roman"/>
            </a:endParaRPr>
          </a:p>
          <a:p>
            <a:pPr>
              <a:spcAft>
                <a:spcPts val="0"/>
              </a:spcAft>
            </a:pPr>
            <a:r>
              <a:rPr lang="en-US" sz="2400" smtClean="0">
                <a:latin typeface="Arial"/>
                <a:ea typeface="Times New Roman"/>
              </a:rPr>
              <a:t> </a:t>
            </a:r>
            <a:endParaRPr lang="en-GB" sz="2400" smtClean="0">
              <a:latin typeface="Arial"/>
              <a:ea typeface="Times New Roman"/>
            </a:endParaRPr>
          </a:p>
          <a:p>
            <a:pPr>
              <a:spcAft>
                <a:spcPts val="0"/>
              </a:spcAft>
            </a:pPr>
            <a:r>
              <a:rPr lang="en-US" sz="2400" smtClean="0">
                <a:latin typeface="Arial"/>
                <a:ea typeface="Times New Roman"/>
              </a:rPr>
              <a:t>Theoretical sampling means seeking relevant data in order to develop your emerging theory. </a:t>
            </a:r>
          </a:p>
          <a:p>
            <a:pPr>
              <a:spcAft>
                <a:spcPts val="0"/>
              </a:spcAft>
            </a:pPr>
            <a:endParaRPr lang="en-US" sz="2400">
              <a:latin typeface="Arial"/>
              <a:ea typeface="Times New Roman"/>
            </a:endParaRPr>
          </a:p>
          <a:p>
            <a:pPr>
              <a:spcAft>
                <a:spcPts val="0"/>
              </a:spcAft>
            </a:pPr>
            <a:r>
              <a:rPr lang="en-US" sz="2400" smtClean="0">
                <a:latin typeface="Arial"/>
                <a:ea typeface="Times New Roman"/>
              </a:rPr>
              <a:t>If you are using grounded theory, you continue to seek new data to develop your categories until you reach a point of ‘saturation’, where new data does not add anything to your theories.</a:t>
            </a:r>
            <a:endParaRPr lang="en-GB" sz="2400" smtClean="0">
              <a:latin typeface="Arial"/>
              <a:ea typeface="Times New Roman"/>
            </a:endParaRPr>
          </a:p>
          <a:p>
            <a:endParaRPr lang="en-GB" sz="2400"/>
          </a:p>
        </p:txBody>
      </p:sp>
      <p:sp>
        <p:nvSpPr>
          <p:cNvPr id="3" name="Footer Placeholder 2"/>
          <p:cNvSpPr>
            <a:spLocks noGrp="1"/>
          </p:cNvSpPr>
          <p:nvPr>
            <p:ph type="ftr" sz="quarter" idx="11"/>
          </p:nvPr>
        </p:nvSpPr>
        <p:spPr/>
        <p:txBody>
          <a:bodyPr/>
          <a:lstStyle/>
          <a:p>
            <a:r>
              <a:rPr lang="en-GB" smtClean="0"/>
              <a:t>George Boak 2013</a:t>
            </a:r>
            <a:endParaRPr lang="en-GB"/>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611560" y="476672"/>
            <a:ext cx="7704856" cy="4062651"/>
          </a:xfrm>
          <a:prstGeom prst="rect">
            <a:avLst/>
          </a:prstGeom>
          <a:noFill/>
        </p:spPr>
        <p:txBody>
          <a:bodyPr wrap="square" rtlCol="0">
            <a:spAutoFit/>
          </a:bodyPr>
          <a:lstStyle/>
          <a:p>
            <a:pPr>
              <a:spcAft>
                <a:spcPts val="0"/>
              </a:spcAft>
            </a:pPr>
            <a:r>
              <a:rPr lang="en-US" sz="2400" smtClean="0">
                <a:latin typeface="Arial"/>
                <a:ea typeface="Times New Roman"/>
              </a:rPr>
              <a:t>The purpose of grounded theory approaches is to develop theories.</a:t>
            </a:r>
          </a:p>
          <a:p>
            <a:pPr>
              <a:spcAft>
                <a:spcPts val="0"/>
              </a:spcAft>
            </a:pPr>
            <a:endParaRPr lang="en-US" sz="2400">
              <a:latin typeface="Arial"/>
              <a:ea typeface="Times New Roman"/>
            </a:endParaRPr>
          </a:p>
          <a:p>
            <a:pPr>
              <a:spcAft>
                <a:spcPts val="0"/>
              </a:spcAft>
            </a:pPr>
            <a:r>
              <a:rPr lang="en-US" sz="2400" smtClean="0">
                <a:latin typeface="Arial"/>
                <a:ea typeface="Times New Roman"/>
              </a:rPr>
              <a:t>Grounded theory has a practical orientation, so the theories that are developed using this approach should have practical application, and be relevant to practitioners </a:t>
            </a:r>
          </a:p>
          <a:p>
            <a:pPr>
              <a:spcAft>
                <a:spcPts val="0"/>
              </a:spcAft>
            </a:pPr>
            <a:endParaRPr lang="en-US" sz="2400">
              <a:latin typeface="Arial"/>
              <a:ea typeface="Times New Roman"/>
            </a:endParaRPr>
          </a:p>
          <a:p>
            <a:pPr>
              <a:spcAft>
                <a:spcPts val="0"/>
              </a:spcAft>
            </a:pPr>
            <a:r>
              <a:rPr lang="en-US" sz="2400" smtClean="0">
                <a:latin typeface="Arial"/>
                <a:ea typeface="Times New Roman"/>
              </a:rPr>
              <a:t>(Denscombe, 2007: 99).</a:t>
            </a:r>
            <a:endParaRPr lang="en-GB" sz="2400" smtClean="0">
              <a:latin typeface="Arial"/>
              <a:ea typeface="Times New Roman"/>
            </a:endParaRPr>
          </a:p>
          <a:p>
            <a:pPr>
              <a:spcAft>
                <a:spcPts val="0"/>
              </a:spcAft>
            </a:pPr>
            <a:r>
              <a:rPr lang="en-US" sz="2400" smtClean="0">
                <a:latin typeface="Arial"/>
                <a:ea typeface="Times New Roman"/>
              </a:rPr>
              <a:t> </a:t>
            </a:r>
            <a:endParaRPr lang="en-GB" sz="2400" smtClean="0">
              <a:latin typeface="Arial"/>
              <a:ea typeface="Times New Roman"/>
            </a:endParaRPr>
          </a:p>
          <a:p>
            <a:endParaRPr lang="en-GB"/>
          </a:p>
        </p:txBody>
      </p:sp>
      <p:sp>
        <p:nvSpPr>
          <p:cNvPr id="3" name="Footer Placeholder 2"/>
          <p:cNvSpPr>
            <a:spLocks noGrp="1"/>
          </p:cNvSpPr>
          <p:nvPr>
            <p:ph type="ftr" sz="quarter" idx="11"/>
          </p:nvPr>
        </p:nvSpPr>
        <p:spPr/>
        <p:txBody>
          <a:bodyPr/>
          <a:lstStyle/>
          <a:p>
            <a:r>
              <a:rPr lang="en-GB" smtClean="0"/>
              <a:t>George Boak 2013</a:t>
            </a:r>
            <a:endParaRPr lang="en-GB"/>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611560" y="476672"/>
            <a:ext cx="8208912" cy="4431983"/>
          </a:xfrm>
          <a:prstGeom prst="rect">
            <a:avLst/>
          </a:prstGeom>
          <a:noFill/>
        </p:spPr>
        <p:txBody>
          <a:bodyPr wrap="square" rtlCol="0">
            <a:spAutoFit/>
          </a:bodyPr>
          <a:lstStyle/>
          <a:p>
            <a:pPr lvl="0"/>
            <a:r>
              <a:rPr lang="en-US" sz="2400" smtClean="0">
                <a:solidFill>
                  <a:prstClr val="black"/>
                </a:solidFill>
                <a:latin typeface="Arial"/>
                <a:ea typeface="Times New Roman"/>
              </a:rPr>
              <a:t>Grounded theory and grounded analysis both need to connect at some point with previously published theory. </a:t>
            </a:r>
          </a:p>
          <a:p>
            <a:pPr lvl="0"/>
            <a:endParaRPr lang="en-US" sz="2400" smtClean="0">
              <a:solidFill>
                <a:prstClr val="black"/>
              </a:solidFill>
              <a:latin typeface="Arial"/>
              <a:ea typeface="Times New Roman"/>
            </a:endParaRPr>
          </a:p>
          <a:p>
            <a:pPr lvl="0"/>
            <a:r>
              <a:rPr lang="en-US" sz="2400" smtClean="0">
                <a:solidFill>
                  <a:prstClr val="black"/>
                </a:solidFill>
                <a:latin typeface="Arial"/>
                <a:ea typeface="Times New Roman"/>
              </a:rPr>
              <a:t>While we are not using that pre-existing theory to analyse our data, we cannot ignore it altogether. </a:t>
            </a:r>
          </a:p>
          <a:p>
            <a:pPr lvl="0"/>
            <a:endParaRPr lang="en-US" sz="2400" smtClean="0">
              <a:solidFill>
                <a:prstClr val="black"/>
              </a:solidFill>
              <a:latin typeface="Arial"/>
              <a:ea typeface="Times New Roman"/>
            </a:endParaRPr>
          </a:p>
          <a:p>
            <a:pPr lvl="0"/>
            <a:r>
              <a:rPr lang="en-US" sz="2400" smtClean="0">
                <a:solidFill>
                  <a:prstClr val="black"/>
                </a:solidFill>
                <a:latin typeface="Arial"/>
                <a:ea typeface="Times New Roman"/>
              </a:rPr>
              <a:t>When we write up our research, at the very least, we need to show where our findings connect with existing theory. </a:t>
            </a:r>
          </a:p>
          <a:p>
            <a:pPr lvl="0"/>
            <a:endParaRPr lang="en-US" sz="2400" smtClean="0">
              <a:solidFill>
                <a:prstClr val="black"/>
              </a:solidFill>
              <a:latin typeface="Arial"/>
              <a:ea typeface="Times New Roman"/>
            </a:endParaRPr>
          </a:p>
          <a:p>
            <a:pPr lvl="0"/>
            <a:r>
              <a:rPr lang="en-US" sz="2400" smtClean="0">
                <a:solidFill>
                  <a:prstClr val="black"/>
                </a:solidFill>
                <a:latin typeface="Arial"/>
                <a:ea typeface="Times New Roman"/>
              </a:rPr>
              <a:t>The quality of our research will be judged by, among other things, the ways in which we explain these connections.</a:t>
            </a:r>
            <a:endParaRPr lang="en-GB" sz="2400" smtClean="0">
              <a:solidFill>
                <a:prstClr val="black"/>
              </a:solidFill>
              <a:latin typeface="Arial"/>
              <a:ea typeface="Times New Roman"/>
            </a:endParaRPr>
          </a:p>
          <a:p>
            <a:endParaRPr lang="en-GB"/>
          </a:p>
        </p:txBody>
      </p:sp>
      <p:sp>
        <p:nvSpPr>
          <p:cNvPr id="3" name="Footer Placeholder 2"/>
          <p:cNvSpPr>
            <a:spLocks noGrp="1"/>
          </p:cNvSpPr>
          <p:nvPr>
            <p:ph type="ftr" sz="quarter" idx="11"/>
          </p:nvPr>
        </p:nvSpPr>
        <p:spPr/>
        <p:txBody>
          <a:bodyPr/>
          <a:lstStyle/>
          <a:p>
            <a:r>
              <a:rPr lang="en-GB" smtClean="0"/>
              <a:t>George Boak 2013</a:t>
            </a:r>
            <a:endParaRPr lang="en-GB"/>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683568" y="548680"/>
            <a:ext cx="7848872" cy="6370975"/>
          </a:xfrm>
          <a:prstGeom prst="rect">
            <a:avLst/>
          </a:prstGeom>
          <a:noFill/>
        </p:spPr>
        <p:txBody>
          <a:bodyPr wrap="square" rtlCol="0">
            <a:spAutoFit/>
          </a:bodyPr>
          <a:lstStyle/>
          <a:p>
            <a:r>
              <a:rPr lang="en-GB" sz="2400" b="1" smtClean="0">
                <a:latin typeface="Arial" pitchFamily="34" charset="0"/>
                <a:cs typeface="Arial" pitchFamily="34" charset="0"/>
              </a:rPr>
              <a:t>Advantages</a:t>
            </a:r>
          </a:p>
          <a:p>
            <a:endParaRPr lang="en-GB" sz="2400" smtClean="0">
              <a:latin typeface="Arial" pitchFamily="34" charset="0"/>
              <a:cs typeface="Arial" pitchFamily="34" charset="0"/>
            </a:endParaRPr>
          </a:p>
          <a:p>
            <a:pPr marL="457200" indent="-457200">
              <a:buFont typeface="+mj-lt"/>
              <a:buAutoNum type="arabicPeriod"/>
            </a:pPr>
            <a:r>
              <a:rPr lang="en-US" sz="2400" smtClean="0">
                <a:latin typeface="Arial" pitchFamily="34" charset="0"/>
                <a:cs typeface="Arial" pitchFamily="34" charset="0"/>
              </a:rPr>
              <a:t>A recognised family of approaches to qualitative research</a:t>
            </a:r>
            <a:endParaRPr lang="en-GB" sz="2400" smtClean="0">
              <a:latin typeface="Arial" pitchFamily="34" charset="0"/>
              <a:cs typeface="Arial" pitchFamily="34" charset="0"/>
            </a:endParaRPr>
          </a:p>
          <a:p>
            <a:pPr marL="457200" indent="-457200">
              <a:buFont typeface="+mj-lt"/>
              <a:buAutoNum type="arabicPeriod"/>
            </a:pPr>
            <a:r>
              <a:rPr lang="en-US" sz="2400" smtClean="0">
                <a:latin typeface="Arial" pitchFamily="34" charset="0"/>
                <a:cs typeface="Arial" pitchFamily="34" charset="0"/>
              </a:rPr>
              <a:t>Flexible and can be used with a range of different types of qualitative data</a:t>
            </a:r>
            <a:endParaRPr lang="en-GB" sz="2400" smtClean="0">
              <a:latin typeface="Arial" pitchFamily="34" charset="0"/>
              <a:cs typeface="Arial" pitchFamily="34" charset="0"/>
            </a:endParaRPr>
          </a:p>
          <a:p>
            <a:pPr marL="457200" indent="-457200">
              <a:buFont typeface="+mj-lt"/>
              <a:buAutoNum type="arabicPeriod"/>
            </a:pPr>
            <a:r>
              <a:rPr lang="en-US" sz="2400" smtClean="0">
                <a:latin typeface="Arial" pitchFamily="34" charset="0"/>
                <a:cs typeface="Arial" pitchFamily="34" charset="0"/>
              </a:rPr>
              <a:t>There is a focus on practice and what is practical</a:t>
            </a:r>
            <a:endParaRPr lang="en-GB" sz="2400" smtClean="0">
              <a:latin typeface="Arial" pitchFamily="34" charset="0"/>
              <a:cs typeface="Arial" pitchFamily="34" charset="0"/>
            </a:endParaRPr>
          </a:p>
          <a:p>
            <a:pPr marL="457200" indent="-457200">
              <a:buFont typeface="+mj-lt"/>
              <a:buAutoNum type="arabicPeriod"/>
            </a:pPr>
            <a:r>
              <a:rPr lang="en-US" sz="2400" smtClean="0">
                <a:latin typeface="Arial" pitchFamily="34" charset="0"/>
                <a:cs typeface="Arial" pitchFamily="34" charset="0"/>
              </a:rPr>
              <a:t>The systematic approach to analysing data and developing theory can be helpful to new researchers</a:t>
            </a:r>
            <a:endParaRPr lang="en-GB" sz="2400" smtClean="0">
              <a:latin typeface="Arial" pitchFamily="34" charset="0"/>
              <a:cs typeface="Arial" pitchFamily="34" charset="0"/>
            </a:endParaRPr>
          </a:p>
          <a:p>
            <a:pPr marL="457200" indent="-457200">
              <a:buFont typeface="+mj-lt"/>
              <a:buAutoNum type="arabicPeriod"/>
            </a:pPr>
            <a:r>
              <a:rPr lang="en-US" sz="2400" smtClean="0">
                <a:latin typeface="Arial" pitchFamily="34" charset="0"/>
                <a:cs typeface="Arial" pitchFamily="34" charset="0"/>
              </a:rPr>
              <a:t>Explanations are grounded in empirical data - so have a foundation of evidence</a:t>
            </a:r>
            <a:endParaRPr lang="en-GB" sz="2400" smtClean="0">
              <a:latin typeface="Arial" pitchFamily="34" charset="0"/>
              <a:cs typeface="Arial" pitchFamily="34" charset="0"/>
            </a:endParaRPr>
          </a:p>
          <a:p>
            <a:pPr marL="457200" indent="-457200">
              <a:buFont typeface="+mj-lt"/>
              <a:buAutoNum type="arabicPeriod"/>
            </a:pPr>
            <a:r>
              <a:rPr lang="en-US" sz="2400" smtClean="0">
                <a:latin typeface="Arial" pitchFamily="34" charset="0"/>
                <a:cs typeface="Arial" pitchFamily="34" charset="0"/>
              </a:rPr>
              <a:t>Well suited to the exploration of new topics </a:t>
            </a:r>
          </a:p>
          <a:p>
            <a:r>
              <a:rPr lang="en-US" sz="2400" smtClean="0">
                <a:latin typeface="Arial" pitchFamily="34" charset="0"/>
                <a:cs typeface="Arial" pitchFamily="34" charset="0"/>
              </a:rPr>
              <a:t> </a:t>
            </a:r>
            <a:endParaRPr lang="en-GB" sz="2400" smtClean="0">
              <a:latin typeface="Arial" pitchFamily="34" charset="0"/>
              <a:cs typeface="Arial" pitchFamily="34" charset="0"/>
            </a:endParaRPr>
          </a:p>
          <a:p>
            <a:r>
              <a:rPr lang="en-US" sz="2400" smtClean="0">
                <a:latin typeface="Arial" pitchFamily="34" charset="0"/>
                <a:cs typeface="Arial" pitchFamily="34" charset="0"/>
              </a:rPr>
              <a:t>Glaser (2009: 2) 'Make no mistake about it, the best GT [grounded theory] is done in the hands of beginners'</a:t>
            </a:r>
            <a:endParaRPr lang="en-GB" sz="2400" smtClean="0">
              <a:latin typeface="Arial" pitchFamily="34" charset="0"/>
              <a:cs typeface="Arial" pitchFamily="34" charset="0"/>
            </a:endParaRPr>
          </a:p>
          <a:p>
            <a:r>
              <a:rPr lang="en-US" sz="2400" smtClean="0"/>
              <a:t> </a:t>
            </a:r>
            <a:endParaRPr lang="en-GB" sz="2400" smtClean="0"/>
          </a:p>
          <a:p>
            <a:endParaRPr lang="en-GB" sz="2400">
              <a:latin typeface="Arial" pitchFamily="34" charset="0"/>
              <a:cs typeface="Arial" pitchFamily="34" charset="0"/>
            </a:endParaRPr>
          </a:p>
        </p:txBody>
      </p:sp>
      <p:sp>
        <p:nvSpPr>
          <p:cNvPr id="3" name="Footer Placeholder 2"/>
          <p:cNvSpPr>
            <a:spLocks noGrp="1"/>
          </p:cNvSpPr>
          <p:nvPr>
            <p:ph type="ftr" sz="quarter" idx="11"/>
          </p:nvPr>
        </p:nvSpPr>
        <p:spPr/>
        <p:txBody>
          <a:bodyPr/>
          <a:lstStyle/>
          <a:p>
            <a:r>
              <a:rPr lang="en-GB" smtClean="0"/>
              <a:t>George Boak 2013</a:t>
            </a:r>
            <a:endParaRPr lang="en-GB"/>
          </a:p>
        </p:txBody>
      </p:sp>
    </p:spTree>
    <p:extLst>
      <p:ext uri="{BB962C8B-B14F-4D97-AF65-F5344CB8AC3E}">
        <p14:creationId xmlns="" xmlns:p14="http://schemas.microsoft.com/office/powerpoint/2010/main" val="22322782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611560" y="476672"/>
            <a:ext cx="7560840" cy="4893647"/>
          </a:xfrm>
          <a:prstGeom prst="rect">
            <a:avLst/>
          </a:prstGeom>
          <a:noFill/>
        </p:spPr>
        <p:txBody>
          <a:bodyPr wrap="square" rtlCol="0">
            <a:spAutoFit/>
          </a:bodyPr>
          <a:lstStyle/>
          <a:p>
            <a:r>
              <a:rPr lang="en-GB" sz="2400" b="1" smtClean="0">
                <a:latin typeface="Arial" pitchFamily="34" charset="0"/>
                <a:cs typeface="Arial" pitchFamily="34" charset="0"/>
              </a:rPr>
              <a:t>Limitations/difficulties</a:t>
            </a:r>
          </a:p>
          <a:p>
            <a:endParaRPr lang="en-GB" sz="2400" smtClean="0">
              <a:latin typeface="Arial" pitchFamily="34" charset="0"/>
              <a:cs typeface="Arial" pitchFamily="34" charset="0"/>
            </a:endParaRPr>
          </a:p>
          <a:p>
            <a:pPr marL="457200" indent="-457200">
              <a:spcAft>
                <a:spcPts val="0"/>
              </a:spcAft>
              <a:buFont typeface="+mj-lt"/>
              <a:buAutoNum type="arabicPeriod"/>
            </a:pPr>
            <a:r>
              <a:rPr lang="en-US" sz="2400" smtClean="0">
                <a:latin typeface="Arial"/>
                <a:ea typeface="Times New Roman"/>
              </a:rPr>
              <a:t>Does not lend itself to precise planning</a:t>
            </a:r>
            <a:endParaRPr lang="en-GB" sz="2400" smtClean="0">
              <a:latin typeface="Arial"/>
              <a:ea typeface="Times New Roman"/>
            </a:endParaRPr>
          </a:p>
          <a:p>
            <a:pPr marL="457200" indent="-457200">
              <a:spcAft>
                <a:spcPts val="0"/>
              </a:spcAft>
              <a:buFont typeface="+mj-lt"/>
              <a:buAutoNum type="arabicPeriod"/>
            </a:pPr>
            <a:r>
              <a:rPr lang="en-US" sz="2400" smtClean="0">
                <a:latin typeface="Arial"/>
                <a:ea typeface="Times New Roman"/>
              </a:rPr>
              <a:t>'By focusing on specific instances of behaviour in particular settings, there is a tendency to divorce the explanation of the situation being studied from broader contextual factors.‘ (Denscombe, 2007) These broader factors might ignore the influence of social, economic and political factors and the historical background to events.</a:t>
            </a:r>
            <a:endParaRPr lang="en-GB" sz="2400" smtClean="0">
              <a:latin typeface="Arial"/>
              <a:ea typeface="Times New Roman"/>
            </a:endParaRPr>
          </a:p>
          <a:p>
            <a:pPr marL="457200" indent="-457200">
              <a:buFont typeface="+mj-lt"/>
              <a:buAutoNum type="arabicPeriod"/>
            </a:pPr>
            <a:r>
              <a:rPr lang="en-US" sz="2400" smtClean="0">
                <a:latin typeface="Arial"/>
                <a:ea typeface="Times New Roman"/>
              </a:rPr>
              <a:t>May be difficult to approach the research with a genuinely open mind, not influenced by preconceptions. </a:t>
            </a:r>
            <a:endParaRPr lang="en-GB" sz="2400">
              <a:latin typeface="Arial" pitchFamily="34" charset="0"/>
              <a:cs typeface="Arial" pitchFamily="34" charset="0"/>
            </a:endParaRPr>
          </a:p>
        </p:txBody>
      </p:sp>
      <p:sp>
        <p:nvSpPr>
          <p:cNvPr id="3" name="Footer Placeholder 2"/>
          <p:cNvSpPr>
            <a:spLocks noGrp="1"/>
          </p:cNvSpPr>
          <p:nvPr>
            <p:ph type="ftr" sz="quarter" idx="11"/>
          </p:nvPr>
        </p:nvSpPr>
        <p:spPr/>
        <p:txBody>
          <a:bodyPr/>
          <a:lstStyle/>
          <a:p>
            <a:r>
              <a:rPr lang="en-GB" smtClean="0"/>
              <a:t>George Boak 2013</a:t>
            </a:r>
            <a:endParaRPr lang="en-GB"/>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80</TotalTime>
  <Words>516</Words>
  <Application>Microsoft Office PowerPoint</Application>
  <PresentationFormat>On-screen Show (4:3)</PresentationFormat>
  <Paragraphs>138</Paragraphs>
  <Slides>16</Slides>
  <Notes>0</Notes>
  <HiddenSlides>0</HiddenSlides>
  <MMClips>0</MMClips>
  <ScaleCrop>false</ScaleCrop>
  <HeadingPairs>
    <vt:vector size="4" baseType="variant">
      <vt:variant>
        <vt:lpstr>Theme</vt:lpstr>
      </vt:variant>
      <vt:variant>
        <vt:i4>1</vt:i4>
      </vt:variant>
      <vt:variant>
        <vt:lpstr>Slide Titles</vt:lpstr>
      </vt:variant>
      <vt:variant>
        <vt:i4>16</vt:i4>
      </vt:variant>
    </vt:vector>
  </HeadingPairs>
  <TitlesOfParts>
    <vt:vector size="17" baseType="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vector>
  </TitlesOfParts>
  <Company>Hewlett-Packard Company</Company>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George</dc:creator>
  <cp:lastModifiedBy>George</cp:lastModifiedBy>
  <cp:revision>13</cp:revision>
  <cp:lastPrinted>2013-08-05T07:49:32Z</cp:lastPrinted>
  <dcterms:created xsi:type="dcterms:W3CDTF">2013-07-24T16:35:13Z</dcterms:created>
  <dcterms:modified xsi:type="dcterms:W3CDTF">2013-08-11T17:26:58Z</dcterms:modified>
</cp:coreProperties>
</file>