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8" r:id="rId3"/>
    <p:sldId id="261" r:id="rId4"/>
    <p:sldId id="262" r:id="rId5"/>
    <p:sldId id="264" r:id="rId6"/>
    <p:sldId id="266" r:id="rId7"/>
    <p:sldId id="267" r:id="rId8"/>
    <p:sldId id="269" r:id="rId9"/>
    <p:sldId id="270" r:id="rId10"/>
    <p:sldId id="273" r:id="rId11"/>
    <p:sldId id="259" r:id="rId12"/>
    <p:sldId id="274" r:id="rId13"/>
    <p:sldId id="276" r:id="rId14"/>
    <p:sldId id="277" r:id="rId15"/>
    <p:sldId id="278" r:id="rId16"/>
    <p:sldId id="279" r:id="rId17"/>
    <p:sldId id="280" r:id="rId18"/>
    <p:sldId id="260" r:id="rId19"/>
    <p:sldId id="288" r:id="rId20"/>
    <p:sldId id="289" r:id="rId21"/>
    <p:sldId id="283" r:id="rId22"/>
    <p:sldId id="295" r:id="rId23"/>
    <p:sldId id="28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CD901-B4D0-41D5-BC64-031630B423C1}" type="datetimeFigureOut">
              <a:rPr lang="en-GB" smtClean="0"/>
              <a:pPr/>
              <a:t>12/08/2013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DAD32-4654-4FD7-BA11-F242AB8EE4A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9462059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E7F54-885B-4A50-BD7C-E00B8F2BCA49}" type="datetimeFigureOut">
              <a:rPr lang="en-GB" smtClean="0"/>
              <a:pPr/>
              <a:t>12/08/2013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2A874F-94E8-4AFA-95BB-583BDDFAC14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4075560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F13C1AD-C303-43D7-B055-213CF39C3BAB}" type="slidenum">
              <a:rPr lang="en-GB" smtClean="0"/>
              <a:pPr/>
              <a:t>5</a:t>
            </a:fld>
            <a:endParaRPr lang="en-GB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F13C1AD-C303-43D7-B055-213CF39C3BAB}" type="slidenum">
              <a:rPr lang="en-GB" smtClean="0"/>
              <a:pPr/>
              <a:t>6</a:t>
            </a:fld>
            <a:endParaRPr lang="en-GB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F13C1AD-C303-43D7-B055-213CF39C3BAB}" type="slidenum">
              <a:rPr lang="en-GB" smtClean="0"/>
              <a:pPr/>
              <a:t>7</a:t>
            </a:fld>
            <a:endParaRPr lang="en-GB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20BEB-7762-42A5-97D5-127BF4C0DFFB}" type="datetime1">
              <a:rPr lang="en-GB" smtClean="0"/>
              <a:t>12/08/2013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C6B84-431C-47A5-AF03-561B2F68642F}" type="datetime1">
              <a:rPr lang="en-GB" smtClean="0"/>
              <a:t>12/08/2013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D7D880-6F58-4410-9561-CFB6270E3DFF}" type="datetime1">
              <a:rPr lang="en-GB" smtClean="0"/>
              <a:t>12/08/2013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68E30-1A70-4A5E-9AA7-93D515EF3BD2}" type="datetime1">
              <a:rPr lang="en-GB" smtClean="0"/>
              <a:t>12/08/2013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014F8-24A6-49C3-97A1-D0E8ED952A41}" type="datetime1">
              <a:rPr lang="en-GB" smtClean="0"/>
              <a:t>12/08/2013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2FA81-B0EB-4A54-A053-4AA8EAFFBB8A}" type="datetime1">
              <a:rPr lang="en-GB" smtClean="0"/>
              <a:t>12/08/2013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B0711-EC6F-4D42-A428-915F22CAD1F3}" type="datetime1">
              <a:rPr lang="en-GB" smtClean="0"/>
              <a:t>12/08/2013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CC6B0-A930-48B0-A506-E9ECF2446B99}" type="datetime1">
              <a:rPr lang="en-GB" smtClean="0"/>
              <a:t>12/08/2013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C0009-3192-47EE-BEF4-00379F6DCCE9}" type="datetime1">
              <a:rPr lang="en-GB" smtClean="0"/>
              <a:t>12/08/2013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B7DF3-7062-4D35-9E07-D85908E83A41}" type="datetime1">
              <a:rPr lang="en-GB" smtClean="0"/>
              <a:t>12/08/2013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668D-6B75-433C-9E99-9D1A308B0500}" type="datetime1">
              <a:rPr lang="en-GB" smtClean="0"/>
              <a:t>12/08/2013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1C0B-A7AE-41A2-86D5-41943105B62B}" type="datetime1">
              <a:rPr lang="en-GB" smtClean="0"/>
              <a:t>12/08/2013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smtClean="0"/>
              <a:t>George Boak 2013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F0CDF6-10B0-4B46-8BB5-46771351D55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548680"/>
            <a:ext cx="7992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smtClean="0">
                <a:latin typeface="Arial" pitchFamily="34" charset="0"/>
                <a:cs typeface="Arial" pitchFamily="34" charset="0"/>
              </a:rPr>
              <a:t>Judging the quality of research</a:t>
            </a:r>
            <a:endParaRPr lang="en-GB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3"/>
          <p:cNvSpPr txBox="1">
            <a:spLocks noChangeArrowheads="1"/>
          </p:cNvSpPr>
          <p:nvPr/>
        </p:nvSpPr>
        <p:spPr bwMode="auto">
          <a:xfrm>
            <a:off x="539750" y="620713"/>
            <a:ext cx="82804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GB" sz="2400" smtClean="0"/>
              <a:t>Research evaluated against:</a:t>
            </a:r>
          </a:p>
          <a:p>
            <a:pPr eaLnBrk="1" hangingPunct="1"/>
            <a:endParaRPr lang="en-GB" sz="2400" smtClean="0"/>
          </a:p>
          <a:p>
            <a:pPr marL="514350" lvl="0" indent="-514350">
              <a:buFont typeface="+mj-lt"/>
              <a:buAutoNum type="arabicPeriod"/>
            </a:pPr>
            <a:r>
              <a:rPr lang="en-GB" sz="2400" i="1" smtClean="0"/>
              <a:t>The criteria set by the University, or the client or sponsor of the research</a:t>
            </a:r>
            <a:endParaRPr lang="en-GB" sz="2400" smtClean="0"/>
          </a:p>
          <a:p>
            <a:pPr marL="514350" lvl="0" indent="-514350">
              <a:buFont typeface="+mj-lt"/>
              <a:buAutoNum type="arabicPeriod"/>
            </a:pPr>
            <a:r>
              <a:rPr lang="en-GB" sz="2400" i="1" smtClean="0"/>
              <a:t>The way the different parts of the research report fit together</a:t>
            </a:r>
            <a:endParaRPr lang="en-GB" sz="2400" smtClean="0"/>
          </a:p>
          <a:p>
            <a:pPr marL="514350" lvl="0" indent="-514350">
              <a:buFont typeface="+mj-lt"/>
              <a:buAutoNum type="arabicPeriod"/>
            </a:pPr>
            <a:r>
              <a:rPr lang="en-GB" sz="2400" i="1" smtClean="0"/>
              <a:t>The quality of the methodology and the evidence you produce</a:t>
            </a:r>
            <a:endParaRPr lang="en-GB" sz="240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49385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548680"/>
            <a:ext cx="813690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>
                <a:latin typeface="Arial" pitchFamily="34" charset="0"/>
                <a:cs typeface="Arial" pitchFamily="34" charset="0"/>
              </a:rPr>
              <a:t>General criteria </a:t>
            </a:r>
            <a:endParaRPr lang="en-GB" sz="2400" b="1" i="1" smtClean="0">
              <a:latin typeface="Arial" pitchFamily="34" charset="0"/>
              <a:cs typeface="Arial" pitchFamily="34" charset="0"/>
            </a:endParaRP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what </a:t>
            </a:r>
            <a:r>
              <a:rPr lang="en-GB" sz="2400">
                <a:latin typeface="Arial" pitchFamily="34" charset="0"/>
                <a:cs typeface="Arial" pitchFamily="34" charset="0"/>
              </a:rPr>
              <a:t>is expected of a piece of work written for that level of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qualification</a:t>
            </a:r>
          </a:p>
          <a:p>
            <a:r>
              <a:rPr lang="en-GB" sz="240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will </a:t>
            </a:r>
            <a:r>
              <a:rPr lang="en-GB" sz="2400">
                <a:latin typeface="Arial" pitchFamily="34" charset="0"/>
                <a:cs typeface="Arial" pitchFamily="34" charset="0"/>
              </a:rPr>
              <a:t>include that you have explored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and analysed a </a:t>
            </a:r>
            <a:r>
              <a:rPr lang="en-GB" sz="2400">
                <a:latin typeface="Arial" pitchFamily="34" charset="0"/>
                <a:cs typeface="Arial" pitchFamily="34" charset="0"/>
              </a:rPr>
              <a:t>range of relevant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literature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will include factors such </a:t>
            </a:r>
            <a:r>
              <a:rPr lang="en-GB" sz="2400">
                <a:latin typeface="Arial" pitchFamily="34" charset="0"/>
                <a:cs typeface="Arial" pitchFamily="34" charset="0"/>
              </a:rPr>
              <a:t>as the clarity of its presentation, and the extent to which it communicates to its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readers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404664"/>
            <a:ext cx="7704856" cy="4191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 sz="2400" b="1" i="1" smtClean="0">
                <a:latin typeface="Arial"/>
                <a:ea typeface="Calibri"/>
                <a:cs typeface="Times New Roman"/>
              </a:rPr>
              <a:t>Specific criteria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GB" sz="2400">
              <a:latin typeface="Arial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 sz="2400" smtClean="0">
                <a:latin typeface="Arial"/>
                <a:ea typeface="Calibri"/>
                <a:cs typeface="Times New Roman"/>
              </a:rPr>
              <a:t>will concern your scope for choice concerning the topic of your research.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GB" sz="2400">
              <a:latin typeface="Arial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 sz="2400" smtClean="0">
                <a:latin typeface="Arial"/>
                <a:ea typeface="Calibri"/>
                <a:cs typeface="Times New Roman"/>
              </a:rPr>
              <a:t>may be criteria concerning what your report should contain, how the different parts of it should link together, and how it should be presented. 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endParaRPr lang="en-GB" sz="2400">
              <a:latin typeface="Arial"/>
              <a:ea typeface="Calibri"/>
              <a:cs typeface="Times New Roman"/>
            </a:endParaRPr>
          </a:p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0"/>
          <p:cNvSpPr txBox="1">
            <a:spLocks noChangeArrowheads="1"/>
          </p:cNvSpPr>
          <p:nvPr/>
        </p:nvSpPr>
        <p:spPr bwMode="auto">
          <a:xfrm>
            <a:off x="152400" y="1455738"/>
            <a:ext cx="251301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b="1" smtClean="0">
                <a:latin typeface="Arial" pitchFamily="34" charset="0"/>
                <a:cs typeface="Arial" pitchFamily="34" charset="0"/>
              </a:rPr>
              <a:t>The way the different parts of the research report fit together</a:t>
            </a:r>
            <a:endParaRPr lang="en-GB" sz="2400"/>
          </a:p>
        </p:txBody>
      </p:sp>
      <p:sp>
        <p:nvSpPr>
          <p:cNvPr id="3" name="Rounded Rectangle 2"/>
          <p:cNvSpPr/>
          <p:nvPr/>
        </p:nvSpPr>
        <p:spPr>
          <a:xfrm>
            <a:off x="2895600" y="304800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2895600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472440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2895600" y="2209800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2895600" y="297180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2895600" y="3810000"/>
            <a:ext cx="335280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226" name="TextBox 4"/>
          <p:cNvSpPr txBox="1">
            <a:spLocks noChangeArrowheads="1"/>
          </p:cNvSpPr>
          <p:nvPr/>
        </p:nvSpPr>
        <p:spPr bwMode="auto">
          <a:xfrm>
            <a:off x="3048000" y="295275"/>
            <a:ext cx="31242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mtClean="0"/>
              <a:t>Introduction</a:t>
            </a:r>
            <a:endParaRPr lang="en-GB"/>
          </a:p>
          <a:p>
            <a:pPr algn="ctr"/>
            <a:r>
              <a:rPr lang="en-GB"/>
              <a:t>Research question</a:t>
            </a:r>
          </a:p>
          <a:p>
            <a:pPr algn="ctr"/>
            <a:r>
              <a:rPr lang="en-GB"/>
              <a:t>Objectives</a:t>
            </a:r>
          </a:p>
        </p:txBody>
      </p:sp>
      <p:sp>
        <p:nvSpPr>
          <p:cNvPr id="9227" name="TextBox 5"/>
          <p:cNvSpPr txBox="1">
            <a:spLocks noChangeArrowheads="1"/>
          </p:cNvSpPr>
          <p:nvPr/>
        </p:nvSpPr>
        <p:spPr bwMode="auto">
          <a:xfrm>
            <a:off x="2971800" y="1600200"/>
            <a:ext cx="3200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Literature review</a:t>
            </a:r>
          </a:p>
        </p:txBody>
      </p:sp>
      <p:sp>
        <p:nvSpPr>
          <p:cNvPr id="9228" name="TextBox 6"/>
          <p:cNvSpPr txBox="1">
            <a:spLocks noChangeArrowheads="1"/>
          </p:cNvSpPr>
          <p:nvPr/>
        </p:nvSpPr>
        <p:spPr bwMode="auto">
          <a:xfrm>
            <a:off x="2971800" y="2362200"/>
            <a:ext cx="3124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Methodology</a:t>
            </a:r>
          </a:p>
        </p:txBody>
      </p:sp>
      <p:sp>
        <p:nvSpPr>
          <p:cNvPr id="9229" name="TextBox 7"/>
          <p:cNvSpPr txBox="1">
            <a:spLocks noChangeArrowheads="1"/>
          </p:cNvSpPr>
          <p:nvPr/>
        </p:nvSpPr>
        <p:spPr bwMode="auto">
          <a:xfrm>
            <a:off x="3200400" y="3124200"/>
            <a:ext cx="2819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Findings</a:t>
            </a:r>
          </a:p>
        </p:txBody>
      </p:sp>
      <p:sp>
        <p:nvSpPr>
          <p:cNvPr id="9230" name="TextBox 8"/>
          <p:cNvSpPr txBox="1">
            <a:spLocks noChangeArrowheads="1"/>
          </p:cNvSpPr>
          <p:nvPr/>
        </p:nvSpPr>
        <p:spPr bwMode="auto">
          <a:xfrm>
            <a:off x="2971800" y="3962400"/>
            <a:ext cx="3200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Analysis</a:t>
            </a:r>
          </a:p>
        </p:txBody>
      </p:sp>
      <p:sp>
        <p:nvSpPr>
          <p:cNvPr id="9231" name="TextBox 9"/>
          <p:cNvSpPr txBox="1">
            <a:spLocks noChangeArrowheads="1"/>
          </p:cNvSpPr>
          <p:nvPr/>
        </p:nvSpPr>
        <p:spPr bwMode="auto">
          <a:xfrm>
            <a:off x="3124200" y="4876800"/>
            <a:ext cx="3124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Conclusions</a:t>
            </a:r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2518792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179512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562352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5652120" y="1451248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5323656" y="389952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139080" y="4763616"/>
            <a:ext cx="335280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226" name="TextBox 4"/>
          <p:cNvSpPr txBox="1">
            <a:spLocks noChangeArrowheads="1"/>
          </p:cNvSpPr>
          <p:nvPr/>
        </p:nvSpPr>
        <p:spPr bwMode="auto">
          <a:xfrm>
            <a:off x="2987824" y="2638653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mtClean="0"/>
              <a:t>Research </a:t>
            </a:r>
            <a:r>
              <a:rPr lang="en-GB"/>
              <a:t>question</a:t>
            </a:r>
          </a:p>
          <a:p>
            <a:pPr algn="ctr"/>
            <a:r>
              <a:rPr lang="en-GB"/>
              <a:t>Objectives</a:t>
            </a:r>
          </a:p>
        </p:txBody>
      </p:sp>
      <p:sp>
        <p:nvSpPr>
          <p:cNvPr id="9227" name="TextBox 5"/>
          <p:cNvSpPr txBox="1">
            <a:spLocks noChangeArrowheads="1"/>
          </p:cNvSpPr>
          <p:nvPr/>
        </p:nvSpPr>
        <p:spPr bwMode="auto">
          <a:xfrm>
            <a:off x="219472" y="1600200"/>
            <a:ext cx="3200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Literature review</a:t>
            </a:r>
          </a:p>
        </p:txBody>
      </p:sp>
      <p:sp>
        <p:nvSpPr>
          <p:cNvPr id="9228" name="TextBox 6"/>
          <p:cNvSpPr txBox="1">
            <a:spLocks noChangeArrowheads="1"/>
          </p:cNvSpPr>
          <p:nvPr/>
        </p:nvSpPr>
        <p:spPr bwMode="auto">
          <a:xfrm>
            <a:off x="5768280" y="1546944"/>
            <a:ext cx="3124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Methodology</a:t>
            </a:r>
          </a:p>
        </p:txBody>
      </p:sp>
      <p:sp>
        <p:nvSpPr>
          <p:cNvPr id="9229" name="TextBox 7"/>
          <p:cNvSpPr txBox="1">
            <a:spLocks noChangeArrowheads="1"/>
          </p:cNvSpPr>
          <p:nvPr/>
        </p:nvSpPr>
        <p:spPr bwMode="auto">
          <a:xfrm>
            <a:off x="5652120" y="4005064"/>
            <a:ext cx="2819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Findings</a:t>
            </a:r>
          </a:p>
        </p:txBody>
      </p:sp>
      <p:sp>
        <p:nvSpPr>
          <p:cNvPr id="9230" name="TextBox 8"/>
          <p:cNvSpPr txBox="1">
            <a:spLocks noChangeArrowheads="1"/>
          </p:cNvSpPr>
          <p:nvPr/>
        </p:nvSpPr>
        <p:spPr bwMode="auto">
          <a:xfrm>
            <a:off x="395536" y="4920208"/>
            <a:ext cx="3200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Analysis</a:t>
            </a:r>
          </a:p>
        </p:txBody>
      </p:sp>
      <p:sp>
        <p:nvSpPr>
          <p:cNvPr id="9231" name="TextBox 9"/>
          <p:cNvSpPr txBox="1">
            <a:spLocks noChangeArrowheads="1"/>
          </p:cNvSpPr>
          <p:nvPr/>
        </p:nvSpPr>
        <p:spPr bwMode="auto">
          <a:xfrm>
            <a:off x="3124200" y="5733256"/>
            <a:ext cx="3124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Conclusions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43808" y="332656"/>
            <a:ext cx="3352800" cy="4320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2987824" y="344835"/>
            <a:ext cx="312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mtClean="0"/>
              <a:t>Introduction</a:t>
            </a:r>
            <a:endParaRPr lang="en-GB"/>
          </a:p>
        </p:txBody>
      </p:sp>
      <p:sp>
        <p:nvSpPr>
          <p:cNvPr id="17" name="Bent Arrow 16"/>
          <p:cNvSpPr/>
          <p:nvPr/>
        </p:nvSpPr>
        <p:spPr>
          <a:xfrm rot="16200000">
            <a:off x="2339752" y="2204865"/>
            <a:ext cx="864096" cy="576064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4355976" y="764704"/>
            <a:ext cx="288032" cy="18002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Down Arrow 19"/>
          <p:cNvSpPr/>
          <p:nvPr/>
        </p:nvSpPr>
        <p:spPr>
          <a:xfrm>
            <a:off x="4355976" y="3356992"/>
            <a:ext cx="288032" cy="2232248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Bent Arrow 21"/>
          <p:cNvSpPr/>
          <p:nvPr/>
        </p:nvSpPr>
        <p:spPr>
          <a:xfrm rot="5400000">
            <a:off x="6048164" y="3104964"/>
            <a:ext cx="1008112" cy="648072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Bent Arrow 24"/>
          <p:cNvSpPr/>
          <p:nvPr/>
        </p:nvSpPr>
        <p:spPr>
          <a:xfrm rot="5400000" flipV="1">
            <a:off x="1799692" y="3609020"/>
            <a:ext cx="1728192" cy="648072"/>
          </a:xfrm>
          <a:prstGeom prst="bentArrow">
            <a:avLst>
              <a:gd name="adj1" fmla="val 25000"/>
              <a:gd name="adj2" fmla="val 27995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Bent Arrow 25"/>
          <p:cNvSpPr/>
          <p:nvPr/>
        </p:nvSpPr>
        <p:spPr>
          <a:xfrm rot="5400000" flipH="1">
            <a:off x="6120172" y="2168860"/>
            <a:ext cx="792088" cy="576064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2895600" y="2518792"/>
            <a:ext cx="3352800" cy="8382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7" name="Rounded Rectangle 26"/>
          <p:cNvSpPr/>
          <p:nvPr/>
        </p:nvSpPr>
        <p:spPr>
          <a:xfrm>
            <a:off x="179512" y="1447800"/>
            <a:ext cx="3352800" cy="609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8" name="Rounded Rectangle 27"/>
          <p:cNvSpPr/>
          <p:nvPr/>
        </p:nvSpPr>
        <p:spPr>
          <a:xfrm>
            <a:off x="2971800" y="5623520"/>
            <a:ext cx="3352800" cy="6858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9" name="Rounded Rectangle 28"/>
          <p:cNvSpPr/>
          <p:nvPr/>
        </p:nvSpPr>
        <p:spPr>
          <a:xfrm>
            <a:off x="5652120" y="1451248"/>
            <a:ext cx="3352800" cy="6096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5323656" y="3899520"/>
            <a:ext cx="3352800" cy="6096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" name="Rounded Rectangle 30"/>
          <p:cNvSpPr/>
          <p:nvPr/>
        </p:nvSpPr>
        <p:spPr>
          <a:xfrm>
            <a:off x="139080" y="4763616"/>
            <a:ext cx="3352800" cy="609600"/>
          </a:xfrm>
          <a:prstGeom prst="roundRect">
            <a:avLst/>
          </a:prstGeom>
          <a:solidFill>
            <a:srgbClr val="F6F61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9226" name="TextBox 4"/>
          <p:cNvSpPr txBox="1">
            <a:spLocks noChangeArrowheads="1"/>
          </p:cNvSpPr>
          <p:nvPr/>
        </p:nvSpPr>
        <p:spPr bwMode="auto">
          <a:xfrm>
            <a:off x="2987824" y="2638653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mtClean="0"/>
              <a:t>Research </a:t>
            </a:r>
            <a:r>
              <a:rPr lang="en-GB"/>
              <a:t>question</a:t>
            </a:r>
          </a:p>
          <a:p>
            <a:pPr algn="ctr"/>
            <a:r>
              <a:rPr lang="en-GB"/>
              <a:t>Objectives</a:t>
            </a:r>
          </a:p>
        </p:txBody>
      </p:sp>
      <p:sp>
        <p:nvSpPr>
          <p:cNvPr id="9227" name="TextBox 5"/>
          <p:cNvSpPr txBox="1">
            <a:spLocks noChangeArrowheads="1"/>
          </p:cNvSpPr>
          <p:nvPr/>
        </p:nvSpPr>
        <p:spPr bwMode="auto">
          <a:xfrm>
            <a:off x="219472" y="1600200"/>
            <a:ext cx="3200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Literature review</a:t>
            </a:r>
          </a:p>
        </p:txBody>
      </p:sp>
      <p:sp>
        <p:nvSpPr>
          <p:cNvPr id="9228" name="TextBox 6"/>
          <p:cNvSpPr txBox="1">
            <a:spLocks noChangeArrowheads="1"/>
          </p:cNvSpPr>
          <p:nvPr/>
        </p:nvSpPr>
        <p:spPr bwMode="auto">
          <a:xfrm>
            <a:off x="5768280" y="1546944"/>
            <a:ext cx="31242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Methodology</a:t>
            </a:r>
          </a:p>
        </p:txBody>
      </p:sp>
      <p:sp>
        <p:nvSpPr>
          <p:cNvPr id="9229" name="TextBox 7"/>
          <p:cNvSpPr txBox="1">
            <a:spLocks noChangeArrowheads="1"/>
          </p:cNvSpPr>
          <p:nvPr/>
        </p:nvSpPr>
        <p:spPr bwMode="auto">
          <a:xfrm>
            <a:off x="5652120" y="4005064"/>
            <a:ext cx="2819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Findings</a:t>
            </a:r>
          </a:p>
        </p:txBody>
      </p:sp>
      <p:sp>
        <p:nvSpPr>
          <p:cNvPr id="9230" name="TextBox 8"/>
          <p:cNvSpPr txBox="1">
            <a:spLocks noChangeArrowheads="1"/>
          </p:cNvSpPr>
          <p:nvPr/>
        </p:nvSpPr>
        <p:spPr bwMode="auto">
          <a:xfrm>
            <a:off x="395536" y="4920208"/>
            <a:ext cx="3200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Analysis</a:t>
            </a:r>
          </a:p>
        </p:txBody>
      </p:sp>
      <p:sp>
        <p:nvSpPr>
          <p:cNvPr id="9231" name="TextBox 9"/>
          <p:cNvSpPr txBox="1">
            <a:spLocks noChangeArrowheads="1"/>
          </p:cNvSpPr>
          <p:nvPr/>
        </p:nvSpPr>
        <p:spPr bwMode="auto">
          <a:xfrm>
            <a:off x="3124200" y="5733256"/>
            <a:ext cx="3124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/>
              <a:t>Conclusions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43808" y="332656"/>
            <a:ext cx="3352800" cy="43204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6" name="TextBox 4"/>
          <p:cNvSpPr txBox="1">
            <a:spLocks noChangeArrowheads="1"/>
          </p:cNvSpPr>
          <p:nvPr/>
        </p:nvSpPr>
        <p:spPr bwMode="auto">
          <a:xfrm>
            <a:off x="2987824" y="344835"/>
            <a:ext cx="312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GB" smtClean="0"/>
              <a:t>Introduction</a:t>
            </a:r>
            <a:endParaRPr lang="en-GB"/>
          </a:p>
        </p:txBody>
      </p:sp>
      <p:sp>
        <p:nvSpPr>
          <p:cNvPr id="17" name="Bent Arrow 16"/>
          <p:cNvSpPr/>
          <p:nvPr/>
        </p:nvSpPr>
        <p:spPr>
          <a:xfrm rot="16200000">
            <a:off x="2339752" y="2204865"/>
            <a:ext cx="864096" cy="576064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4355976" y="764704"/>
            <a:ext cx="288032" cy="1800200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Down Arrow 19"/>
          <p:cNvSpPr/>
          <p:nvPr/>
        </p:nvSpPr>
        <p:spPr>
          <a:xfrm>
            <a:off x="4355976" y="3356992"/>
            <a:ext cx="288032" cy="2232248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Bent Arrow 21"/>
          <p:cNvSpPr/>
          <p:nvPr/>
        </p:nvSpPr>
        <p:spPr>
          <a:xfrm rot="5400000">
            <a:off x="6048164" y="3104964"/>
            <a:ext cx="1008112" cy="648072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Bent Arrow 24"/>
          <p:cNvSpPr/>
          <p:nvPr/>
        </p:nvSpPr>
        <p:spPr>
          <a:xfrm rot="5400000" flipV="1">
            <a:off x="1799692" y="3609020"/>
            <a:ext cx="1728192" cy="648072"/>
          </a:xfrm>
          <a:prstGeom prst="bentArrow">
            <a:avLst>
              <a:gd name="adj1" fmla="val 25000"/>
              <a:gd name="adj2" fmla="val 27995"/>
              <a:gd name="adj3" fmla="val 25000"/>
              <a:gd name="adj4" fmla="val 43750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6" name="Bent Arrow 25"/>
          <p:cNvSpPr/>
          <p:nvPr/>
        </p:nvSpPr>
        <p:spPr>
          <a:xfrm rot="5400000" flipH="1">
            <a:off x="6120172" y="2168860"/>
            <a:ext cx="792088" cy="576064"/>
          </a:xfrm>
          <a:prstGeom prst="ben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3491880" y="1556792"/>
            <a:ext cx="2160240" cy="28803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ight Arrow 23"/>
          <p:cNvSpPr/>
          <p:nvPr/>
        </p:nvSpPr>
        <p:spPr>
          <a:xfrm rot="5400000">
            <a:off x="-508" y="3248980"/>
            <a:ext cx="2664296" cy="288032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ight Arrow 31"/>
          <p:cNvSpPr/>
          <p:nvPr/>
        </p:nvSpPr>
        <p:spPr>
          <a:xfrm rot="5400000">
            <a:off x="6912260" y="2888940"/>
            <a:ext cx="1872208" cy="216024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Bent Arrow 32"/>
          <p:cNvSpPr/>
          <p:nvPr/>
        </p:nvSpPr>
        <p:spPr>
          <a:xfrm rot="5400000" flipV="1">
            <a:off x="3887924" y="3248980"/>
            <a:ext cx="504056" cy="2448272"/>
          </a:xfrm>
          <a:prstGeom prst="ben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4" name="Bent Arrow 33"/>
          <p:cNvSpPr/>
          <p:nvPr/>
        </p:nvSpPr>
        <p:spPr>
          <a:xfrm flipV="1">
            <a:off x="2339752" y="5373216"/>
            <a:ext cx="576064" cy="936104"/>
          </a:xfrm>
          <a:prstGeom prst="bentArrow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3568" y="476672"/>
            <a:ext cx="7992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mtClean="0">
                <a:latin typeface="Arial" pitchFamily="34" charset="0"/>
                <a:cs typeface="Arial" pitchFamily="34" charset="0"/>
              </a:rPr>
              <a:t>What if you can’t achieve your objectives?</a:t>
            </a: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Explain why, and explain what you have achieved</a:t>
            </a: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or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Renegotiate your objectives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404664"/>
            <a:ext cx="8136904" cy="3434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 sz="2400" b="1" smtClean="0">
                <a:latin typeface="Arial" pitchFamily="34" charset="0"/>
                <a:ea typeface="Calibri"/>
                <a:cs typeface="Arial" pitchFamily="34" charset="0"/>
              </a:rPr>
              <a:t>The quality of the fieldwork and the findings you put forward</a:t>
            </a:r>
            <a:endParaRPr lang="en-GB" sz="2400">
              <a:latin typeface="Arial" pitchFamily="34" charset="0"/>
              <a:ea typeface="Calibri"/>
              <a:cs typeface="Arial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 sz="2400" smtClean="0">
                <a:latin typeface="Arial" pitchFamily="34" charset="0"/>
                <a:ea typeface="Calibri"/>
                <a:cs typeface="Arial" pitchFamily="34" charset="0"/>
              </a:rPr>
              <a:t> </a:t>
            </a:r>
            <a:endParaRPr lang="en-GB" sz="2400">
              <a:latin typeface="Arial" pitchFamily="34" charset="0"/>
              <a:ea typeface="Calibri"/>
              <a:cs typeface="Arial" pitchFamily="34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GB" sz="2400" smtClean="0">
                <a:latin typeface="Arial" pitchFamily="34" charset="0"/>
                <a:ea typeface="Calibri"/>
                <a:cs typeface="Arial" pitchFamily="34" charset="0"/>
              </a:rPr>
              <a:t>Particularly important to show that any claims made for the research are supported by good evidence - in other words the evidence you have gathered supports your conclusions.</a:t>
            </a:r>
            <a:endParaRPr lang="en-GB" sz="2400">
              <a:latin typeface="Arial" pitchFamily="34" charset="0"/>
              <a:ea typeface="Calibri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1560" y="548680"/>
            <a:ext cx="792088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Arial" pitchFamily="34" charset="0"/>
                <a:cs typeface="Arial" pitchFamily="34" charset="0"/>
              </a:rPr>
              <a:t>For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example….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We hear </a:t>
            </a:r>
            <a:r>
              <a:rPr lang="en-GB" sz="2400">
                <a:latin typeface="Arial" pitchFamily="34" charset="0"/>
                <a:cs typeface="Arial" pitchFamily="34" charset="0"/>
              </a:rPr>
              <a:t>on the radio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that </a:t>
            </a:r>
            <a:r>
              <a:rPr lang="en-GB" sz="2400">
                <a:latin typeface="Arial" pitchFamily="34" charset="0"/>
                <a:cs typeface="Arial" pitchFamily="34" charset="0"/>
              </a:rPr>
              <a:t>a recent survey has found that 75% of people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support a particular government policy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Market research claims to have found that 80% of customers prefer the new, trial packaging of the company’s product over the old packaging.</a:t>
            </a: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An employee survey finds that the longer someone has been employed by the company, the less job satisfication they experience. </a:t>
            </a:r>
          </a:p>
          <a:p>
            <a:r>
              <a:rPr lang="en-GB" sz="240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Can we accept these findings as fact? - </a:t>
            </a:r>
            <a:r>
              <a:rPr lang="en-GB" sz="2400">
                <a:latin typeface="Arial" pitchFamily="34" charset="0"/>
                <a:cs typeface="Arial" pitchFamily="34" charset="0"/>
              </a:rPr>
              <a:t>in other words,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are </a:t>
            </a:r>
            <a:r>
              <a:rPr lang="en-GB" sz="2400">
                <a:latin typeface="Arial" pitchFamily="34" charset="0"/>
                <a:cs typeface="Arial" pitchFamily="34" charset="0"/>
              </a:rPr>
              <a:t>the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claims </a:t>
            </a:r>
            <a:r>
              <a:rPr lang="en-GB" sz="2400">
                <a:latin typeface="Arial" pitchFamily="34" charset="0"/>
                <a:cs typeface="Arial" pitchFamily="34" charset="0"/>
              </a:rPr>
              <a:t>supported by good evidence?</a:t>
            </a:r>
          </a:p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"/>
          <p:cNvSpPr txBox="1">
            <a:spLocks noChangeArrowheads="1"/>
          </p:cNvSpPr>
          <p:nvPr/>
        </p:nvSpPr>
        <p:spPr bwMode="auto">
          <a:xfrm>
            <a:off x="755650" y="620713"/>
            <a:ext cx="80645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GB" sz="2400" b="1" smtClean="0"/>
              <a:t>Validity</a:t>
            </a:r>
          </a:p>
          <a:p>
            <a:pPr eaLnBrk="1" hangingPunct="1"/>
            <a:endParaRPr lang="en-GB" sz="2400" b="1" smtClean="0"/>
          </a:p>
          <a:p>
            <a:pPr eaLnBrk="1" hangingPunct="1"/>
            <a:r>
              <a:rPr lang="en-GB" sz="2400" smtClean="0"/>
              <a:t>concerns whether 'the explanations are really true or accurate and correctly capture what is actually happening' (Gibbs, 2007)</a:t>
            </a:r>
            <a:endParaRPr lang="en-GB" sz="2400" b="1"/>
          </a:p>
          <a:p>
            <a:pPr eaLnBrk="1" hangingPunct="1"/>
            <a:endParaRPr lang="en-GB" sz="2800"/>
          </a:p>
          <a:p>
            <a:pPr eaLnBrk="1" hangingPunct="1"/>
            <a:endParaRPr lang="en-GB" sz="280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98505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568" y="404664"/>
            <a:ext cx="763284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mtClean="0">
                <a:latin typeface="Arial" pitchFamily="34" charset="0"/>
                <a:cs typeface="Arial" pitchFamily="34" charset="0"/>
              </a:rPr>
              <a:t>Some writers </a:t>
            </a:r>
            <a:r>
              <a:rPr lang="en-GB" sz="2400">
                <a:latin typeface="Arial" pitchFamily="34" charset="0"/>
                <a:cs typeface="Arial" pitchFamily="34" charset="0"/>
              </a:rPr>
              <a:t>talk about different dimensions of validity. </a:t>
            </a:r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For example: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 b="1" i="1">
                <a:latin typeface="Arial" pitchFamily="34" charset="0"/>
                <a:cs typeface="Arial" pitchFamily="34" charset="0"/>
              </a:rPr>
              <a:t>Measurement </a:t>
            </a:r>
            <a:r>
              <a:rPr lang="en-GB" sz="2400" b="1" i="1" smtClean="0">
                <a:latin typeface="Arial" pitchFamily="34" charset="0"/>
                <a:cs typeface="Arial" pitchFamily="34" charset="0"/>
              </a:rPr>
              <a:t>validity 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(or content validity, or construct validity)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Are you measuring what you say you are measuring?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Bryman and Bell (2011) </a:t>
            </a:r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476672"/>
            <a:ext cx="82089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mtClean="0">
                <a:latin typeface="Arial" pitchFamily="34" charset="0"/>
                <a:cs typeface="Arial" pitchFamily="34" charset="0"/>
              </a:rPr>
              <a:t>For example, how has the survey tried to measure job satisfaction?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A matter of evaluating the questions that were asked in the survey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Are you satisfied in your job?                   Yes/No 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548680"/>
            <a:ext cx="784887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smtClean="0">
                <a:latin typeface="Arial" pitchFamily="34" charset="0"/>
                <a:cs typeface="Arial" pitchFamily="34" charset="0"/>
              </a:rPr>
              <a:t>Another example: 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r>
              <a:rPr lang="en-US" sz="240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2400">
                <a:latin typeface="Arial" pitchFamily="34" charset="0"/>
                <a:cs typeface="Arial" pitchFamily="34" charset="0"/>
              </a:rPr>
              <a:t>economic system in this society is designed to maximise: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US" sz="2400">
                <a:latin typeface="Arial" pitchFamily="34" charset="0"/>
                <a:cs typeface="Arial" pitchFamily="34" charset="0"/>
              </a:rPr>
              <a:t> 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pPr marL="457200" indent="-457200"/>
            <a:r>
              <a:rPr lang="en-US" sz="2400" smtClean="0">
                <a:latin typeface="Arial" pitchFamily="34" charset="0"/>
                <a:cs typeface="Arial" pitchFamily="34" charset="0"/>
              </a:rPr>
              <a:t>1           2           3           4           5           6           7</a:t>
            </a:r>
          </a:p>
          <a:p>
            <a:pPr marL="457200" indent="-457200"/>
            <a:endParaRPr lang="en-US" sz="2400" smtClean="0">
              <a:latin typeface="Arial" pitchFamily="34" charset="0"/>
              <a:cs typeface="Arial" pitchFamily="34" charset="0"/>
            </a:endParaRPr>
          </a:p>
          <a:p>
            <a:r>
              <a:rPr lang="en-US" sz="2400" smtClean="0">
                <a:latin typeface="Arial" pitchFamily="34" charset="0"/>
                <a:cs typeface="Arial" pitchFamily="34" charset="0"/>
              </a:rPr>
              <a:t>Individual interests                             Collective </a:t>
            </a:r>
            <a:r>
              <a:rPr lang="en-US" sz="2400">
                <a:latin typeface="Arial" pitchFamily="34" charset="0"/>
                <a:cs typeface="Arial" pitchFamily="34" charset="0"/>
              </a:rPr>
              <a:t>interests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US" sz="2400" smtClean="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US" sz="2400" smtClean="0">
              <a:latin typeface="Arial" pitchFamily="34" charset="0"/>
              <a:cs typeface="Arial" pitchFamily="34" charset="0"/>
            </a:endParaRPr>
          </a:p>
          <a:p>
            <a:r>
              <a:rPr lang="en-US" sz="240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2400">
                <a:latin typeface="Arial" pitchFamily="34" charset="0"/>
                <a:cs typeface="Arial" pitchFamily="34" charset="0"/>
              </a:rPr>
              <a:t>From House et al, 2004)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404664"/>
            <a:ext cx="835292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mtClean="0">
                <a:latin typeface="Arial" pitchFamily="34" charset="0"/>
                <a:cs typeface="Arial" pitchFamily="34" charset="0"/>
              </a:rPr>
              <a:t>Another example: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GB" sz="2400">
                <a:latin typeface="Arial" pitchFamily="34" charset="0"/>
                <a:cs typeface="Arial" pitchFamily="34" charset="0"/>
              </a:rPr>
              <a:t>effective change agent needs to be politically sensitive, but must not get directly involved in the political 'action'.</a:t>
            </a: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Strongly            Agree      Neither Agree   Disagree  Strongly</a:t>
            </a: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Agree                              nor Disagree                      Disagree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(Buchanan and Badham, 1999)</a:t>
            </a:r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476672"/>
            <a:ext cx="813690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 smtClean="0">
                <a:latin typeface="Arial" pitchFamily="34" charset="0"/>
                <a:cs typeface="Arial" pitchFamily="34" charset="0"/>
              </a:rPr>
              <a:t>Internal validity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‘Internal </a:t>
            </a:r>
            <a:r>
              <a:rPr lang="en-GB" sz="2400">
                <a:latin typeface="Arial" pitchFamily="34" charset="0"/>
                <a:cs typeface="Arial" pitchFamily="34" charset="0"/>
              </a:rPr>
              <a:t>validity is concerned with the question of whether a conclusion that incorporates a causal relationship between two or more variables holds water. If we suggest that X causes Y, can we be sure that it is X that is responsible for variation in Y and not something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else…’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(Bryman and Bell, 2011: 42)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476672"/>
            <a:ext cx="7992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i="1">
                <a:latin typeface="Arial" pitchFamily="34" charset="0"/>
                <a:cs typeface="Arial" pitchFamily="34" charset="0"/>
              </a:rPr>
              <a:t>External validity</a:t>
            </a:r>
            <a:r>
              <a:rPr lang="en-GB" sz="2400">
                <a:latin typeface="Arial" pitchFamily="34" charset="0"/>
                <a:cs typeface="Arial" pitchFamily="34" charset="0"/>
              </a:rPr>
              <a:t> (or generalisability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) 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concerned </a:t>
            </a:r>
            <a:r>
              <a:rPr lang="en-GB" sz="2400">
                <a:latin typeface="Arial" pitchFamily="34" charset="0"/>
                <a:cs typeface="Arial" pitchFamily="34" charset="0"/>
              </a:rPr>
              <a:t>with the question of whether the results of a study can be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generalised </a:t>
            </a:r>
            <a:r>
              <a:rPr lang="en-GB" sz="2400">
                <a:latin typeface="Arial" pitchFamily="34" charset="0"/>
                <a:cs typeface="Arial" pitchFamily="34" charset="0"/>
              </a:rPr>
              <a:t>beyond the specific research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context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For example, can the findings of the job satisfaction survey be generalised to the whole workforce?</a:t>
            </a:r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3"/>
          <p:cNvSpPr txBox="1">
            <a:spLocks noChangeArrowheads="1"/>
          </p:cNvSpPr>
          <p:nvPr/>
        </p:nvSpPr>
        <p:spPr bwMode="auto">
          <a:xfrm>
            <a:off x="539750" y="476250"/>
            <a:ext cx="7920038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GB" sz="2400" b="1" i="1"/>
              <a:t>Reliability</a:t>
            </a:r>
          </a:p>
          <a:p>
            <a:pPr eaLnBrk="1" hangingPunct="1"/>
            <a:endParaRPr lang="en-GB" sz="2400"/>
          </a:p>
          <a:p>
            <a:pPr eaLnBrk="1" hangingPunct="1"/>
            <a:r>
              <a:rPr lang="en-GB" sz="2400"/>
              <a:t>Are the measures you use consistent? Would they produce the same results on other occasions?</a:t>
            </a:r>
          </a:p>
          <a:p>
            <a:pPr eaLnBrk="1" hangingPunct="1"/>
            <a:endParaRPr lang="en-GB" sz="2400"/>
          </a:p>
          <a:p>
            <a:pPr eaLnBrk="1" hangingPunct="1"/>
            <a:endParaRPr lang="en-GB" sz="2400"/>
          </a:p>
          <a:p>
            <a:pPr eaLnBrk="1" hangingPunct="1"/>
            <a:endParaRPr lang="en-GB" sz="2400"/>
          </a:p>
          <a:p>
            <a:pPr eaLnBrk="1" hangingPunct="1"/>
            <a:endParaRPr lang="en-GB" sz="2400"/>
          </a:p>
          <a:p>
            <a:pPr eaLnBrk="1" hangingPunct="1"/>
            <a:r>
              <a:rPr lang="en-GB" sz="2400"/>
              <a:t>(Bryman and Bell, </a:t>
            </a:r>
            <a:r>
              <a:rPr lang="en-GB" sz="2400" smtClean="0"/>
              <a:t>2011: 41)</a:t>
            </a:r>
            <a:endParaRPr lang="en-GB" sz="2400"/>
          </a:p>
          <a:p>
            <a:pPr eaLnBrk="1" hangingPunct="1"/>
            <a:endParaRPr lang="en-GB" sz="2400"/>
          </a:p>
          <a:p>
            <a:pPr eaLnBrk="1" hangingPunct="1"/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25294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1560" y="476672"/>
            <a:ext cx="777686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mtClean="0">
                <a:latin typeface="Arial" pitchFamily="34" charset="0"/>
                <a:cs typeface="Arial" pitchFamily="34" charset="0"/>
              </a:rPr>
              <a:t>Validity and reliability are fairly easily applied to quantitative research</a:t>
            </a: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But in qualitative research there are usually no standardised survey tools or questionnaires to examine</a:t>
            </a: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Qualitative responses have been interpreted into themes</a:t>
            </a:r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102310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04664"/>
            <a:ext cx="8208912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smtClean="0">
                <a:latin typeface="Arial" pitchFamily="34" charset="0"/>
                <a:cs typeface="Arial" pitchFamily="34" charset="0"/>
              </a:rPr>
              <a:t>Some qualitative researchers adapt the concepts of validity and reliability to their research: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Validity: are you </a:t>
            </a:r>
            <a:r>
              <a:rPr lang="en-GB" sz="2400">
                <a:latin typeface="Arial" pitchFamily="34" charset="0"/>
                <a:cs typeface="Arial" pitchFamily="34" charset="0"/>
              </a:rPr>
              <a:t>are identifying, or interpreting, what you say you are: in other words is your interpretation credible? </a:t>
            </a:r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Internal validity: </a:t>
            </a:r>
            <a:r>
              <a:rPr lang="en-GB" sz="2400">
                <a:latin typeface="Arial" pitchFamily="34" charset="0"/>
                <a:cs typeface="Arial" pitchFamily="34" charset="0"/>
              </a:rPr>
              <a:t>is there a good match between the evidence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you have put </a:t>
            </a:r>
            <a:r>
              <a:rPr lang="en-GB" sz="2400">
                <a:latin typeface="Arial" pitchFamily="34" charset="0"/>
                <a:cs typeface="Arial" pitchFamily="34" charset="0"/>
              </a:rPr>
              <a:t>forward and the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conclusions you propose?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>
                <a:latin typeface="Arial" pitchFamily="34" charset="0"/>
                <a:cs typeface="Arial" pitchFamily="34" charset="0"/>
              </a:rPr>
              <a:t> </a:t>
            </a:r>
          </a:p>
          <a:p>
            <a:r>
              <a:rPr lang="en-GB" sz="2400">
                <a:latin typeface="Arial" pitchFamily="34" charset="0"/>
                <a:cs typeface="Arial" pitchFamily="34" charset="0"/>
              </a:rPr>
              <a:t>External validity (generalisability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): difficult </a:t>
            </a:r>
            <a:r>
              <a:rPr lang="en-GB" sz="2400">
                <a:latin typeface="Arial" pitchFamily="34" charset="0"/>
                <a:cs typeface="Arial" pitchFamily="34" charset="0"/>
              </a:rPr>
              <a:t>for qualitative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researchers</a:t>
            </a:r>
          </a:p>
          <a:p>
            <a:endParaRPr lang="en-GB" sz="240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Reliability: have codes been applied consistently?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333104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536" y="332656"/>
            <a:ext cx="8208912" cy="4925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400" smtClean="0">
                <a:latin typeface="Arial" pitchFamily="34" charset="0"/>
                <a:ea typeface="Calibri"/>
                <a:cs typeface="Arial" pitchFamily="34" charset="0"/>
              </a:rPr>
              <a:t>Other qualitative researchers proposed that alternative terms and ways of assessing qualitative research are required.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400" smtClean="0">
                <a:latin typeface="Arial" pitchFamily="34" charset="0"/>
                <a:ea typeface="Calibri"/>
                <a:cs typeface="Arial" pitchFamily="34" charset="0"/>
              </a:rPr>
              <a:t>Lincoln and Guba (1985) proposed </a:t>
            </a:r>
            <a:r>
              <a:rPr lang="en-GB" sz="2400" b="1" i="1" smtClean="0">
                <a:latin typeface="Arial" pitchFamily="34" charset="0"/>
                <a:ea typeface="Calibri"/>
                <a:cs typeface="Arial" pitchFamily="34" charset="0"/>
              </a:rPr>
              <a:t>trustworthiness</a:t>
            </a:r>
            <a:r>
              <a:rPr lang="en-GB" sz="2400" smtClean="0">
                <a:latin typeface="Arial" pitchFamily="34" charset="0"/>
                <a:ea typeface="Calibri"/>
                <a:cs typeface="Arial" pitchFamily="34" charset="0"/>
              </a:rPr>
              <a:t> as a criterion of how good a qualitative study is.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400" smtClean="0">
                <a:latin typeface="Arial" pitchFamily="34" charset="0"/>
                <a:ea typeface="Calibri"/>
                <a:cs typeface="Arial" pitchFamily="34" charset="0"/>
              </a:rPr>
              <a:t>There are four aspects of trustworthiness. Perhaps the main aspect is: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</a:pPr>
            <a:endParaRPr lang="en-GB" sz="2400" smtClean="0">
              <a:latin typeface="Arial" pitchFamily="34" charset="0"/>
              <a:ea typeface="Calibri"/>
              <a:cs typeface="Arial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</a:pPr>
            <a:r>
              <a:rPr lang="en-GB" sz="2400" smtClean="0">
                <a:latin typeface="Arial" pitchFamily="34" charset="0"/>
                <a:ea typeface="Calibri"/>
                <a:cs typeface="Arial" pitchFamily="34" charset="0"/>
              </a:rPr>
              <a:t>Credibility - how believable are the findings?</a:t>
            </a:r>
            <a:endParaRPr lang="en-GB" sz="2400">
              <a:latin typeface="Arial" pitchFamily="34" charset="0"/>
              <a:ea typeface="Calibri"/>
              <a:cs typeface="Arial" pitchFamily="34" charset="0"/>
            </a:endParaRPr>
          </a:p>
          <a:p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9552" y="476672"/>
            <a:ext cx="7992888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Arial" pitchFamily="34" charset="0"/>
                <a:cs typeface="Arial" pitchFamily="34" charset="0"/>
              </a:rPr>
              <a:t>Strategies to achieve trustworthiness can include:</a:t>
            </a:r>
          </a:p>
          <a:p>
            <a:r>
              <a:rPr lang="en-GB" sz="2400">
                <a:latin typeface="Arial" pitchFamily="34" charset="0"/>
                <a:cs typeface="Arial" pitchFamily="34" charset="0"/>
              </a:rPr>
              <a:t> </a:t>
            </a:r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smtClean="0">
                <a:latin typeface="Arial" pitchFamily="34" charset="0"/>
                <a:cs typeface="Arial" pitchFamily="34" charset="0"/>
              </a:rPr>
              <a:t>Triangulate different sources of data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smtClean="0">
                <a:latin typeface="Arial" pitchFamily="34" charset="0"/>
                <a:cs typeface="Arial" pitchFamily="34" charset="0"/>
              </a:rPr>
              <a:t>Check </a:t>
            </a:r>
            <a:r>
              <a:rPr lang="en-GB" sz="2400">
                <a:latin typeface="Arial" pitchFamily="34" charset="0"/>
                <a:cs typeface="Arial" pitchFamily="34" charset="0"/>
              </a:rPr>
              <a:t>your findings or interpretations with participants in the research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>
                <a:latin typeface="Arial" pitchFamily="34" charset="0"/>
                <a:cs typeface="Arial" pitchFamily="34" charset="0"/>
              </a:rPr>
              <a:t>Use rich, thick descriptions to convey the findings, so that they become more realistic for the reader.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>
                <a:latin typeface="Arial" pitchFamily="34" charset="0"/>
                <a:cs typeface="Arial" pitchFamily="34" charset="0"/>
              </a:rPr>
              <a:t>Present an honest range of material about your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findings</a:t>
            </a:r>
            <a:endParaRPr lang="en-GB" sz="2400"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>
                <a:latin typeface="Arial" pitchFamily="34" charset="0"/>
                <a:cs typeface="Arial" pitchFamily="34" charset="0"/>
              </a:rPr>
              <a:t>Develop a deep understanding of the area of </a:t>
            </a:r>
            <a:r>
              <a:rPr lang="en-GB" sz="2400" smtClean="0">
                <a:latin typeface="Arial" pitchFamily="34" charset="0"/>
                <a:cs typeface="Arial" pitchFamily="34" charset="0"/>
              </a:rPr>
              <a:t>research.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smtClean="0">
                <a:latin typeface="Arial" pitchFamily="34" charset="0"/>
                <a:cs typeface="Arial" pitchFamily="34" charset="0"/>
              </a:rPr>
              <a:t>Ask others to review the research - etiher peers or an external assessor.</a:t>
            </a:r>
          </a:p>
          <a:p>
            <a:endParaRPr lang="en-GB" sz="2400" smtClean="0">
              <a:latin typeface="Arial" pitchFamily="34" charset="0"/>
              <a:cs typeface="Arial" pitchFamily="34" charset="0"/>
            </a:endParaRPr>
          </a:p>
          <a:p>
            <a:r>
              <a:rPr lang="en-GB" sz="2400" smtClean="0">
                <a:latin typeface="Arial" pitchFamily="34" charset="0"/>
                <a:cs typeface="Arial" pitchFamily="34" charset="0"/>
              </a:rPr>
              <a:t>Cresswell (2014)</a:t>
            </a:r>
          </a:p>
          <a:p>
            <a:pPr marL="457200" indent="-457200">
              <a:buFont typeface="+mj-lt"/>
              <a:buAutoNum type="arabicPeriod"/>
            </a:pPr>
            <a:endParaRPr lang="en-GB" sz="2400">
              <a:latin typeface="Arial" pitchFamily="34" charset="0"/>
              <a:cs typeface="Arial" pitchFamily="34" charset="0"/>
            </a:endParaRPr>
          </a:p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794133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3"/>
          <p:cNvSpPr txBox="1">
            <a:spLocks noChangeArrowheads="1"/>
          </p:cNvSpPr>
          <p:nvPr/>
        </p:nvSpPr>
        <p:spPr bwMode="auto">
          <a:xfrm>
            <a:off x="539750" y="620713"/>
            <a:ext cx="8280400" cy="415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GB" sz="2400" smtClean="0"/>
              <a:t>Research evaluated against:</a:t>
            </a:r>
          </a:p>
          <a:p>
            <a:pPr eaLnBrk="1" hangingPunct="1"/>
            <a:endParaRPr lang="en-GB" sz="2400" smtClean="0"/>
          </a:p>
          <a:p>
            <a:pPr marL="514350" lvl="0" indent="-514350">
              <a:buFont typeface="+mj-lt"/>
              <a:buAutoNum type="arabicPeriod"/>
            </a:pPr>
            <a:r>
              <a:rPr lang="en-GB" sz="2400" i="1" smtClean="0"/>
              <a:t>The criteria set by the University, or the client or sponsor of the research</a:t>
            </a:r>
            <a:endParaRPr lang="en-GB" sz="2400" smtClean="0"/>
          </a:p>
          <a:p>
            <a:pPr marL="514350" lvl="0" indent="-514350">
              <a:buFont typeface="+mj-lt"/>
              <a:buAutoNum type="arabicPeriod"/>
            </a:pPr>
            <a:r>
              <a:rPr lang="en-GB" sz="2400" i="1" smtClean="0"/>
              <a:t>The way the different parts of the research report fit together</a:t>
            </a:r>
            <a:endParaRPr lang="en-GB" sz="2400" smtClean="0"/>
          </a:p>
          <a:p>
            <a:pPr marL="514350" lvl="0" indent="-514350">
              <a:buFont typeface="+mj-lt"/>
              <a:buAutoNum type="arabicPeriod"/>
            </a:pPr>
            <a:r>
              <a:rPr lang="en-GB" sz="2400" i="1" smtClean="0"/>
              <a:t>The quality of the methodology and the evidence you produce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i="1" smtClean="0"/>
              <a:t>The research produces something interesting, innovative, illuminating</a:t>
            </a:r>
          </a:p>
          <a:p>
            <a:pPr marL="514350" lvl="0" indent="-514350"/>
            <a:endParaRPr lang="en-GB" sz="240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George Boak 2013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xmlns="" val="249385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732</Words>
  <Application>Microsoft Office PowerPoint</Application>
  <PresentationFormat>On-screen Show (4:3)</PresentationFormat>
  <Paragraphs>191</Paragraphs>
  <Slides>23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George</dc:creator>
  <cp:lastModifiedBy>George</cp:lastModifiedBy>
  <cp:revision>12</cp:revision>
  <cp:lastPrinted>2013-08-05T08:26:19Z</cp:lastPrinted>
  <dcterms:created xsi:type="dcterms:W3CDTF">2013-08-04T15:27:27Z</dcterms:created>
  <dcterms:modified xsi:type="dcterms:W3CDTF">2013-08-12T17:04:15Z</dcterms:modified>
</cp:coreProperties>
</file>