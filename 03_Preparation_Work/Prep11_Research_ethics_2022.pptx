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838" r:id="rId2"/>
  </p:sldMasterIdLst>
  <p:notesMasterIdLst>
    <p:notesMasterId r:id="rId13"/>
  </p:notesMasterIdLst>
  <p:handoutMasterIdLst>
    <p:handoutMasterId r:id="rId14"/>
  </p:handoutMasterIdLst>
  <p:sldIdLst>
    <p:sldId id="256" r:id="rId3"/>
    <p:sldId id="353" r:id="rId4"/>
    <p:sldId id="356" r:id="rId5"/>
    <p:sldId id="384" r:id="rId6"/>
    <p:sldId id="385" r:id="rId7"/>
    <p:sldId id="386" r:id="rId8"/>
    <p:sldId id="375" r:id="rId9"/>
    <p:sldId id="387" r:id="rId10"/>
    <p:sldId id="388" r:id="rId11"/>
    <p:sldId id="383" r:id="rId12"/>
  </p:sldIdLst>
  <p:sldSz cx="9144000" cy="6858000" type="screen4x3"/>
  <p:notesSz cx="7010400" cy="92964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616"/>
    <a:srgbClr val="FF9900"/>
    <a:srgbClr val="080300"/>
    <a:srgbClr val="070008"/>
    <a:srgbClr val="070107"/>
    <a:srgbClr val="070401"/>
    <a:srgbClr val="0005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 autoAdjust="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1908" y="-78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9946" y="0"/>
            <a:ext cx="3038785" cy="465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48"/>
            <a:ext cx="3038786" cy="465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9946" y="8829648"/>
            <a:ext cx="3038785" cy="465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58E9270E-8C09-49A4-B283-C014A9AFAB5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041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786" cy="465266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9946" y="0"/>
            <a:ext cx="3038785" cy="465266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F81D1A9-7D7E-4A84-BE6C-B1750DE62939}" type="datetimeFigureOut">
              <a:rPr lang="en-GB"/>
              <a:pPr>
                <a:defRPr/>
              </a:pPr>
              <a:t>21/01/2022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73" y="4416311"/>
            <a:ext cx="5608654" cy="418293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48"/>
            <a:ext cx="3038786" cy="465266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9946" y="8829648"/>
            <a:ext cx="3038785" cy="465266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B63C051-0E79-4E4E-8469-4694D55C3C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0053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9BE69B-CAA3-4B31-B66E-F1BB5F95A457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73480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A64DC-C9C3-4D81-BED6-70813614292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283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F44E4-0749-4776-858C-97B8C2912D4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383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A6944-F261-4D5C-A076-17F4676AE8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566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D504E-3709-4E4D-B737-7C89FCEBD54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985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8FCE4-922A-4DD0-A3A4-37254D55D9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251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90625-679F-4FB2-B9D7-AA98A27B7B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685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2E777-4434-4784-B126-823819E7E9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155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8DB4-9542-44BE-AFFE-5DC6CC9B63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362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1298B-2002-4A14-8CC8-A969F14611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86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2E822-2C45-4849-9AC7-ADB592D4E37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666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8EC10-1760-470C-8EF6-608B752F0E6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123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D85F5-3009-4838-9925-A1745C6994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493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33255-B8DE-469E-B4CC-F2D6A488C95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5432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5C86F-3376-42AD-91EE-C688EA551E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371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1293B-76E3-40D4-98F9-F9DAD31340C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656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7871-540A-4304-8592-244B7E9317D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8913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C902E-D8F0-4613-A1CD-20A24A37CDA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5533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72F35-0591-47BC-8F98-FE1500F9519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3286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E7473-26EF-49C4-83D4-CF934C106F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8976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2E4DD-04F4-4BE5-AD7F-FDF93CC43EC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5220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CD5C5-8120-4B2F-99FA-C5980E8F460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47350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CB130-CABC-4C67-BA71-A2CE8274CFC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579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FE3ECE-E4A5-41D6-9C3F-B9BE4D0993E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DF988CA-E93D-435D-A8EE-DC64CFB5B02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6764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The Dissertation: </a:t>
            </a:r>
            <a:br>
              <a:rPr lang="en-US" altLang="en-US" b="1">
                <a:solidFill>
                  <a:srgbClr val="FF0000"/>
                </a:solidFill>
              </a:rPr>
            </a:br>
            <a:r>
              <a:rPr lang="en-US" altLang="en-US" b="1">
                <a:solidFill>
                  <a:srgbClr val="FF0000"/>
                </a:solidFill>
              </a:rPr>
              <a:t>Research ethics</a:t>
            </a:r>
            <a:endParaRPr lang="en-GB" altLang="en-US" b="1">
              <a:solidFill>
                <a:srgbClr val="FF0000"/>
              </a:solidFill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1"/>
    </mc:Choice>
    <mc:Fallback xmlns="">
      <p:transition spd="slow" advTm="52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Box 3"/>
          <p:cNvSpPr txBox="1">
            <a:spLocks noChangeArrowheads="1"/>
          </p:cNvSpPr>
          <p:nvPr/>
        </p:nvSpPr>
        <p:spPr bwMode="auto">
          <a:xfrm>
            <a:off x="539750" y="620713"/>
            <a:ext cx="8280400" cy="458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Research ethics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Your research must meet the requirements of the University's research ethics code.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All universities have research ethics codes.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They implement principles designed to minimise risk and harm entailed in any research.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The research ethics system has recently changed, to make it simpler and more straightforward.</a:t>
            </a: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554"/>
    </mc:Choice>
    <mc:Fallback xmlns="">
      <p:transition spd="slow" advTm="325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4213" y="476250"/>
            <a:ext cx="8064500" cy="489364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dirty="0">
                <a:latin typeface="+mn-lt"/>
                <a:cs typeface="Arial" pitchFamily="34" charset="0"/>
              </a:rPr>
              <a:t>Practically, you need to make sure that people you are involving in the research </a:t>
            </a:r>
          </a:p>
          <a:p>
            <a:pPr>
              <a:defRPr/>
            </a:pPr>
            <a:endParaRPr lang="en-GB" sz="2400" dirty="0">
              <a:latin typeface="+mn-lt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GB" sz="2400" dirty="0">
                <a:latin typeface="+mn-lt"/>
                <a:cs typeface="Arial" pitchFamily="34" charset="0"/>
              </a:rPr>
              <a:t>understand what it is about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GB" sz="2400" dirty="0">
                <a:latin typeface="+mn-lt"/>
                <a:cs typeface="Arial" pitchFamily="34" charset="0"/>
              </a:rPr>
              <a:t>freely consent to take part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GB" sz="2400" dirty="0">
                <a:latin typeface="+mn-lt"/>
                <a:cs typeface="Arial" pitchFamily="34" charset="0"/>
              </a:rPr>
              <a:t>are not put in risk of harm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GB" sz="2400" dirty="0">
                <a:latin typeface="+mn-lt"/>
                <a:cs typeface="Arial" pitchFamily="34" charset="0"/>
              </a:rPr>
              <a:t>are protected in respect of anonymity and confidentiality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endParaRPr lang="en-GB" sz="2400" dirty="0">
              <a:latin typeface="+mn-lt"/>
              <a:cs typeface="Arial" pitchFamily="34" charset="0"/>
            </a:endParaRPr>
          </a:p>
          <a:p>
            <a:pPr>
              <a:defRPr/>
            </a:pPr>
            <a:r>
              <a:rPr lang="en-GB" sz="2400" dirty="0">
                <a:latin typeface="+mn-lt"/>
                <a:cs typeface="Arial" pitchFamily="34" charset="0"/>
              </a:rPr>
              <a:t>All research entails some ethical issues - you must show that you understand this</a:t>
            </a:r>
          </a:p>
          <a:p>
            <a:pPr>
              <a:defRPr/>
            </a:pPr>
            <a:endParaRPr lang="en-GB" sz="2400" dirty="0">
              <a:latin typeface="+mn-lt"/>
              <a:cs typeface="Arial" pitchFamily="34" charset="0"/>
            </a:endParaRPr>
          </a:p>
          <a:p>
            <a:pPr>
              <a:defRPr/>
            </a:pPr>
            <a:endParaRPr lang="en-GB" sz="2400" dirty="0">
              <a:latin typeface="+mn-lt"/>
              <a:cs typeface="Arial" pitchFamily="34" charset="0"/>
            </a:endParaRPr>
          </a:p>
          <a:p>
            <a:pPr>
              <a:defRPr/>
            </a:pPr>
            <a:r>
              <a:rPr lang="en-GB" sz="2400" dirty="0">
                <a:latin typeface="+mn-lt"/>
                <a:cs typeface="Arial" pitchFamily="34" charset="0"/>
              </a:rPr>
              <a:t> </a:t>
            </a: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443"/>
    </mc:Choice>
    <mc:Fallback xmlns="">
      <p:transition spd="slow" advTm="27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1B966-5BE5-43EE-BFC9-BD8C76901009}"/>
              </a:ext>
            </a:extLst>
          </p:cNvPr>
          <p:cNvSpPr txBox="1"/>
          <p:nvPr/>
        </p:nvSpPr>
        <p:spPr>
          <a:xfrm>
            <a:off x="914400" y="609600"/>
            <a:ext cx="7391400" cy="3441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YSJU has given block ethical approval to research projects on the MBA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programmes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as long as they meet certain criteria.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you wish use this block approval, you must undertake to meet these criteria.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your research does not meet these criteria, you must follow a much more rigorous and detailed procedure to request research ethics approval.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9523EF9D-7F71-4571-A6A4-A5E3EF3CD0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0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836"/>
    </mc:Choice>
    <mc:Fallback>
      <p:transition spd="slow" advTm="298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A04E3A-DD5B-49D2-81AF-659A75048E26}"/>
              </a:ext>
            </a:extLst>
          </p:cNvPr>
          <p:cNvSpPr txBox="1"/>
          <p:nvPr/>
        </p:nvSpPr>
        <p:spPr>
          <a:xfrm>
            <a:off x="762000" y="533400"/>
            <a:ext cx="7772400" cy="527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n-lt"/>
              </a:rPr>
              <a:t>Criteria (part 1)</a:t>
            </a:r>
          </a:p>
          <a:p>
            <a:endParaRPr lang="en-US" sz="2400" dirty="0">
              <a:latin typeface="+mn-lt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The research must not involve the collection of primary source material that might possibly be seen as offensive or considered illegal to access or hold on a computer (such as studies related to state security, pornography, abuse, illegal behaviour or terrorism)</a:t>
            </a:r>
            <a:endParaRPr lang="en-GB" sz="2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The research must not involve groups which may be construed as terrorist or extremist</a:t>
            </a:r>
            <a:endParaRPr lang="en-GB" sz="2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must not be gathered on sensitive subjects, including: political opinions; religious or philosophical beliefs; health data; sex life; sexual orientation; criminal convictions and offences</a:t>
            </a:r>
            <a:endParaRPr lang="en-GB" sz="2400" dirty="0"/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A91A6624-175C-4280-A214-C79FA8B50E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36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171"/>
    </mc:Choice>
    <mc:Fallback>
      <p:transition spd="slow" advTm="46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A04E3A-DD5B-49D2-81AF-659A75048E26}"/>
              </a:ext>
            </a:extLst>
          </p:cNvPr>
          <p:cNvSpPr txBox="1"/>
          <p:nvPr/>
        </p:nvSpPr>
        <p:spPr>
          <a:xfrm>
            <a:off x="762000" y="533400"/>
            <a:ext cx="7772400" cy="5205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n-lt"/>
              </a:rPr>
              <a:t>Criteria (part 2)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must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take measures to safeguard: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Welfare of participants, who are not to be put at risk.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Informed consent: participants must be informed what is involved in taking part in the research and be able to choose freely whether to take part, or not. 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Confidentiality and anonymity: data must be recorded and stored in an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anonymised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form so that the confidentiality of respondents is safeguarded. 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security and protection: all field data must be securely stored and access to it restricted.</a:t>
            </a:r>
            <a:endParaRPr lang="en-US" sz="2400" dirty="0">
              <a:latin typeface="+mn-lt"/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3AA5C216-6226-4849-83C6-5E04120FB8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97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788"/>
    </mc:Choice>
    <mc:Fallback>
      <p:transition spd="slow" advTm="377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Box 3"/>
          <p:cNvSpPr txBox="1">
            <a:spLocks noChangeArrowheads="1"/>
          </p:cNvSpPr>
          <p:nvPr/>
        </p:nvSpPr>
        <p:spPr bwMode="auto">
          <a:xfrm>
            <a:off x="611188" y="549275"/>
            <a:ext cx="72009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Procedure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There is a form on the RKC Thesis Repository site, which you need to complete. Applications will be scrutinised by your supervisor and by a panel in RKC.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A copy of the contents is in the file: YSJU Ethical Approval Short Form, in the Research Ethics Document zip file, in Unit 2, for your information.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There are also other files on research ethics in that zip file.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262CA7AC-B6CB-4277-8FF9-577DAD0D39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807"/>
    </mc:Choice>
    <mc:Fallback>
      <p:transition spd="slow" advTm="408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F2337E-7EAF-4BBA-8683-477DCAE8260C}"/>
              </a:ext>
            </a:extLst>
          </p:cNvPr>
          <p:cNvSpPr txBox="1"/>
          <p:nvPr/>
        </p:nvSpPr>
        <p:spPr>
          <a:xfrm>
            <a:off x="762000" y="533400"/>
            <a:ext cx="77724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n-lt"/>
              </a:rPr>
              <a:t>Informing participants and obtaining consent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400" dirty="0">
                <a:latin typeface="+mn-lt"/>
              </a:rPr>
              <a:t>A key part of research ethics concerns informed consent.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400" dirty="0">
                <a:latin typeface="+mn-lt"/>
              </a:rPr>
              <a:t>You should show your supervisor documents you plan to use to inform potential participants about your research and to obtain their consent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400" dirty="0">
                <a:latin typeface="+mn-lt"/>
              </a:rPr>
              <a:t>There are templates available for you to use for this, but you can design your own form of words </a:t>
            </a:r>
          </a:p>
          <a:p>
            <a:endParaRPr lang="en-US" sz="2400" dirty="0"/>
          </a:p>
          <a:p>
            <a:endParaRPr lang="en-GB" dirty="0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DF3C1B96-3C74-4F3F-A53A-074403CD42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23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680"/>
    </mc:Choice>
    <mc:Fallback>
      <p:transition spd="slow" advTm="326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A343DC-C127-4F49-9BCA-38C5C5CCED36}"/>
              </a:ext>
            </a:extLst>
          </p:cNvPr>
          <p:cNvSpPr txBox="1"/>
          <p:nvPr/>
        </p:nvSpPr>
        <p:spPr>
          <a:xfrm>
            <a:off x="838200" y="533400"/>
            <a:ext cx="7696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n-lt"/>
              </a:rPr>
              <a:t>Research that does not meet the criteria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400" dirty="0">
                <a:latin typeface="+mn-lt"/>
              </a:rPr>
              <a:t>If you wish to carry out research that falls outside the criteria for block approval, inform your supervisor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400" dirty="0">
                <a:latin typeface="+mn-lt"/>
              </a:rPr>
              <a:t>You will need to go through a more detailed process to seek approval, with the YSJU Module Director and a member of the YSJU Business School Research Ethics panel</a:t>
            </a:r>
            <a:endParaRPr lang="en-GB" sz="2400" dirty="0">
              <a:latin typeface="+mn-lt"/>
            </a:endParaRP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BB715B62-28CD-435E-99D3-1AD7F18FFE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895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323"/>
    </mc:Choice>
    <mc:Fallback>
      <p:transition spd="slow" advTm="223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Box 3"/>
          <p:cNvSpPr txBox="1">
            <a:spLocks noChangeArrowheads="1"/>
          </p:cNvSpPr>
          <p:nvPr/>
        </p:nvSpPr>
        <p:spPr bwMode="auto">
          <a:xfrm>
            <a:off x="685800" y="457200"/>
            <a:ext cx="7620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>
                <a:latin typeface="+mn-lt"/>
                <a:cs typeface="Arial" panose="020B0604020202020204" pitchFamily="34" charset="0"/>
              </a:rPr>
              <a:t>Study the research ethics checklist and discuss with your supervisor early if you think there may be an issue, to avoid or to minimise delay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>
                <a:latin typeface="+mn-lt"/>
              </a:rPr>
              <a:t>You should get ethical approval before you gather any research information from respondents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>
                <a:latin typeface="+mn-lt"/>
              </a:rPr>
              <a:t>Otherwise you run the risk - if ethical approval is not given - that you can not use the material you have gathered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>
                <a:latin typeface="+mn-lt"/>
              </a:rPr>
              <a:t>If your plans change for the dissertation, you may need to complete and submit a second research ethics form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5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926"/>
    </mc:Choice>
    <mc:Fallback xmlns="">
      <p:transition spd="slow" advTm="449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3121</TotalTime>
  <Words>642</Words>
  <Application>Microsoft Office PowerPoint</Application>
  <PresentationFormat>On-screen Show (4:3)</PresentationFormat>
  <Paragraphs>63</Paragraphs>
  <Slides>10</Slides>
  <Notes>1</Notes>
  <HiddenSlides>0</HiddenSlides>
  <MMClips>10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Office Theme</vt:lpstr>
      <vt:lpstr>1_Office Theme</vt:lpstr>
      <vt:lpstr>The Dissertation:  Research ethics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Hull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26432</dc:title>
  <dc:creator>David Nicholas Tucker</dc:creator>
  <cp:lastModifiedBy>George Boak</cp:lastModifiedBy>
  <cp:revision>144</cp:revision>
  <cp:lastPrinted>2022-01-21T15:07:23Z</cp:lastPrinted>
  <dcterms:created xsi:type="dcterms:W3CDTF">2005-09-18T18:21:05Z</dcterms:created>
  <dcterms:modified xsi:type="dcterms:W3CDTF">2022-01-21T15:25:07Z</dcterms:modified>
</cp:coreProperties>
</file>