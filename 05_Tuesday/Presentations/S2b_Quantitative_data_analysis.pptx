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431" r:id="rId3"/>
    <p:sldId id="462" r:id="rId4"/>
    <p:sldId id="463" r:id="rId5"/>
    <p:sldId id="458" r:id="rId6"/>
    <p:sldId id="464" r:id="rId7"/>
    <p:sldId id="466" r:id="rId8"/>
    <p:sldId id="467" r:id="rId9"/>
    <p:sldId id="4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1975A2-2C02-4249-BAB7-928D9F3F6626}" type="datetimeFigureOut">
              <a:rPr lang="en-GB" smtClean="0"/>
              <a:t>01/02/2022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2DAD85-64CD-4746-9758-5EC5B98F1D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1078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EEA9D2-B54D-4D19-B876-5FCD114EB5A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04118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EEA9D2-B54D-4D19-B876-5FCD114EB5A9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4476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FBD8-9B85-4C37-B2DE-A6F64131FC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67CE40-7329-4BED-81AA-9108CABEC0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DC8BF-89D7-4E80-BE60-E3921573F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15CAF-7BCC-4A0E-BB59-51A0618C953B}" type="datetimeFigureOut">
              <a:rPr lang="en-GB" smtClean="0"/>
              <a:t>01/02/2022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A68C1-580D-4404-A31C-D8365629F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DFA04-B9B2-4782-8DB0-3692D6845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B3CED-0733-41B2-A766-E2B0C45CD0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3833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2C346-4205-4900-83D1-4F79FEAB8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7D332-DA93-49F3-A09E-5F569459E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07BCAF-DE60-4AE2-BAE1-FA5BCA2D4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15CAF-7BCC-4A0E-BB59-51A0618C953B}" type="datetimeFigureOut">
              <a:rPr lang="en-GB" smtClean="0"/>
              <a:t>01/02/2022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6975E-747D-4415-BCEF-772CCD754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DF29D-9B32-41A1-BF6A-CDA6B1248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B3CED-0733-41B2-A766-E2B0C45CD0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3732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B5D68-942D-4F85-9122-B75AEF0C0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82BD6E-AD43-4C4E-B27F-E598E93D6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1E908-F846-41D7-9D6B-A249CBE65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15CAF-7BCC-4A0E-BB59-51A0618C953B}" type="datetimeFigureOut">
              <a:rPr lang="en-GB" smtClean="0"/>
              <a:t>01/02/2022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8EC95-E19C-490F-89AB-A8B73DE69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772CA1-83AE-4A34-BF4B-A7305BA85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B3CED-0733-41B2-A766-E2B0C45CD0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7338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3537-C445-4727-9037-60C93C9DF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D3DB5-6585-4AAC-A1CA-00ECEDDB38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BA1195-7575-4A28-AED1-EB68A2891D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4644FE-2B7A-490A-B395-D35B4369B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15CAF-7BCC-4A0E-BB59-51A0618C953B}" type="datetimeFigureOut">
              <a:rPr lang="en-GB" smtClean="0"/>
              <a:t>01/02/2022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269224-CC0F-4CA6-ADC1-B310C804C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A01095-9C9C-4EEB-A177-5E59ACE58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B3CED-0733-41B2-A766-E2B0C45CD0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323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477D4-247D-4831-AFF9-9382C20C8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FFBC2-5619-49ED-84D6-FADE74C8E5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B4CC2C-0FBE-4F22-9198-503862A6BC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68D77C-18E9-484E-9693-8457A1D9A7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753FB3-E819-4E53-A69A-1F979E4EB2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DD8352-C251-4EBD-BA72-51ECEB7B2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15CAF-7BCC-4A0E-BB59-51A0618C953B}" type="datetimeFigureOut">
              <a:rPr lang="en-GB" smtClean="0"/>
              <a:t>01/02/2022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B3A54E-A1E8-414C-B765-443AC36E6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46D71-555D-458A-BC74-27B4A9AAE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B3CED-0733-41B2-A766-E2B0C45CD0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7448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1D586-9EAC-48BD-A050-5EA38C497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DA4841-AEF2-434E-AFBF-8D3918FC9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15CAF-7BCC-4A0E-BB59-51A0618C953B}" type="datetimeFigureOut">
              <a:rPr lang="en-GB" smtClean="0"/>
              <a:t>01/02/2022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822AD7-8979-4E35-8910-E5AFA3E89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B1553C-CD5E-41AC-B9F8-2DE38DD3A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B3CED-0733-41B2-A766-E2B0C45CD0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7242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38FDC3-56DD-4B60-95D3-DE92646F6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15CAF-7BCC-4A0E-BB59-51A0618C953B}" type="datetimeFigureOut">
              <a:rPr lang="en-GB" smtClean="0"/>
              <a:t>01/02/2022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1C466A-061B-4BEA-9A18-4EFB40881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7DEA5-6531-4B9B-A32E-EA6E47C4E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B3CED-0733-41B2-A766-E2B0C45CD0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8289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4F38B-F131-4C80-B40D-D087D2988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E65F1-868F-4AFB-AD69-3DE02C044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BCE0A2-F160-485E-A278-569EA822BE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E19DEC-9162-4D83-8E5A-1710C7338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15CAF-7BCC-4A0E-BB59-51A0618C953B}" type="datetimeFigureOut">
              <a:rPr lang="en-GB" smtClean="0"/>
              <a:t>01/02/2022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A75203-65EA-4D4B-BA32-ECD0CBB9F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363365-DE14-4C17-9F78-3EB570A7C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B3CED-0733-41B2-A766-E2B0C45CD0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5300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9760F-552D-4102-8F5E-95315A33F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F68FFC-D332-44CF-BB0C-E40A432970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BB4740-3BF7-40D4-A25B-F97E22F41E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EC5C86-E637-46DE-A5AE-60DF823CD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15CAF-7BCC-4A0E-BB59-51A0618C953B}" type="datetimeFigureOut">
              <a:rPr lang="en-GB" smtClean="0"/>
              <a:t>01/02/2022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30C61C-2D5E-401C-B615-9893889A4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A54954-8DAE-4DFA-AC4D-A03FB69B2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B3CED-0733-41B2-A766-E2B0C45CD0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7527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8916E-04AD-444F-872C-0E7BC524D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17A14B-E731-4DE3-9479-65E4B22E1B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DFDEA-5344-4AA3-AD8A-BFBBAA30E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15CAF-7BCC-4A0E-BB59-51A0618C953B}" type="datetimeFigureOut">
              <a:rPr lang="en-GB" smtClean="0"/>
              <a:t>01/02/2022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E528B-7BA3-40C9-95CC-AC1E7FB29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3C51E-B554-4083-9B90-6AC5296A4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B3CED-0733-41B2-A766-E2B0C45CD0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130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B0B800-3CC6-481B-BC25-340C3CB706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D373CB-6F5A-4E4F-97DF-BDC4720DC1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55AC13-D2D5-4F64-B4CF-5510746DB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15CAF-7BCC-4A0E-BB59-51A0618C953B}" type="datetimeFigureOut">
              <a:rPr lang="en-GB" smtClean="0"/>
              <a:t>01/02/2022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EB258-4040-43E4-A042-9163B028A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882A5-068A-4BBA-ADA1-45B08F219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B3CED-0733-41B2-A766-E2B0C45CD0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2958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30510-9673-4012-ADCE-B8FA3AB3B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68620C-7409-4CF1-87C5-ADACDC0341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31777-6169-49B5-ACDF-8E40AF381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C15CAF-7BCC-4A0E-BB59-51A0618C953B}" type="datetimeFigureOut">
              <a:rPr lang="en-GB" smtClean="0"/>
              <a:t>01/02/2022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AECEB-4768-4956-8CD1-7624C04AF9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D79B1-95DF-4207-A23F-29D5F634A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EB3CED-0733-41B2-A766-E2B0C45CD0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5837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ontentstore.cla.co.uk/secure/link?id=0469be39-e00e-eb11-80cd-005056af4099" TargetMode="External"/><Relationship Id="rId2" Type="http://schemas.openxmlformats.org/officeDocument/2006/relationships/hyperlink" Target="https://contentstore.cla.co.uk/secure/link?id=f768be39-e00e-eb11-80cd-005056af4099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youtube.com/watch?v=P5z_ofJS9zM" TargetMode="External"/><Relationship Id="rId4" Type="http://schemas.openxmlformats.org/officeDocument/2006/relationships/hyperlink" Target="https://www.youtube.com/watch?v=ZjdBM7NO7b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CC650-1A99-49B3-BE0E-BE3A148F79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Quantitative </a:t>
            </a:r>
            <a:r>
              <a:rPr lang="en-US" dirty="0"/>
              <a:t>Research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E714D7-A148-45EF-880B-89E37C62C1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Data Analysis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506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TextBox 2"/>
          <p:cNvSpPr txBox="1">
            <a:spLocks noChangeArrowheads="1"/>
          </p:cNvSpPr>
          <p:nvPr/>
        </p:nvSpPr>
        <p:spPr bwMode="auto">
          <a:xfrm>
            <a:off x="2279650" y="908721"/>
            <a:ext cx="784860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b="1" dirty="0">
              <a:solidFill>
                <a:srgbClr val="0033CC"/>
              </a:solidFill>
              <a:latin typeface="Arial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b="1" dirty="0">
                <a:solidFill>
                  <a:srgbClr val="0070C0"/>
                </a:solidFill>
                <a:latin typeface="+mn-lt"/>
              </a:rPr>
              <a:t>Measures of central tendency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dirty="0">
              <a:latin typeface="+mn-lt"/>
            </a:endParaRPr>
          </a:p>
          <a:p>
            <a:pPr marL="539750" indent="-269875">
              <a:spcBef>
                <a:spcPct val="0"/>
              </a:spcBef>
              <a:tabLst>
                <a:tab pos="539750" algn="l"/>
              </a:tabLst>
            </a:pPr>
            <a:r>
              <a:rPr lang="en-GB" altLang="en-US" sz="2400" dirty="0">
                <a:latin typeface="+mn-lt"/>
              </a:rPr>
              <a:t>Mean (add numbers, divide by the number of cases) </a:t>
            </a:r>
          </a:p>
          <a:p>
            <a:pPr marL="539750" indent="-269875">
              <a:spcBef>
                <a:spcPct val="0"/>
              </a:spcBef>
              <a:tabLst>
                <a:tab pos="539750" algn="l"/>
              </a:tabLst>
            </a:pPr>
            <a:r>
              <a:rPr lang="en-GB" altLang="en-US" sz="2400" dirty="0">
                <a:latin typeface="+mn-lt"/>
              </a:rPr>
              <a:t>Median (number in the middle - after ordering your numbers) </a:t>
            </a:r>
          </a:p>
          <a:p>
            <a:pPr marL="539750" indent="-269875">
              <a:spcBef>
                <a:spcPct val="0"/>
              </a:spcBef>
              <a:tabLst>
                <a:tab pos="539750" algn="l"/>
              </a:tabLst>
            </a:pPr>
            <a:r>
              <a:rPr lang="en-GB" altLang="en-US" sz="2400" dirty="0">
                <a:latin typeface="+mn-lt"/>
              </a:rPr>
              <a:t>Mode (the most popular number)</a:t>
            </a:r>
          </a:p>
          <a:p>
            <a:pPr marL="269875">
              <a:spcBef>
                <a:spcPct val="0"/>
              </a:spcBef>
              <a:buNone/>
              <a:tabLst>
                <a:tab pos="539750" algn="l"/>
              </a:tabLst>
            </a:pPr>
            <a:endParaRPr lang="en-GB" altLang="en-US" sz="2400" dirty="0">
              <a:latin typeface="Arial" charset="0"/>
            </a:endParaRPr>
          </a:p>
          <a:p>
            <a:pPr marL="539750" indent="-269875">
              <a:spcBef>
                <a:spcPct val="0"/>
              </a:spcBef>
              <a:tabLst>
                <a:tab pos="539750" algn="l"/>
              </a:tabLst>
            </a:pPr>
            <a:endParaRPr lang="en-GB" altLang="en-US" sz="2400" dirty="0">
              <a:latin typeface="Arial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dirty="0">
              <a:latin typeface="Arial" charset="0"/>
            </a:endParaRPr>
          </a:p>
          <a:p>
            <a:pPr marL="342900" indent="-342900">
              <a:spcBef>
                <a:spcPct val="0"/>
              </a:spcBef>
            </a:pPr>
            <a:r>
              <a:rPr lang="en-GB" altLang="en-US" sz="2400" dirty="0">
                <a:latin typeface="+mn-lt"/>
              </a:rPr>
              <a:t>What are the mean, median &amp; mode? </a:t>
            </a:r>
          </a:p>
          <a:p>
            <a:pPr marL="342900" indent="-342900">
              <a:spcBef>
                <a:spcPct val="0"/>
              </a:spcBef>
            </a:pPr>
            <a:r>
              <a:rPr lang="en-GB" altLang="en-US" sz="2400" dirty="0">
                <a:latin typeface="+mn-lt"/>
              </a:rPr>
              <a:t>Which measure is the best representation of the ‘average’ salary in the company? 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120336" y="6237313"/>
            <a:ext cx="762000" cy="365125"/>
          </a:xfrm>
        </p:spPr>
        <p:txBody>
          <a:bodyPr/>
          <a:lstStyle/>
          <a:p>
            <a:fld id="{4DBD5EF5-EEF9-488C-8BE1-88C0250ADEFF}" type="slidenum">
              <a:rPr lang="en-GB" smtClean="0"/>
              <a:t>2</a:t>
            </a:fld>
            <a:endParaRPr lang="en-GB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2279576" y="404664"/>
            <a:ext cx="8388424" cy="8801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2800" b="1" dirty="0">
                <a:solidFill>
                  <a:srgbClr val="FF0000"/>
                </a:solidFill>
                <a:latin typeface="+mn-lt"/>
              </a:rPr>
              <a:t>Analysing questionnaire returns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DC22F36-49A5-4C90-BC9A-916A25B531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3993379"/>
              </p:ext>
            </p:extLst>
          </p:nvPr>
        </p:nvGraphicFramePr>
        <p:xfrm>
          <a:off x="1919536" y="3755239"/>
          <a:ext cx="8388424" cy="731520"/>
        </p:xfrm>
        <a:graphic>
          <a:graphicData uri="http://schemas.openxmlformats.org/drawingml/2006/table">
            <a:tbl>
              <a:tblPr/>
              <a:tblGrid>
                <a:gridCol w="827580">
                  <a:extLst>
                    <a:ext uri="{9D8B030D-6E8A-4147-A177-3AD203B41FA5}">
                      <a16:colId xmlns:a16="http://schemas.microsoft.com/office/drawing/2014/main" val="3258338840"/>
                    </a:ext>
                  </a:extLst>
                </a:gridCol>
                <a:gridCol w="697588">
                  <a:extLst>
                    <a:ext uri="{9D8B030D-6E8A-4147-A177-3AD203B41FA5}">
                      <a16:colId xmlns:a16="http://schemas.microsoft.com/office/drawing/2014/main" val="3259091955"/>
                    </a:ext>
                  </a:extLst>
                </a:gridCol>
                <a:gridCol w="762584">
                  <a:extLst>
                    <a:ext uri="{9D8B030D-6E8A-4147-A177-3AD203B41FA5}">
                      <a16:colId xmlns:a16="http://schemas.microsoft.com/office/drawing/2014/main" val="258199354"/>
                    </a:ext>
                  </a:extLst>
                </a:gridCol>
                <a:gridCol w="762584">
                  <a:extLst>
                    <a:ext uri="{9D8B030D-6E8A-4147-A177-3AD203B41FA5}">
                      <a16:colId xmlns:a16="http://schemas.microsoft.com/office/drawing/2014/main" val="2073774462"/>
                    </a:ext>
                  </a:extLst>
                </a:gridCol>
                <a:gridCol w="762584">
                  <a:extLst>
                    <a:ext uri="{9D8B030D-6E8A-4147-A177-3AD203B41FA5}">
                      <a16:colId xmlns:a16="http://schemas.microsoft.com/office/drawing/2014/main" val="3160214314"/>
                    </a:ext>
                  </a:extLst>
                </a:gridCol>
                <a:gridCol w="762584">
                  <a:extLst>
                    <a:ext uri="{9D8B030D-6E8A-4147-A177-3AD203B41FA5}">
                      <a16:colId xmlns:a16="http://schemas.microsoft.com/office/drawing/2014/main" val="4121991738"/>
                    </a:ext>
                  </a:extLst>
                </a:gridCol>
                <a:gridCol w="762584">
                  <a:extLst>
                    <a:ext uri="{9D8B030D-6E8A-4147-A177-3AD203B41FA5}">
                      <a16:colId xmlns:a16="http://schemas.microsoft.com/office/drawing/2014/main" val="1674574096"/>
                    </a:ext>
                  </a:extLst>
                </a:gridCol>
                <a:gridCol w="762584">
                  <a:extLst>
                    <a:ext uri="{9D8B030D-6E8A-4147-A177-3AD203B41FA5}">
                      <a16:colId xmlns:a16="http://schemas.microsoft.com/office/drawing/2014/main" val="1232499972"/>
                    </a:ext>
                  </a:extLst>
                </a:gridCol>
                <a:gridCol w="762584">
                  <a:extLst>
                    <a:ext uri="{9D8B030D-6E8A-4147-A177-3AD203B41FA5}">
                      <a16:colId xmlns:a16="http://schemas.microsoft.com/office/drawing/2014/main" val="4109003524"/>
                    </a:ext>
                  </a:extLst>
                </a:gridCol>
                <a:gridCol w="762584">
                  <a:extLst>
                    <a:ext uri="{9D8B030D-6E8A-4147-A177-3AD203B41FA5}">
                      <a16:colId xmlns:a16="http://schemas.microsoft.com/office/drawing/2014/main" val="1128970489"/>
                    </a:ext>
                  </a:extLst>
                </a:gridCol>
                <a:gridCol w="762584">
                  <a:extLst>
                    <a:ext uri="{9D8B030D-6E8A-4147-A177-3AD203B41FA5}">
                      <a16:colId xmlns:a16="http://schemas.microsoft.com/office/drawing/2014/main" val="13016920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Staff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1759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Salary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18k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90k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7540546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254659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162"/>
    </mc:Choice>
    <mc:Fallback xmlns="">
      <p:transition spd="slow" advTm="16916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TextBox 2"/>
          <p:cNvSpPr txBox="1">
            <a:spLocks noChangeArrowheads="1"/>
          </p:cNvSpPr>
          <p:nvPr/>
        </p:nvSpPr>
        <p:spPr bwMode="auto">
          <a:xfrm>
            <a:off x="2279650" y="908721"/>
            <a:ext cx="784860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b="1" dirty="0">
              <a:solidFill>
                <a:srgbClr val="0033CC"/>
              </a:solidFill>
              <a:latin typeface="Arial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b="1" dirty="0">
                <a:solidFill>
                  <a:srgbClr val="0070C0"/>
                </a:solidFill>
                <a:latin typeface="+mn-lt"/>
              </a:rPr>
              <a:t>Measures of central tendency</a:t>
            </a:r>
            <a:r>
              <a:rPr lang="en-GB" altLang="en-US" sz="2400" dirty="0">
                <a:latin typeface="+mn-lt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dirty="0">
              <a:latin typeface="+mn-lt"/>
            </a:endParaRPr>
          </a:p>
          <a:p>
            <a:pPr marL="539750" indent="-269875">
              <a:spcBef>
                <a:spcPct val="0"/>
              </a:spcBef>
              <a:tabLst>
                <a:tab pos="539750" algn="l"/>
              </a:tabLst>
            </a:pPr>
            <a:r>
              <a:rPr lang="en-GB" altLang="en-US" sz="2400" dirty="0">
                <a:latin typeface="+mn-lt"/>
              </a:rPr>
              <a:t>Mean – 30.7</a:t>
            </a:r>
          </a:p>
          <a:p>
            <a:pPr marL="539750" indent="-269875">
              <a:spcBef>
                <a:spcPct val="0"/>
              </a:spcBef>
              <a:tabLst>
                <a:tab pos="539750" algn="l"/>
              </a:tabLst>
            </a:pPr>
            <a:r>
              <a:rPr lang="en-GB" altLang="en-US" sz="2400" dirty="0">
                <a:latin typeface="+mn-lt"/>
              </a:rPr>
              <a:t>Median/number in the middle – 15.5</a:t>
            </a:r>
          </a:p>
          <a:p>
            <a:pPr marL="539750" indent="-269875">
              <a:spcBef>
                <a:spcPct val="0"/>
              </a:spcBef>
              <a:tabLst>
                <a:tab pos="539750" algn="l"/>
              </a:tabLst>
            </a:pPr>
            <a:r>
              <a:rPr lang="en-GB" altLang="en-US" sz="2400" dirty="0">
                <a:latin typeface="+mn-lt"/>
              </a:rPr>
              <a:t>Mode - 15</a:t>
            </a:r>
          </a:p>
          <a:p>
            <a:pPr marL="539750" indent="-269875">
              <a:spcBef>
                <a:spcPct val="0"/>
              </a:spcBef>
              <a:tabLst>
                <a:tab pos="539750" algn="l"/>
              </a:tabLst>
            </a:pPr>
            <a:endParaRPr lang="en-GB" altLang="en-US" sz="2400" dirty="0">
              <a:latin typeface="Arial" charset="0"/>
            </a:endParaRPr>
          </a:p>
          <a:p>
            <a:pPr marL="539750" indent="-269875">
              <a:spcBef>
                <a:spcPct val="0"/>
              </a:spcBef>
              <a:tabLst>
                <a:tab pos="539750" algn="l"/>
              </a:tabLst>
            </a:pPr>
            <a:endParaRPr lang="en-GB" altLang="en-US" sz="2400" dirty="0">
              <a:latin typeface="Arial" charset="0"/>
            </a:endParaRPr>
          </a:p>
          <a:p>
            <a:pPr marL="539750" indent="-269875">
              <a:spcBef>
                <a:spcPct val="0"/>
              </a:spcBef>
              <a:tabLst>
                <a:tab pos="539750" algn="l"/>
              </a:tabLst>
            </a:pPr>
            <a:endParaRPr lang="en-GB" altLang="en-US" sz="2400" dirty="0">
              <a:latin typeface="Arial" charset="0"/>
            </a:endParaRPr>
          </a:p>
          <a:p>
            <a:pPr marL="539750" indent="-269875">
              <a:spcBef>
                <a:spcPct val="0"/>
              </a:spcBef>
              <a:tabLst>
                <a:tab pos="539750" algn="l"/>
              </a:tabLst>
            </a:pPr>
            <a:endParaRPr lang="en-GB" altLang="en-US" sz="2400" dirty="0">
              <a:latin typeface="Arial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dirty="0">
              <a:latin typeface="Arial" charset="0"/>
            </a:endParaRPr>
          </a:p>
          <a:p>
            <a:pPr marL="342900" indent="-342900">
              <a:spcBef>
                <a:spcPct val="0"/>
              </a:spcBef>
            </a:pPr>
            <a:r>
              <a:rPr lang="en-GB" altLang="en-US" sz="2400" dirty="0"/>
              <a:t>Which measure is the best representation of the ‘average’ salary in the company?</a:t>
            </a:r>
            <a:r>
              <a:rPr lang="en-GB" altLang="en-US" sz="2400" dirty="0">
                <a:latin typeface="+mn-lt"/>
              </a:rPr>
              <a:t> 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120336" y="6237313"/>
            <a:ext cx="762000" cy="365125"/>
          </a:xfrm>
        </p:spPr>
        <p:txBody>
          <a:bodyPr/>
          <a:lstStyle/>
          <a:p>
            <a:fld id="{4DBD5EF5-EEF9-488C-8BE1-88C0250ADEFF}" type="slidenum">
              <a:rPr lang="en-GB" smtClean="0"/>
              <a:t>3</a:t>
            </a:fld>
            <a:endParaRPr lang="en-GB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2279576" y="404664"/>
            <a:ext cx="8388424" cy="8801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2800" b="1" dirty="0">
                <a:solidFill>
                  <a:srgbClr val="FF0000"/>
                </a:solidFill>
                <a:latin typeface="+mn-lt"/>
              </a:rPr>
              <a:t>Analysing questionnaire returns</a:t>
            </a:r>
            <a:r>
              <a:rPr lang="en-GB" sz="3200" dirty="0"/>
              <a:t>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DC22F36-49A5-4C90-BC9A-916A25B531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864247"/>
              </p:ext>
            </p:extLst>
          </p:nvPr>
        </p:nvGraphicFramePr>
        <p:xfrm>
          <a:off x="1919536" y="3730072"/>
          <a:ext cx="8388424" cy="731520"/>
        </p:xfrm>
        <a:graphic>
          <a:graphicData uri="http://schemas.openxmlformats.org/drawingml/2006/table">
            <a:tbl>
              <a:tblPr/>
              <a:tblGrid>
                <a:gridCol w="827580">
                  <a:extLst>
                    <a:ext uri="{9D8B030D-6E8A-4147-A177-3AD203B41FA5}">
                      <a16:colId xmlns:a16="http://schemas.microsoft.com/office/drawing/2014/main" val="3258338840"/>
                    </a:ext>
                  </a:extLst>
                </a:gridCol>
                <a:gridCol w="697588">
                  <a:extLst>
                    <a:ext uri="{9D8B030D-6E8A-4147-A177-3AD203B41FA5}">
                      <a16:colId xmlns:a16="http://schemas.microsoft.com/office/drawing/2014/main" val="3259091955"/>
                    </a:ext>
                  </a:extLst>
                </a:gridCol>
                <a:gridCol w="762584">
                  <a:extLst>
                    <a:ext uri="{9D8B030D-6E8A-4147-A177-3AD203B41FA5}">
                      <a16:colId xmlns:a16="http://schemas.microsoft.com/office/drawing/2014/main" val="258199354"/>
                    </a:ext>
                  </a:extLst>
                </a:gridCol>
                <a:gridCol w="762584">
                  <a:extLst>
                    <a:ext uri="{9D8B030D-6E8A-4147-A177-3AD203B41FA5}">
                      <a16:colId xmlns:a16="http://schemas.microsoft.com/office/drawing/2014/main" val="2073774462"/>
                    </a:ext>
                  </a:extLst>
                </a:gridCol>
                <a:gridCol w="762584">
                  <a:extLst>
                    <a:ext uri="{9D8B030D-6E8A-4147-A177-3AD203B41FA5}">
                      <a16:colId xmlns:a16="http://schemas.microsoft.com/office/drawing/2014/main" val="3160214314"/>
                    </a:ext>
                  </a:extLst>
                </a:gridCol>
                <a:gridCol w="762584">
                  <a:extLst>
                    <a:ext uri="{9D8B030D-6E8A-4147-A177-3AD203B41FA5}">
                      <a16:colId xmlns:a16="http://schemas.microsoft.com/office/drawing/2014/main" val="4121991738"/>
                    </a:ext>
                  </a:extLst>
                </a:gridCol>
                <a:gridCol w="762584">
                  <a:extLst>
                    <a:ext uri="{9D8B030D-6E8A-4147-A177-3AD203B41FA5}">
                      <a16:colId xmlns:a16="http://schemas.microsoft.com/office/drawing/2014/main" val="1674574096"/>
                    </a:ext>
                  </a:extLst>
                </a:gridCol>
                <a:gridCol w="762584">
                  <a:extLst>
                    <a:ext uri="{9D8B030D-6E8A-4147-A177-3AD203B41FA5}">
                      <a16:colId xmlns:a16="http://schemas.microsoft.com/office/drawing/2014/main" val="1232499972"/>
                    </a:ext>
                  </a:extLst>
                </a:gridCol>
                <a:gridCol w="762584">
                  <a:extLst>
                    <a:ext uri="{9D8B030D-6E8A-4147-A177-3AD203B41FA5}">
                      <a16:colId xmlns:a16="http://schemas.microsoft.com/office/drawing/2014/main" val="4109003524"/>
                    </a:ext>
                  </a:extLst>
                </a:gridCol>
                <a:gridCol w="762584">
                  <a:extLst>
                    <a:ext uri="{9D8B030D-6E8A-4147-A177-3AD203B41FA5}">
                      <a16:colId xmlns:a16="http://schemas.microsoft.com/office/drawing/2014/main" val="1128970489"/>
                    </a:ext>
                  </a:extLst>
                </a:gridCol>
                <a:gridCol w="762584">
                  <a:extLst>
                    <a:ext uri="{9D8B030D-6E8A-4147-A177-3AD203B41FA5}">
                      <a16:colId xmlns:a16="http://schemas.microsoft.com/office/drawing/2014/main" val="13016920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Staff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1759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Salary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18k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90k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7540546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857205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8069"/>
    </mc:Choice>
    <mc:Fallback xmlns="">
      <p:transition spd="slow" advTm="1380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TextBox 2"/>
          <p:cNvSpPr txBox="1">
            <a:spLocks noChangeArrowheads="1"/>
          </p:cNvSpPr>
          <p:nvPr/>
        </p:nvSpPr>
        <p:spPr bwMode="auto">
          <a:xfrm>
            <a:off x="981512" y="908721"/>
            <a:ext cx="9146738" cy="637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b="1" dirty="0">
              <a:solidFill>
                <a:srgbClr val="0033CC"/>
              </a:solidFill>
              <a:latin typeface="Arial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b="1" dirty="0">
                <a:solidFill>
                  <a:srgbClr val="0070C0"/>
                </a:solidFill>
                <a:latin typeface="+mn-lt"/>
              </a:rPr>
              <a:t>Chi-squared calculation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dirty="0">
              <a:latin typeface="+mn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dirty="0">
                <a:latin typeface="+mn-lt"/>
              </a:rPr>
              <a:t>Is the difference between the answers of two groups of respondents statistically significant?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dirty="0">
              <a:latin typeface="+mn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dirty="0">
                <a:latin typeface="+mn-lt"/>
              </a:rPr>
              <a:t>For example is the evaluation of the success of a change by senior managers and by junior managers significantly different?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dirty="0">
              <a:latin typeface="+mn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dirty="0">
                <a:latin typeface="+mn-lt"/>
              </a:rPr>
              <a:t>Is there a significant difference between male and female respondents</a:t>
            </a:r>
            <a:r>
              <a:rPr lang="en-GB" altLang="en-US" sz="2400">
                <a:latin typeface="+mn-lt"/>
              </a:rPr>
              <a:t>’ opinions </a:t>
            </a:r>
            <a:r>
              <a:rPr lang="en-GB" altLang="en-US" sz="2400" dirty="0">
                <a:latin typeface="+mn-lt"/>
              </a:rPr>
              <a:t>of the scope for innovation in a company?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dirty="0">
              <a:latin typeface="+mn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dirty="0">
              <a:latin typeface="+mn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dirty="0">
              <a:latin typeface="+mn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dirty="0">
              <a:latin typeface="+mn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dirty="0">
              <a:latin typeface="+mn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b="1" dirty="0">
              <a:solidFill>
                <a:srgbClr val="0033CC"/>
              </a:solidFill>
              <a:latin typeface="Arial" charset="0"/>
            </a:endParaRP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120336" y="6237313"/>
            <a:ext cx="762000" cy="365125"/>
          </a:xfrm>
        </p:spPr>
        <p:txBody>
          <a:bodyPr/>
          <a:lstStyle/>
          <a:p>
            <a:fld id="{4DBD5EF5-EEF9-488C-8BE1-88C0250ADEFF}" type="slidenum">
              <a:rPr lang="en-GB" smtClean="0"/>
              <a:t>4</a:t>
            </a:fld>
            <a:endParaRPr lang="en-GB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2279576" y="404664"/>
            <a:ext cx="8388424" cy="8801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2800" b="1" dirty="0">
                <a:solidFill>
                  <a:srgbClr val="FF0000"/>
                </a:solidFill>
                <a:latin typeface="+mn-lt"/>
              </a:rPr>
              <a:t>Analysing questionnaire returns</a:t>
            </a:r>
            <a:r>
              <a:rPr lang="en-GB" sz="3200" dirty="0"/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21991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917"/>
    </mc:Choice>
    <mc:Fallback xmlns="">
      <p:transition spd="slow" advTm="7691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TextBox 2"/>
          <p:cNvSpPr txBox="1">
            <a:spLocks noChangeArrowheads="1"/>
          </p:cNvSpPr>
          <p:nvPr/>
        </p:nvSpPr>
        <p:spPr bwMode="auto">
          <a:xfrm>
            <a:off x="1098958" y="908721"/>
            <a:ext cx="9029292" cy="7848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b="1" dirty="0">
              <a:solidFill>
                <a:srgbClr val="0033CC"/>
              </a:solidFill>
              <a:latin typeface="Arial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b="1" dirty="0">
                <a:solidFill>
                  <a:srgbClr val="0070C0"/>
                </a:solidFill>
                <a:latin typeface="+mn-lt"/>
              </a:rPr>
              <a:t>Correlation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dirty="0">
              <a:latin typeface="+mn-lt"/>
            </a:endParaRPr>
          </a:p>
          <a:p>
            <a:pPr marL="342900" indent="-342900">
              <a:spcBef>
                <a:spcPct val="0"/>
              </a:spcBef>
            </a:pPr>
            <a:r>
              <a:rPr lang="en-GB" altLang="en-US" sz="2400" dirty="0">
                <a:latin typeface="+mn-lt"/>
              </a:rPr>
              <a:t>How strong is the relationship between two or more variables?</a:t>
            </a:r>
            <a:endParaRPr lang="en-GB" altLang="en-US" sz="2400" b="1" dirty="0">
              <a:solidFill>
                <a:srgbClr val="0033CC"/>
              </a:solidFill>
              <a:latin typeface="+mn-lt"/>
            </a:endParaRPr>
          </a:p>
          <a:p>
            <a:pPr marL="342900" indent="-342900">
              <a:spcBef>
                <a:spcPct val="0"/>
              </a:spcBef>
            </a:pPr>
            <a:r>
              <a:rPr lang="en-GB" altLang="en-US" sz="2400" dirty="0">
                <a:latin typeface="+mn-lt"/>
              </a:rPr>
              <a:t>Are there correlations between answers to different questions?</a:t>
            </a:r>
          </a:p>
          <a:p>
            <a:pPr marL="342900" indent="-342900">
              <a:spcBef>
                <a:spcPct val="0"/>
              </a:spcBef>
            </a:pPr>
            <a:endParaRPr lang="en-GB" altLang="en-US" sz="2400" dirty="0">
              <a:latin typeface="+mn-lt"/>
            </a:endParaRPr>
          </a:p>
          <a:p>
            <a:pPr>
              <a:spcBef>
                <a:spcPct val="0"/>
              </a:spcBef>
              <a:buNone/>
            </a:pPr>
            <a:r>
              <a:rPr lang="en-GB" altLang="en-US" sz="2400" dirty="0">
                <a:latin typeface="+mn-lt"/>
              </a:rPr>
              <a:t>For example: </a:t>
            </a:r>
          </a:p>
          <a:p>
            <a:pPr>
              <a:spcBef>
                <a:spcPct val="0"/>
              </a:spcBef>
              <a:buNone/>
            </a:pPr>
            <a:endParaRPr lang="en-GB" altLang="en-US" sz="2400" dirty="0">
              <a:latin typeface="+mn-lt"/>
            </a:endParaRPr>
          </a:p>
          <a:p>
            <a:pPr>
              <a:spcBef>
                <a:spcPct val="0"/>
              </a:spcBef>
              <a:buNone/>
            </a:pPr>
            <a:r>
              <a:rPr lang="en-GB" altLang="en-US" sz="2400" dirty="0">
                <a:latin typeface="+mn-lt"/>
              </a:rPr>
              <a:t>The length of time working in a company and a positive </a:t>
            </a:r>
            <a:r>
              <a:rPr lang="en-GB" altLang="en-US" sz="2400" dirty="0"/>
              <a:t>rating of the company’s employee relations policies</a:t>
            </a:r>
          </a:p>
          <a:p>
            <a:pPr>
              <a:spcBef>
                <a:spcPct val="0"/>
              </a:spcBef>
              <a:buNone/>
            </a:pPr>
            <a:endParaRPr lang="en-GB" altLang="en-US" sz="2400" dirty="0"/>
          </a:p>
          <a:p>
            <a:pPr>
              <a:spcBef>
                <a:spcPct val="0"/>
              </a:spcBef>
              <a:buNone/>
            </a:pPr>
            <a:r>
              <a:rPr lang="en-GB" altLang="en-US" sz="2400" dirty="0"/>
              <a:t>The age of the respondent and their attitude towards learning to use Artificial Intelligence</a:t>
            </a:r>
          </a:p>
          <a:p>
            <a:pPr>
              <a:spcBef>
                <a:spcPct val="0"/>
              </a:spcBef>
              <a:buNone/>
            </a:pPr>
            <a:endParaRPr lang="en-GB" altLang="en-US" sz="2400" dirty="0"/>
          </a:p>
          <a:p>
            <a:pPr>
              <a:spcBef>
                <a:spcPct val="0"/>
              </a:spcBef>
              <a:buNone/>
            </a:pPr>
            <a:endParaRPr lang="en-GB" altLang="en-US" sz="2400" dirty="0">
              <a:latin typeface="+mn-lt"/>
            </a:endParaRPr>
          </a:p>
          <a:p>
            <a:pPr marL="342900" indent="-342900">
              <a:spcBef>
                <a:spcPct val="0"/>
              </a:spcBef>
            </a:pPr>
            <a:endParaRPr lang="en-GB" altLang="en-US" sz="2400" dirty="0">
              <a:latin typeface="Arial" charset="0"/>
            </a:endParaRPr>
          </a:p>
          <a:p>
            <a:pPr marL="342900" indent="-342900">
              <a:spcBef>
                <a:spcPct val="0"/>
              </a:spcBef>
            </a:pPr>
            <a:endParaRPr lang="en-GB" altLang="en-US" sz="2400" dirty="0">
              <a:latin typeface="Arial" charset="0"/>
            </a:endParaRPr>
          </a:p>
          <a:p>
            <a:pPr>
              <a:spcBef>
                <a:spcPct val="0"/>
              </a:spcBef>
              <a:buNone/>
            </a:pPr>
            <a:endParaRPr lang="en-GB" altLang="en-US" sz="2400" dirty="0">
              <a:latin typeface="Arial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b="1" dirty="0">
              <a:solidFill>
                <a:srgbClr val="0033CC"/>
              </a:solidFill>
              <a:latin typeface="Arial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b="1" dirty="0">
              <a:solidFill>
                <a:srgbClr val="0033CC"/>
              </a:solidFill>
              <a:latin typeface="Arial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b="1" dirty="0">
              <a:solidFill>
                <a:srgbClr val="0033CC"/>
              </a:solidFill>
              <a:latin typeface="Arial" charset="0"/>
            </a:endParaRP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120336" y="6237313"/>
            <a:ext cx="762000" cy="365125"/>
          </a:xfrm>
        </p:spPr>
        <p:txBody>
          <a:bodyPr/>
          <a:lstStyle/>
          <a:p>
            <a:fld id="{4DBD5EF5-EEF9-488C-8BE1-88C0250ADEFF}" type="slidenum">
              <a:rPr lang="en-GB" smtClean="0"/>
              <a:t>5</a:t>
            </a:fld>
            <a:endParaRPr lang="en-GB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2279576" y="404664"/>
            <a:ext cx="8388424" cy="8801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2800" b="1" dirty="0">
                <a:solidFill>
                  <a:srgbClr val="FF0000"/>
                </a:solidFill>
                <a:latin typeface="+mn-lt"/>
              </a:rPr>
              <a:t>Analysing questionnaire returns</a:t>
            </a:r>
            <a:r>
              <a:rPr lang="en-GB" sz="3200" dirty="0"/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58336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917"/>
    </mc:Choice>
    <mc:Fallback xmlns="">
      <p:transition spd="slow" advTm="7691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4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TextBox 2"/>
          <p:cNvSpPr txBox="1">
            <a:spLocks noChangeArrowheads="1"/>
          </p:cNvSpPr>
          <p:nvPr/>
        </p:nvSpPr>
        <p:spPr bwMode="auto">
          <a:xfrm>
            <a:off x="989901" y="908721"/>
            <a:ext cx="913834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endParaRPr lang="en-GB" altLang="en-US" sz="2400" b="1" dirty="0">
              <a:solidFill>
                <a:srgbClr val="0033CC"/>
              </a:solidFill>
              <a:latin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GB" altLang="en-US" sz="2400" b="1" dirty="0">
                <a:solidFill>
                  <a:srgbClr val="0070C0"/>
                </a:solidFill>
              </a:rPr>
              <a:t>Correlation</a:t>
            </a:r>
            <a:endParaRPr lang="en-GB" altLang="en-US" sz="2400" b="1" dirty="0">
              <a:solidFill>
                <a:srgbClr val="0070C0"/>
              </a:solidFill>
              <a:latin typeface="Arial" charset="0"/>
            </a:endParaRP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120336" y="6237313"/>
            <a:ext cx="762000" cy="365125"/>
          </a:xfrm>
        </p:spPr>
        <p:txBody>
          <a:bodyPr/>
          <a:lstStyle/>
          <a:p>
            <a:fld id="{4DBD5EF5-EEF9-488C-8BE1-88C0250ADEFF}" type="slidenum">
              <a:rPr lang="en-GB" smtClean="0"/>
              <a:t>6</a:t>
            </a:fld>
            <a:endParaRPr lang="en-GB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2279576" y="404664"/>
            <a:ext cx="8388424" cy="8801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2800" b="1" dirty="0">
                <a:solidFill>
                  <a:srgbClr val="FF0000"/>
                </a:solidFill>
                <a:latin typeface="+mn-lt"/>
              </a:rPr>
              <a:t>Analysing questionnaire returns</a:t>
            </a:r>
            <a:r>
              <a:rPr lang="en-GB" sz="3200" dirty="0"/>
              <a:t> 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CD8BB9AC-2B8E-4C17-8536-64ABC09E33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634" y="2457973"/>
            <a:ext cx="11199305" cy="223986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061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917"/>
    </mc:Choice>
    <mc:Fallback xmlns="">
      <p:transition spd="slow" advTm="7691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, scatter chart&#10;&#10;Description automatically generated">
            <a:extLst>
              <a:ext uri="{FF2B5EF4-FFF2-40B4-BE49-F238E27FC236}">
                <a16:creationId xmlns:a16="http://schemas.microsoft.com/office/drawing/2014/main" id="{FE09AACF-70CB-49FA-A57D-2AF26ED397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5533" y="2380958"/>
            <a:ext cx="2695256" cy="44417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561340B-1981-4647-87B5-4BC71B205993}"/>
              </a:ext>
            </a:extLst>
          </p:cNvPr>
          <p:cNvSpPr txBox="1"/>
          <p:nvPr/>
        </p:nvSpPr>
        <p:spPr>
          <a:xfrm>
            <a:off x="620784" y="1082180"/>
            <a:ext cx="674474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 sz="2400" dirty="0">
                <a:latin typeface="+mn-lt"/>
              </a:rPr>
              <a:t>The length of time working in a company and a positive </a:t>
            </a:r>
            <a:r>
              <a:rPr lang="en-GB" altLang="en-US" sz="2400" dirty="0"/>
              <a:t>rating of the company’s employee relations policies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78557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lendar, scatter chart&#10;&#10;Description automatically generated">
            <a:extLst>
              <a:ext uri="{FF2B5EF4-FFF2-40B4-BE49-F238E27FC236}">
                <a16:creationId xmlns:a16="http://schemas.microsoft.com/office/drawing/2014/main" id="{DB3ADF78-239A-49F5-9DEE-4C64A83380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8422" y="2579848"/>
            <a:ext cx="2791845" cy="38690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436D02A-D22C-474A-B50C-48A3B830E229}"/>
              </a:ext>
            </a:extLst>
          </p:cNvPr>
          <p:cNvSpPr txBox="1"/>
          <p:nvPr/>
        </p:nvSpPr>
        <p:spPr>
          <a:xfrm>
            <a:off x="1057013" y="805343"/>
            <a:ext cx="753331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 sz="2400" dirty="0"/>
              <a:t>The age of the respondent and their attitude towards learning to use Artificial Intelligence (positive or negative)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6182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D9359F-DA3A-4029-9D62-807C48489E3B}"/>
              </a:ext>
            </a:extLst>
          </p:cNvPr>
          <p:cNvSpPr txBox="1"/>
          <p:nvPr/>
        </p:nvSpPr>
        <p:spPr>
          <a:xfrm>
            <a:off x="864066" y="620785"/>
            <a:ext cx="10368793" cy="5250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750"/>
              </a:spcAft>
            </a:pPr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</a:t>
            </a:r>
            <a:r>
              <a:rPr lang="en-GB" sz="24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urther reading/viewing</a:t>
            </a:r>
          </a:p>
          <a:p>
            <a:pPr>
              <a:lnSpc>
                <a:spcPct val="115000"/>
              </a:lnSpc>
              <a:spcAft>
                <a:spcPts val="750"/>
              </a:spcAft>
            </a:pPr>
            <a:endParaRPr lang="en-GB" dirty="0">
              <a:solidFill>
                <a:srgbClr val="000000"/>
              </a:solidFill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750"/>
              </a:spcAft>
            </a:pPr>
            <a:r>
              <a:rPr lang="en-GB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Harvey Maylor and Kate Blackmon 2005 </a:t>
            </a:r>
            <a:r>
              <a:rPr lang="en-GB" i="1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Researching Business and Management</a:t>
            </a:r>
            <a:r>
              <a:rPr lang="en-GB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Palgrave Macmillan: Basingstoke </a:t>
            </a:r>
            <a:r>
              <a:rPr lang="en-GB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ch</a:t>
            </a:r>
            <a:r>
              <a:rPr lang="en-GB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10 'Analysing quantitative data' pp. 297-322 </a:t>
            </a:r>
            <a:r>
              <a:rPr lang="en-GB" u="none" strike="noStrike" dirty="0">
                <a:solidFill>
                  <a:srgbClr val="0000F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https://contentstore.cla.co.uk/secure/link?id=f768be39-e00e-eb11-80cd-005056af4099</a:t>
            </a:r>
            <a:endParaRPr lang="en-GB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/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GB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N Salkind 2014 </a:t>
            </a:r>
            <a:r>
              <a:rPr lang="en-GB" i="1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Statistics for People Who (Think They) Hate Statistics,</a:t>
            </a:r>
            <a:r>
              <a:rPr lang="en-GB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Sage: London </a:t>
            </a:r>
            <a:r>
              <a:rPr lang="en-GB" dirty="0" err="1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ch</a:t>
            </a:r>
            <a:r>
              <a:rPr lang="en-GB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9 'Significantly Significant' pp. 169-188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GB" u="none" strike="noStrike" dirty="0">
                <a:solidFill>
                  <a:srgbClr val="0000F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https://contentstore.cla.co.uk/secure/link?id=0469be39-e00e-eb11-80cd-005056af4099</a:t>
            </a:r>
            <a:endParaRPr lang="en-GB" u="none" strike="noStrike" dirty="0">
              <a:solidFill>
                <a:srgbClr val="0000FF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>
              <a:solidFill>
                <a:srgbClr val="0000FF"/>
              </a:solidFill>
              <a:cs typeface="Times New Roman" panose="02020603050405020304" pitchFamily="18" charset="0"/>
            </a:endParaRPr>
          </a:p>
          <a:p>
            <a:r>
              <a:rPr lang="en-GB" dirty="0">
                <a:cs typeface="Times New Roman" panose="02020603050405020304" pitchFamily="18" charset="0"/>
              </a:rPr>
              <a:t>See the video lecture ‘Chi Square’</a:t>
            </a:r>
          </a:p>
          <a:p>
            <a:endParaRPr lang="en-GB" dirty="0">
              <a:cs typeface="Times New Roman" panose="02020603050405020304" pitchFamily="18" charset="0"/>
            </a:endParaRPr>
          </a:p>
          <a:p>
            <a:r>
              <a:rPr lang="en-GB" dirty="0" err="1">
                <a:cs typeface="Times New Roman" panose="02020603050405020304" pitchFamily="18" charset="0"/>
              </a:rPr>
              <a:t>StatsCast</a:t>
            </a:r>
            <a:r>
              <a:rPr lang="en-GB" dirty="0">
                <a:cs typeface="Times New Roman" panose="02020603050405020304" pitchFamily="18" charset="0"/>
              </a:rPr>
              <a:t> -</a:t>
            </a:r>
            <a:r>
              <a:rPr lang="en-GB" dirty="0">
                <a:solidFill>
                  <a:srgbClr val="0000FF"/>
                </a:solidFill>
                <a:cs typeface="Times New Roman" panose="02020603050405020304" pitchFamily="18" charset="0"/>
              </a:rPr>
              <a:t>  </a:t>
            </a:r>
            <a:r>
              <a:rPr lang="en-US" dirty="0" err="1">
                <a:hlinkClick r:id="rId4"/>
              </a:rPr>
              <a:t>StatsCast</a:t>
            </a:r>
            <a:r>
              <a:rPr lang="en-US" dirty="0">
                <a:hlinkClick r:id="rId4"/>
              </a:rPr>
              <a:t>: What is a Chi-Square? – YouTube</a:t>
            </a:r>
            <a:endParaRPr lang="en-US" dirty="0"/>
          </a:p>
          <a:p>
            <a:endParaRPr lang="en-US" dirty="0"/>
          </a:p>
          <a:p>
            <a:r>
              <a:rPr lang="en-US" dirty="0"/>
              <a:t>How to use Excel to do a Chi Square calculation - </a:t>
            </a:r>
            <a:r>
              <a:rPr lang="en-US" dirty="0">
                <a:hlinkClick r:id="rId5"/>
              </a:rPr>
              <a:t>Chi Square Test for Independence in Excel 2016 - YouTube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670864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5.4|7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4|14.6|46.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442</Words>
  <Application>Microsoft Office PowerPoint</Application>
  <PresentationFormat>Widescreen</PresentationFormat>
  <Paragraphs>126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Quantitative Research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Quanatitative Research</dc:title>
  <dc:creator>George Boak</dc:creator>
  <cp:lastModifiedBy>George Boak</cp:lastModifiedBy>
  <cp:revision>13</cp:revision>
  <dcterms:created xsi:type="dcterms:W3CDTF">2021-01-22T14:30:24Z</dcterms:created>
  <dcterms:modified xsi:type="dcterms:W3CDTF">2022-02-01T10:39:20Z</dcterms:modified>
</cp:coreProperties>
</file>