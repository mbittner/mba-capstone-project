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13"/>
  </p:notesMasterIdLst>
  <p:handoutMasterIdLst>
    <p:handoutMasterId r:id="rId14"/>
  </p:handoutMasterIdLst>
  <p:sldIdLst>
    <p:sldId id="256" r:id="rId3"/>
    <p:sldId id="321" r:id="rId4"/>
    <p:sldId id="367" r:id="rId5"/>
    <p:sldId id="368" r:id="rId6"/>
    <p:sldId id="369" r:id="rId7"/>
    <p:sldId id="370" r:id="rId8"/>
    <p:sldId id="371" r:id="rId9"/>
    <p:sldId id="372" r:id="rId10"/>
    <p:sldId id="374" r:id="rId11"/>
    <p:sldId id="373" r:id="rId12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09/10/2020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96609E-2777-4C41-9972-115547164D75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9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4F43D7-2AB1-4B36-B93A-3D4D6CE2E9A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881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23FF1A-29CB-4DE4-9474-B676DD97CA7D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5396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23FF1A-29CB-4DE4-9474-B676DD97CA7D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7925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Dissertation: </a:t>
            </a:r>
            <a:br>
              <a:rPr lang="en-US" altLang="en-US" b="1">
                <a:solidFill>
                  <a:srgbClr val="FF0000"/>
                </a:solidFill>
              </a:rPr>
            </a:br>
            <a:r>
              <a:rPr lang="en-US" altLang="en-US" b="1">
                <a:solidFill>
                  <a:srgbClr val="FF0000"/>
                </a:solidFill>
              </a:rPr>
              <a:t>Assessment criteria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40"/>
    </mc:Choice>
    <mc:Fallback xmlns="">
      <p:transition spd="slow" advTm="7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3400" y="452438"/>
            <a:ext cx="7786688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Two pieces of work: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1. The Proposal</a:t>
            </a:r>
            <a:r>
              <a:rPr lang="en-GB" altLang="en-US" sz="2400" dirty="0">
                <a:latin typeface="+mn-lt"/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A written research proposal, submitted prior to carrying out the full research.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2,000 words – 20% of marks for the module.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2. The Dissertation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A full report on your research.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12,000 words – 80% of marks for the </a:t>
            </a:r>
            <a:r>
              <a:rPr lang="en-GB" altLang="en-US" sz="2400">
                <a:latin typeface="+mn-lt"/>
                <a:cs typeface="Arial" panose="020B0604020202020204" pitchFamily="34" charset="0"/>
              </a:rPr>
              <a:t>module.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None/>
              <a:defRPr/>
            </a:pPr>
            <a:r>
              <a:rPr lang="en-GB" altLang="en-US" sz="2400" b="1">
                <a:solidFill>
                  <a:srgbClr val="FF0000"/>
                </a:solidFill>
                <a:cs typeface="Arial" panose="020B0604020202020204" pitchFamily="34" charset="0"/>
              </a:rPr>
              <a:t>Both pieces of work must = 50% or more</a:t>
            </a:r>
            <a:endParaRPr lang="en-GB" altLang="en-US" sz="24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40"/>
    </mc:Choice>
    <mc:Fallback xmlns="">
      <p:transition spd="slow" advTm="402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3400" y="452438"/>
            <a:ext cx="77866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b="1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452438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+mn-lt"/>
              </a:rPr>
              <a:t>Check the Module Handbook for the assessment criteria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38"/>
    </mc:Choice>
    <mc:Fallback xmlns="">
      <p:transition spd="slow" advTm="270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457200"/>
            <a:ext cx="7391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Proposal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Problem definition and objectives, questions, or hypothesis </a:t>
            </a:r>
            <a:r>
              <a:rPr lang="en-GB" sz="2400">
                <a:latin typeface="+mn-lt"/>
              </a:rPr>
              <a:t>- 15% of the marks: (300 words)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Literature review</a:t>
            </a:r>
            <a:r>
              <a:rPr lang="en-GB" sz="2400">
                <a:latin typeface="+mn-lt"/>
              </a:rPr>
              <a:t> - 60% of the marks: (1200 words)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Methodology</a:t>
            </a:r>
            <a:r>
              <a:rPr lang="en-GB" sz="2400">
                <a:latin typeface="+mn-lt"/>
              </a:rPr>
              <a:t> – research design, justification of methods, sampling etc. - 20% of the marks: (400 words)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Timeline </a:t>
            </a:r>
            <a:r>
              <a:rPr lang="en-GB" sz="2400">
                <a:latin typeface="+mn-lt"/>
              </a:rPr>
              <a:t>- Gantt chart or list of actions - no marks allocated, but a good idea to include this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Limitations</a:t>
            </a:r>
            <a:r>
              <a:rPr lang="en-GB" sz="2400">
                <a:latin typeface="+mn-lt"/>
              </a:rPr>
              <a:t> - 5% of the marks: (100 words)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0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5"/>
    </mc:Choice>
    <mc:Fallback xmlns="">
      <p:transition spd="slow" advTm="98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1000"/>
            <a:ext cx="76962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The Dissertation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Abstract and Introduction </a:t>
            </a:r>
            <a:r>
              <a:rPr lang="en-GB" sz="2400">
                <a:latin typeface="+mn-lt"/>
              </a:rPr>
              <a:t>- 10% of the marks. But the Abstract is not included in the word count, so the Introduction can be 1,200 words long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Literature review</a:t>
            </a:r>
            <a:r>
              <a:rPr lang="en-GB" sz="2400">
                <a:latin typeface="+mn-lt"/>
              </a:rPr>
              <a:t> and </a:t>
            </a:r>
            <a:r>
              <a:rPr lang="en-GB" sz="2400" b="1" i="1">
                <a:latin typeface="+mn-lt"/>
              </a:rPr>
              <a:t>Methodology</a:t>
            </a:r>
            <a:r>
              <a:rPr lang="en-GB" sz="2400">
                <a:latin typeface="+mn-lt"/>
              </a:rPr>
              <a:t> chapters - 40% of the marks so, logically, about 4,800 words long</a:t>
            </a:r>
          </a:p>
          <a:p>
            <a:r>
              <a:rPr lang="en-GB" sz="2400">
                <a:latin typeface="+mn-lt"/>
              </a:rPr>
              <a:t> </a:t>
            </a:r>
          </a:p>
          <a:p>
            <a:r>
              <a:rPr lang="en-GB" sz="2400" b="1" i="1">
                <a:latin typeface="+mn-lt"/>
              </a:rPr>
              <a:t>Presentation of findings, Analysis of findings in relation to published ideas,</a:t>
            </a:r>
            <a:r>
              <a:rPr lang="en-GB" sz="2400">
                <a:latin typeface="+mn-lt"/>
              </a:rPr>
              <a:t> and </a:t>
            </a:r>
            <a:r>
              <a:rPr lang="en-GB" sz="2400" b="1" i="1">
                <a:latin typeface="+mn-lt"/>
              </a:rPr>
              <a:t>Conclusions and recommendations </a:t>
            </a:r>
            <a:r>
              <a:rPr lang="en-GB" sz="2400">
                <a:latin typeface="+mn-lt"/>
              </a:rPr>
              <a:t>- 40% of the marks. These may be two chapters or three. Another 4,800 words.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 i="1">
                <a:latin typeface="+mn-lt"/>
              </a:rPr>
              <a:t>Reflection on the dissertation process </a:t>
            </a:r>
            <a:r>
              <a:rPr lang="en-GB" sz="2400">
                <a:latin typeface="+mn-lt"/>
              </a:rPr>
              <a:t>- a separate, final chapter, worth 10% of the marks, so allow about 1,200 words.</a:t>
            </a:r>
            <a:endParaRPr lang="en-GB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0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425"/>
    </mc:Choice>
    <mc:Fallback xmlns="">
      <p:transition spd="slow" advTm="664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304800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2895600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7244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2895600" y="2209800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2895600" y="29718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2895600" y="3810000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29" name="TextBox 4"/>
          <p:cNvSpPr txBox="1">
            <a:spLocks noChangeArrowheads="1"/>
          </p:cNvSpPr>
          <p:nvPr/>
        </p:nvSpPr>
        <p:spPr bwMode="auto">
          <a:xfrm>
            <a:off x="3048000" y="295275"/>
            <a:ext cx="3124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Introduction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Objectives</a:t>
            </a:r>
          </a:p>
        </p:txBody>
      </p:sp>
      <p:sp>
        <p:nvSpPr>
          <p:cNvPr id="30730" name="TextBox 5"/>
          <p:cNvSpPr txBox="1">
            <a:spLocks noChangeArrowheads="1"/>
          </p:cNvSpPr>
          <p:nvPr/>
        </p:nvSpPr>
        <p:spPr bwMode="auto">
          <a:xfrm>
            <a:off x="2971800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Literature review</a:t>
            </a:r>
          </a:p>
        </p:txBody>
      </p:sp>
      <p:sp>
        <p:nvSpPr>
          <p:cNvPr id="30731" name="TextBox 6"/>
          <p:cNvSpPr txBox="1">
            <a:spLocks noChangeArrowheads="1"/>
          </p:cNvSpPr>
          <p:nvPr/>
        </p:nvSpPr>
        <p:spPr bwMode="auto">
          <a:xfrm>
            <a:off x="2971800" y="23622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Methodology</a:t>
            </a:r>
          </a:p>
        </p:txBody>
      </p:sp>
      <p:sp>
        <p:nvSpPr>
          <p:cNvPr id="30732" name="TextBox 7"/>
          <p:cNvSpPr txBox="1">
            <a:spLocks noChangeArrowheads="1"/>
          </p:cNvSpPr>
          <p:nvPr/>
        </p:nvSpPr>
        <p:spPr bwMode="auto">
          <a:xfrm>
            <a:off x="3200400" y="31242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Findings</a:t>
            </a:r>
          </a:p>
        </p:txBody>
      </p:sp>
      <p:sp>
        <p:nvSpPr>
          <p:cNvPr id="30733" name="TextBox 8"/>
          <p:cNvSpPr txBox="1">
            <a:spLocks noChangeArrowheads="1"/>
          </p:cNvSpPr>
          <p:nvPr/>
        </p:nvSpPr>
        <p:spPr bwMode="auto">
          <a:xfrm>
            <a:off x="2971800" y="3962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Analysis</a:t>
            </a:r>
          </a:p>
        </p:txBody>
      </p:sp>
      <p:sp>
        <p:nvSpPr>
          <p:cNvPr id="30734" name="TextBox 9"/>
          <p:cNvSpPr txBox="1">
            <a:spLocks noChangeArrowheads="1"/>
          </p:cNvSpPr>
          <p:nvPr/>
        </p:nvSpPr>
        <p:spPr bwMode="auto">
          <a:xfrm>
            <a:off x="3124200" y="48768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Conclusions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56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36" name="TextBox 7"/>
          <p:cNvSpPr txBox="1">
            <a:spLocks noChangeArrowheads="1"/>
          </p:cNvSpPr>
          <p:nvPr/>
        </p:nvSpPr>
        <p:spPr bwMode="auto">
          <a:xfrm>
            <a:off x="3124200" y="595471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Reflections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971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935"/>
    </mc:Choice>
    <mc:Fallback xmlns="">
      <p:transition spd="slow" advTm="679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1" grpId="0" animBg="1"/>
      <p:bldP spid="30733" grpId="0"/>
      <p:bldP spid="16" grpId="0" animBg="1"/>
      <p:bldP spid="307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304800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2895600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7244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2895600" y="2209800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2895600" y="29718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2895600" y="3810000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29" name="TextBox 4"/>
          <p:cNvSpPr txBox="1">
            <a:spLocks noChangeArrowheads="1"/>
          </p:cNvSpPr>
          <p:nvPr/>
        </p:nvSpPr>
        <p:spPr bwMode="auto">
          <a:xfrm>
            <a:off x="3048000" y="295275"/>
            <a:ext cx="3124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Introduction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Objectives</a:t>
            </a:r>
          </a:p>
        </p:txBody>
      </p:sp>
      <p:sp>
        <p:nvSpPr>
          <p:cNvPr id="30730" name="TextBox 5"/>
          <p:cNvSpPr txBox="1">
            <a:spLocks noChangeArrowheads="1"/>
          </p:cNvSpPr>
          <p:nvPr/>
        </p:nvSpPr>
        <p:spPr bwMode="auto">
          <a:xfrm>
            <a:off x="2971800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Literature review</a:t>
            </a:r>
          </a:p>
        </p:txBody>
      </p:sp>
      <p:sp>
        <p:nvSpPr>
          <p:cNvPr id="30731" name="TextBox 6"/>
          <p:cNvSpPr txBox="1">
            <a:spLocks noChangeArrowheads="1"/>
          </p:cNvSpPr>
          <p:nvPr/>
        </p:nvSpPr>
        <p:spPr bwMode="auto">
          <a:xfrm>
            <a:off x="2971800" y="23622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Methodology</a:t>
            </a:r>
          </a:p>
        </p:txBody>
      </p:sp>
      <p:sp>
        <p:nvSpPr>
          <p:cNvPr id="30732" name="TextBox 7"/>
          <p:cNvSpPr txBox="1">
            <a:spLocks noChangeArrowheads="1"/>
          </p:cNvSpPr>
          <p:nvPr/>
        </p:nvSpPr>
        <p:spPr bwMode="auto">
          <a:xfrm>
            <a:off x="3200400" y="31242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Findings</a:t>
            </a:r>
          </a:p>
        </p:txBody>
      </p:sp>
      <p:sp>
        <p:nvSpPr>
          <p:cNvPr id="30733" name="TextBox 8"/>
          <p:cNvSpPr txBox="1">
            <a:spLocks noChangeArrowheads="1"/>
          </p:cNvSpPr>
          <p:nvPr/>
        </p:nvSpPr>
        <p:spPr bwMode="auto">
          <a:xfrm>
            <a:off x="2971800" y="3962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Analysis</a:t>
            </a:r>
          </a:p>
        </p:txBody>
      </p:sp>
      <p:sp>
        <p:nvSpPr>
          <p:cNvPr id="30734" name="TextBox 9"/>
          <p:cNvSpPr txBox="1">
            <a:spLocks noChangeArrowheads="1"/>
          </p:cNvSpPr>
          <p:nvPr/>
        </p:nvSpPr>
        <p:spPr bwMode="auto">
          <a:xfrm>
            <a:off x="3124200" y="48768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Conclusions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56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36" name="TextBox 7"/>
          <p:cNvSpPr txBox="1">
            <a:spLocks noChangeArrowheads="1"/>
          </p:cNvSpPr>
          <p:nvPr/>
        </p:nvSpPr>
        <p:spPr bwMode="auto">
          <a:xfrm>
            <a:off x="3124200" y="595471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Reflections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511A19E-4B17-442B-B7CE-4359E9CFC1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9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470"/>
    </mc:Choice>
    <mc:Fallback>
      <p:transition spd="slow" advTm="174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792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Marking process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>
                <a:solidFill>
                  <a:srgbClr val="0000FF"/>
                </a:solidFill>
                <a:latin typeface="+mn-lt"/>
              </a:rPr>
              <a:t>Proposals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Proposals are all marked by a small group of RKC tutors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Proposals are moderated by the Module Director in York St John University</a:t>
            </a:r>
          </a:p>
          <a:p>
            <a:endParaRPr lang="en-GB" sz="2400">
              <a:latin typeface="+mn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420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43"/>
    </mc:Choice>
    <mc:Fallback xmlns="">
      <p:transition spd="slow" advTm="330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7924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Marking process</a:t>
            </a:r>
          </a:p>
          <a:p>
            <a:endParaRPr lang="en-GB" sz="2400">
              <a:latin typeface="+mn-lt"/>
            </a:endParaRPr>
          </a:p>
          <a:p>
            <a:r>
              <a:rPr lang="en-GB" sz="2400" b="1">
                <a:solidFill>
                  <a:srgbClr val="0000FF"/>
                </a:solidFill>
                <a:latin typeface="+mn-lt"/>
              </a:rPr>
              <a:t>Dissertations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Dissertations are first-marked by your supervisor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They are then blind second-marked by another RKC tutor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Agreement is reached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They are then moderated by the Module Director in York St John University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If you fail, you will have one further opportunity to resubmit, for a maximum mark of 50%.</a:t>
            </a:r>
          </a:p>
          <a:p>
            <a:endParaRPr lang="en-GB" sz="2400">
              <a:latin typeface="+mn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089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56"/>
    </mc:Choice>
    <mc:Fallback xmlns="">
      <p:transition spd="slow" advTm="41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381000"/>
            <a:ext cx="7620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Awarding the degree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The marks are presented to a Business School exam board and then the University Exam Board.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The University Exam Board meets three times a year - February, June, September. When it has agreed your mark, you will be formally notified that you have been awarded the degree.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There is only one graduation ceremony a year - in November, in York. You will be invited to the next ceremony after you have been awarded the degree.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5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86"/>
    </mc:Choice>
    <mc:Fallback xmlns="">
      <p:transition spd="slow" advTm="370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1.2|12.5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3052</TotalTime>
  <Words>474</Words>
  <Application>Microsoft Office PowerPoint</Application>
  <PresentationFormat>On-screen Show (4:3)</PresentationFormat>
  <Paragraphs>86</Paragraphs>
  <Slides>10</Slides>
  <Notes>4</Notes>
  <HiddenSlides>0</HiddenSlides>
  <MMClips>10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Office Theme</vt:lpstr>
      <vt:lpstr>1_Office Theme</vt:lpstr>
      <vt:lpstr>The Dissertation:  Assessment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144</cp:revision>
  <cp:lastPrinted>2015-04-12T10:54:10Z</cp:lastPrinted>
  <dcterms:created xsi:type="dcterms:W3CDTF">2005-09-18T18:21:05Z</dcterms:created>
  <dcterms:modified xsi:type="dcterms:W3CDTF">2020-10-09T10:45:57Z</dcterms:modified>
</cp:coreProperties>
</file>