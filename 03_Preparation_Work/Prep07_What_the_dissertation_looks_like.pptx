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10"/>
  </p:notesMasterIdLst>
  <p:handoutMasterIdLst>
    <p:handoutMasterId r:id="rId11"/>
  </p:handoutMasterIdLst>
  <p:sldIdLst>
    <p:sldId id="256" r:id="rId3"/>
    <p:sldId id="300" r:id="rId4"/>
    <p:sldId id="350" r:id="rId5"/>
    <p:sldId id="385" r:id="rId6"/>
    <p:sldId id="386" r:id="rId7"/>
    <p:sldId id="387" r:id="rId8"/>
    <p:sldId id="388" r:id="rId9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78" d="100"/>
          <a:sy n="78" d="100"/>
        </p:scale>
        <p:origin x="13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15/04/2020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D2F226-4623-42C9-911E-3126B077695D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60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23FF1A-29CB-4DE4-9474-B676DD97CA7D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82408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3334E9-54B7-4FE7-9A42-8A1823900647}" type="slidenum">
              <a:rPr lang="en-GB" altLang="en-US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3369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22F971-FAF4-4ADE-B7EA-1838F9C4C079}" type="slidenum">
              <a:rPr lang="en-GB" altLang="en-US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0376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863676-E7F0-4230-BCF6-580B557F8DBE}" type="slidenum">
              <a:rPr lang="en-GB" altLang="en-US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389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</a:t>
            </a:r>
            <a:r>
              <a:rPr lang="en-US" altLang="en-US" b="1" smtClean="0">
                <a:solidFill>
                  <a:srgbClr val="FF0000"/>
                </a:solidFill>
              </a:rPr>
              <a:t>Dissertation:</a:t>
            </a:r>
            <a:br>
              <a:rPr lang="en-US" altLang="en-US" b="1" smtClean="0">
                <a:solidFill>
                  <a:srgbClr val="FF0000"/>
                </a:solidFill>
              </a:rPr>
            </a:br>
            <a:r>
              <a:rPr lang="en-US" altLang="en-US" b="1" smtClean="0">
                <a:solidFill>
                  <a:srgbClr val="FF0000"/>
                </a:solidFill>
              </a:rPr>
              <a:t>What the dissertation looks like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764"/>
    </mc:Choice>
    <mc:Fallback>
      <p:transition spd="slow" advTm="87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"/>
          <p:cNvSpPr txBox="1">
            <a:spLocks noChangeArrowheads="1"/>
          </p:cNvSpPr>
          <p:nvPr/>
        </p:nvSpPr>
        <p:spPr bwMode="auto">
          <a:xfrm>
            <a:off x="685800" y="838200"/>
            <a:ext cx="7924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GB" sz="2800" smtClean="0"/>
              <a:t>Examples of great dissertations are available for you to read</a:t>
            </a:r>
            <a:endParaRPr lang="en-GB" sz="28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282"/>
    </mc:Choice>
    <mc:Fallback>
      <p:transition spd="slow" advTm="2028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0"/>
          <p:cNvSpPr txBox="1">
            <a:spLocks noChangeArrowheads="1"/>
          </p:cNvSpPr>
          <p:nvPr/>
        </p:nvSpPr>
        <p:spPr bwMode="auto">
          <a:xfrm>
            <a:off x="152400" y="1455738"/>
            <a:ext cx="25130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GB" altLang="en-US" sz="2400" b="1">
                <a:latin typeface="+mn-lt"/>
                <a:cs typeface="Arial" panose="020B0604020202020204" pitchFamily="34" charset="0"/>
              </a:rPr>
              <a:t>The way the different parts of the </a:t>
            </a:r>
            <a:r>
              <a:rPr lang="en-GB" altLang="en-US" sz="2400" b="1" smtClean="0">
                <a:latin typeface="+mn-lt"/>
                <a:cs typeface="Arial" panose="020B0604020202020204" pitchFamily="34" charset="0"/>
              </a:rPr>
              <a:t>dissertation </a:t>
            </a:r>
            <a:r>
              <a:rPr lang="en-GB" altLang="en-US" sz="2400" b="1">
                <a:latin typeface="+mn-lt"/>
                <a:cs typeface="Arial" panose="020B0604020202020204" pitchFamily="34" charset="0"/>
              </a:rPr>
              <a:t>fit together</a:t>
            </a:r>
            <a:endParaRPr lang="en-GB" altLang="en-US" sz="2400">
              <a:latin typeface="+mn-lt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95600" y="3048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2895600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7244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2895600" y="22098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2895600" y="29718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2895600" y="38100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29" name="TextBox 4"/>
          <p:cNvSpPr txBox="1">
            <a:spLocks noChangeArrowheads="1"/>
          </p:cNvSpPr>
          <p:nvPr/>
        </p:nvSpPr>
        <p:spPr bwMode="auto">
          <a:xfrm>
            <a:off x="3048000" y="295275"/>
            <a:ext cx="3124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Introduction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Objectives</a:t>
            </a:r>
          </a:p>
        </p:txBody>
      </p:sp>
      <p:sp>
        <p:nvSpPr>
          <p:cNvPr id="30730" name="TextBox 5"/>
          <p:cNvSpPr txBox="1">
            <a:spLocks noChangeArrowheads="1"/>
          </p:cNvSpPr>
          <p:nvPr/>
        </p:nvSpPr>
        <p:spPr bwMode="auto">
          <a:xfrm>
            <a:off x="2971800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Literature review</a:t>
            </a:r>
          </a:p>
        </p:txBody>
      </p:sp>
      <p:sp>
        <p:nvSpPr>
          <p:cNvPr id="30731" name="TextBox 6"/>
          <p:cNvSpPr txBox="1">
            <a:spLocks noChangeArrowheads="1"/>
          </p:cNvSpPr>
          <p:nvPr/>
        </p:nvSpPr>
        <p:spPr bwMode="auto">
          <a:xfrm>
            <a:off x="2971800" y="23622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Methodology</a:t>
            </a:r>
          </a:p>
        </p:txBody>
      </p:sp>
      <p:sp>
        <p:nvSpPr>
          <p:cNvPr id="30732" name="TextBox 7"/>
          <p:cNvSpPr txBox="1">
            <a:spLocks noChangeArrowheads="1"/>
          </p:cNvSpPr>
          <p:nvPr/>
        </p:nvSpPr>
        <p:spPr bwMode="auto">
          <a:xfrm>
            <a:off x="3200400" y="3124200"/>
            <a:ext cx="2819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Findings</a:t>
            </a:r>
          </a:p>
        </p:txBody>
      </p:sp>
      <p:sp>
        <p:nvSpPr>
          <p:cNvPr id="30733" name="TextBox 8"/>
          <p:cNvSpPr txBox="1">
            <a:spLocks noChangeArrowheads="1"/>
          </p:cNvSpPr>
          <p:nvPr/>
        </p:nvSpPr>
        <p:spPr bwMode="auto">
          <a:xfrm>
            <a:off x="2971800" y="39624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Analysis</a:t>
            </a:r>
          </a:p>
        </p:txBody>
      </p:sp>
      <p:sp>
        <p:nvSpPr>
          <p:cNvPr id="30734" name="TextBox 9"/>
          <p:cNvSpPr txBox="1">
            <a:spLocks noChangeArrowheads="1"/>
          </p:cNvSpPr>
          <p:nvPr/>
        </p:nvSpPr>
        <p:spPr bwMode="auto">
          <a:xfrm>
            <a:off x="3124200" y="48768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Conclusions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56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736" name="TextBox 7"/>
          <p:cNvSpPr txBox="1">
            <a:spLocks noChangeArrowheads="1"/>
          </p:cNvSpPr>
          <p:nvPr/>
        </p:nvSpPr>
        <p:spPr bwMode="auto">
          <a:xfrm>
            <a:off x="3124200" y="595471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>
                <a:latin typeface="+mn-lt"/>
              </a:rPr>
              <a:t>Reflections</a:t>
            </a: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984"/>
    </mc:Choice>
    <mc:Fallback>
      <p:transition spd="slow" advTm="1019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9363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179388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8768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5651500" y="1450975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5322888" y="38989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457200" y="4022725"/>
            <a:ext cx="299085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2776" name="TextBox 4"/>
          <p:cNvSpPr txBox="1">
            <a:spLocks noChangeArrowheads="1"/>
          </p:cNvSpPr>
          <p:nvPr/>
        </p:nvSpPr>
        <p:spPr bwMode="auto">
          <a:xfrm>
            <a:off x="2987675" y="2638425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Objectives</a:t>
            </a:r>
          </a:p>
        </p:txBody>
      </p:sp>
      <p:sp>
        <p:nvSpPr>
          <p:cNvPr id="32777" name="TextBox 5"/>
          <p:cNvSpPr txBox="1">
            <a:spLocks noChangeArrowheads="1"/>
          </p:cNvSpPr>
          <p:nvPr/>
        </p:nvSpPr>
        <p:spPr bwMode="auto">
          <a:xfrm>
            <a:off x="219075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Literature review</a:t>
            </a:r>
          </a:p>
        </p:txBody>
      </p:sp>
      <p:sp>
        <p:nvSpPr>
          <p:cNvPr id="32778" name="TextBox 6"/>
          <p:cNvSpPr txBox="1">
            <a:spLocks noChangeArrowheads="1"/>
          </p:cNvSpPr>
          <p:nvPr/>
        </p:nvSpPr>
        <p:spPr bwMode="auto">
          <a:xfrm>
            <a:off x="5768975" y="1546225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Methodology</a:t>
            </a:r>
          </a:p>
        </p:txBody>
      </p:sp>
      <p:sp>
        <p:nvSpPr>
          <p:cNvPr id="32779" name="TextBox 7"/>
          <p:cNvSpPr txBox="1">
            <a:spLocks noChangeArrowheads="1"/>
          </p:cNvSpPr>
          <p:nvPr/>
        </p:nvSpPr>
        <p:spPr bwMode="auto">
          <a:xfrm>
            <a:off x="5651500" y="400526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Findings</a:t>
            </a:r>
          </a:p>
        </p:txBody>
      </p:sp>
      <p:sp>
        <p:nvSpPr>
          <p:cNvPr id="32780" name="TextBox 8"/>
          <p:cNvSpPr txBox="1">
            <a:spLocks noChangeArrowheads="1"/>
          </p:cNvSpPr>
          <p:nvPr/>
        </p:nvSpPr>
        <p:spPr bwMode="auto">
          <a:xfrm>
            <a:off x="457200" y="4114800"/>
            <a:ext cx="2895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Analysis</a:t>
            </a:r>
          </a:p>
        </p:txBody>
      </p:sp>
      <p:sp>
        <p:nvSpPr>
          <p:cNvPr id="32781" name="TextBox 9"/>
          <p:cNvSpPr txBox="1">
            <a:spLocks noChangeArrowheads="1"/>
          </p:cNvSpPr>
          <p:nvPr/>
        </p:nvSpPr>
        <p:spPr bwMode="auto">
          <a:xfrm>
            <a:off x="3124200" y="50292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213" y="333375"/>
            <a:ext cx="3352800" cy="431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2783" name="TextBox 4"/>
          <p:cNvSpPr txBox="1">
            <a:spLocks noChangeArrowheads="1"/>
          </p:cNvSpPr>
          <p:nvPr/>
        </p:nvSpPr>
        <p:spPr bwMode="auto">
          <a:xfrm>
            <a:off x="2987675" y="344488"/>
            <a:ext cx="312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Introduction</a:t>
            </a:r>
          </a:p>
        </p:txBody>
      </p:sp>
      <p:sp>
        <p:nvSpPr>
          <p:cNvPr id="17" name="Bent Arrow 16"/>
          <p:cNvSpPr/>
          <p:nvPr/>
        </p:nvSpPr>
        <p:spPr>
          <a:xfrm rot="16200000">
            <a:off x="2339976" y="2205037"/>
            <a:ext cx="863600" cy="57467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6100" y="765175"/>
            <a:ext cx="287338" cy="180022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Down Arrow 19"/>
          <p:cNvSpPr/>
          <p:nvPr/>
        </p:nvSpPr>
        <p:spPr>
          <a:xfrm>
            <a:off x="4356100" y="3357563"/>
            <a:ext cx="287338" cy="1473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Bent Arrow 21"/>
          <p:cNvSpPr/>
          <p:nvPr/>
        </p:nvSpPr>
        <p:spPr>
          <a:xfrm rot="5400000">
            <a:off x="6046788" y="3105150"/>
            <a:ext cx="1009650" cy="647700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2195512" y="3213101"/>
            <a:ext cx="936625" cy="647700"/>
          </a:xfrm>
          <a:prstGeom prst="bentArrow">
            <a:avLst>
              <a:gd name="adj1" fmla="val 25000"/>
              <a:gd name="adj2" fmla="val 29267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19812" y="2168526"/>
            <a:ext cx="792163" cy="57626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971800" y="59436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2791" name="TextBox 9"/>
          <p:cNvSpPr txBox="1">
            <a:spLocks noChangeArrowheads="1"/>
          </p:cNvSpPr>
          <p:nvPr/>
        </p:nvSpPr>
        <p:spPr bwMode="auto">
          <a:xfrm>
            <a:off x="3048000" y="60198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Reflections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65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854"/>
    </mc:Choice>
    <mc:Fallback>
      <p:transition spd="slow" advTm="338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9363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179388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8768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5651500" y="1450975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5322888" y="38989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511175" y="4038600"/>
            <a:ext cx="2981325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824" name="TextBox 4"/>
          <p:cNvSpPr txBox="1">
            <a:spLocks noChangeArrowheads="1"/>
          </p:cNvSpPr>
          <p:nvPr/>
        </p:nvSpPr>
        <p:spPr bwMode="auto">
          <a:xfrm>
            <a:off x="2987675" y="2638425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Objectives</a:t>
            </a:r>
          </a:p>
        </p:txBody>
      </p:sp>
      <p:sp>
        <p:nvSpPr>
          <p:cNvPr id="34825" name="TextBox 5"/>
          <p:cNvSpPr txBox="1">
            <a:spLocks noChangeArrowheads="1"/>
          </p:cNvSpPr>
          <p:nvPr/>
        </p:nvSpPr>
        <p:spPr bwMode="auto">
          <a:xfrm>
            <a:off x="219075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Literature review</a:t>
            </a:r>
          </a:p>
        </p:txBody>
      </p:sp>
      <p:sp>
        <p:nvSpPr>
          <p:cNvPr id="34826" name="TextBox 6"/>
          <p:cNvSpPr txBox="1">
            <a:spLocks noChangeArrowheads="1"/>
          </p:cNvSpPr>
          <p:nvPr/>
        </p:nvSpPr>
        <p:spPr bwMode="auto">
          <a:xfrm>
            <a:off x="5768975" y="1546225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Methodology</a:t>
            </a:r>
          </a:p>
        </p:txBody>
      </p:sp>
      <p:sp>
        <p:nvSpPr>
          <p:cNvPr id="34827" name="TextBox 7"/>
          <p:cNvSpPr txBox="1">
            <a:spLocks noChangeArrowheads="1"/>
          </p:cNvSpPr>
          <p:nvPr/>
        </p:nvSpPr>
        <p:spPr bwMode="auto">
          <a:xfrm>
            <a:off x="5651500" y="400526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Findings</a:t>
            </a:r>
          </a:p>
        </p:txBody>
      </p:sp>
      <p:sp>
        <p:nvSpPr>
          <p:cNvPr id="34828" name="TextBox 8"/>
          <p:cNvSpPr txBox="1">
            <a:spLocks noChangeArrowheads="1"/>
          </p:cNvSpPr>
          <p:nvPr/>
        </p:nvSpPr>
        <p:spPr bwMode="auto">
          <a:xfrm>
            <a:off x="685800" y="4114800"/>
            <a:ext cx="2362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Analysis</a:t>
            </a:r>
          </a:p>
        </p:txBody>
      </p:sp>
      <p:sp>
        <p:nvSpPr>
          <p:cNvPr id="34829" name="TextBox 9"/>
          <p:cNvSpPr txBox="1">
            <a:spLocks noChangeArrowheads="1"/>
          </p:cNvSpPr>
          <p:nvPr/>
        </p:nvSpPr>
        <p:spPr bwMode="auto">
          <a:xfrm>
            <a:off x="3124200" y="50292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213" y="333375"/>
            <a:ext cx="3352800" cy="431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831" name="TextBox 4"/>
          <p:cNvSpPr txBox="1">
            <a:spLocks noChangeArrowheads="1"/>
          </p:cNvSpPr>
          <p:nvPr/>
        </p:nvSpPr>
        <p:spPr bwMode="auto">
          <a:xfrm>
            <a:off x="2987675" y="344488"/>
            <a:ext cx="312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Introduction</a:t>
            </a:r>
          </a:p>
        </p:txBody>
      </p:sp>
      <p:sp>
        <p:nvSpPr>
          <p:cNvPr id="17" name="Bent Arrow 16"/>
          <p:cNvSpPr/>
          <p:nvPr/>
        </p:nvSpPr>
        <p:spPr>
          <a:xfrm rot="16200000">
            <a:off x="2339976" y="2205037"/>
            <a:ext cx="863600" cy="57467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6100" y="765175"/>
            <a:ext cx="287338" cy="180022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Down Arrow 19"/>
          <p:cNvSpPr/>
          <p:nvPr/>
        </p:nvSpPr>
        <p:spPr>
          <a:xfrm>
            <a:off x="4356100" y="3357563"/>
            <a:ext cx="287338" cy="1473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Bent Arrow 21"/>
          <p:cNvSpPr/>
          <p:nvPr/>
        </p:nvSpPr>
        <p:spPr>
          <a:xfrm rot="5400000">
            <a:off x="6046788" y="3105150"/>
            <a:ext cx="1009650" cy="647700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2195512" y="3213101"/>
            <a:ext cx="936625" cy="647700"/>
          </a:xfrm>
          <a:prstGeom prst="bentArrow">
            <a:avLst>
              <a:gd name="adj1" fmla="val 25000"/>
              <a:gd name="adj2" fmla="val 29267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19812" y="2168526"/>
            <a:ext cx="792163" cy="57626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9337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839" name="TextBox 9"/>
          <p:cNvSpPr txBox="1">
            <a:spLocks noChangeArrowheads="1"/>
          </p:cNvSpPr>
          <p:nvPr/>
        </p:nvSpPr>
        <p:spPr bwMode="auto">
          <a:xfrm>
            <a:off x="3048000" y="59436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Reflections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2500" y="1557338"/>
            <a:ext cx="2159000" cy="28733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Right Arrow 32"/>
          <p:cNvSpPr/>
          <p:nvPr/>
        </p:nvSpPr>
        <p:spPr>
          <a:xfrm rot="5400000">
            <a:off x="359569" y="2888456"/>
            <a:ext cx="1944688" cy="2889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" name="Right Arrow 33"/>
          <p:cNvSpPr/>
          <p:nvPr/>
        </p:nvSpPr>
        <p:spPr>
          <a:xfrm rot="5400000">
            <a:off x="6911975" y="2889250"/>
            <a:ext cx="1873250" cy="2159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" name="Right Arrow 35"/>
          <p:cNvSpPr/>
          <p:nvPr/>
        </p:nvSpPr>
        <p:spPr>
          <a:xfrm rot="10800000">
            <a:off x="3505200" y="4038600"/>
            <a:ext cx="1817688" cy="287338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7" name="Bent Arrow 36"/>
          <p:cNvSpPr/>
          <p:nvPr/>
        </p:nvSpPr>
        <p:spPr>
          <a:xfrm flipV="1">
            <a:off x="1905000" y="4648200"/>
            <a:ext cx="1054100" cy="762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6616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36209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822"/>
    </mc:Choice>
    <mc:Fallback>
      <p:transition spd="slow" advTm="768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2" grpId="0" animBg="1"/>
      <p:bldP spid="33" grpId="0" animBg="1"/>
      <p:bldP spid="34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9363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179388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8768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5651500" y="1450975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5322888" y="38989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511175" y="4038600"/>
            <a:ext cx="2981325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72" name="TextBox 4"/>
          <p:cNvSpPr txBox="1">
            <a:spLocks noChangeArrowheads="1"/>
          </p:cNvSpPr>
          <p:nvPr/>
        </p:nvSpPr>
        <p:spPr bwMode="auto">
          <a:xfrm>
            <a:off x="2987675" y="2638425"/>
            <a:ext cx="3124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Research question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Objectives</a:t>
            </a:r>
          </a:p>
        </p:txBody>
      </p:sp>
      <p:sp>
        <p:nvSpPr>
          <p:cNvPr id="36873" name="TextBox 5"/>
          <p:cNvSpPr txBox="1">
            <a:spLocks noChangeArrowheads="1"/>
          </p:cNvSpPr>
          <p:nvPr/>
        </p:nvSpPr>
        <p:spPr bwMode="auto">
          <a:xfrm>
            <a:off x="219075" y="1600200"/>
            <a:ext cx="3200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Literature review</a:t>
            </a:r>
          </a:p>
        </p:txBody>
      </p:sp>
      <p:sp>
        <p:nvSpPr>
          <p:cNvPr id="36874" name="TextBox 6"/>
          <p:cNvSpPr txBox="1">
            <a:spLocks noChangeArrowheads="1"/>
          </p:cNvSpPr>
          <p:nvPr/>
        </p:nvSpPr>
        <p:spPr bwMode="auto">
          <a:xfrm>
            <a:off x="5768975" y="1546225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Methodology</a:t>
            </a:r>
          </a:p>
        </p:txBody>
      </p:sp>
      <p:sp>
        <p:nvSpPr>
          <p:cNvPr id="36875" name="TextBox 7"/>
          <p:cNvSpPr txBox="1">
            <a:spLocks noChangeArrowheads="1"/>
          </p:cNvSpPr>
          <p:nvPr/>
        </p:nvSpPr>
        <p:spPr bwMode="auto">
          <a:xfrm>
            <a:off x="5651500" y="400526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Findings</a:t>
            </a:r>
          </a:p>
        </p:txBody>
      </p:sp>
      <p:sp>
        <p:nvSpPr>
          <p:cNvPr id="36876" name="TextBox 8"/>
          <p:cNvSpPr txBox="1">
            <a:spLocks noChangeArrowheads="1"/>
          </p:cNvSpPr>
          <p:nvPr/>
        </p:nvSpPr>
        <p:spPr bwMode="auto">
          <a:xfrm>
            <a:off x="685800" y="4114800"/>
            <a:ext cx="2362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Analysis</a:t>
            </a:r>
          </a:p>
        </p:txBody>
      </p:sp>
      <p:sp>
        <p:nvSpPr>
          <p:cNvPr id="36877" name="TextBox 9"/>
          <p:cNvSpPr txBox="1">
            <a:spLocks noChangeArrowheads="1"/>
          </p:cNvSpPr>
          <p:nvPr/>
        </p:nvSpPr>
        <p:spPr bwMode="auto">
          <a:xfrm>
            <a:off x="3124200" y="50292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213" y="333375"/>
            <a:ext cx="3352800" cy="431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79" name="TextBox 4"/>
          <p:cNvSpPr txBox="1">
            <a:spLocks noChangeArrowheads="1"/>
          </p:cNvSpPr>
          <p:nvPr/>
        </p:nvSpPr>
        <p:spPr bwMode="auto">
          <a:xfrm>
            <a:off x="2987675" y="344488"/>
            <a:ext cx="312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Introduction</a:t>
            </a:r>
          </a:p>
        </p:txBody>
      </p:sp>
      <p:sp>
        <p:nvSpPr>
          <p:cNvPr id="17" name="Bent Arrow 16"/>
          <p:cNvSpPr/>
          <p:nvPr/>
        </p:nvSpPr>
        <p:spPr>
          <a:xfrm rot="16200000">
            <a:off x="2339976" y="2205037"/>
            <a:ext cx="863600" cy="574675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6100" y="765175"/>
            <a:ext cx="287338" cy="180022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0" name="Down Arrow 19"/>
          <p:cNvSpPr/>
          <p:nvPr/>
        </p:nvSpPr>
        <p:spPr>
          <a:xfrm>
            <a:off x="4356100" y="3357563"/>
            <a:ext cx="287338" cy="1473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" name="Bent Arrow 21"/>
          <p:cNvSpPr/>
          <p:nvPr/>
        </p:nvSpPr>
        <p:spPr>
          <a:xfrm rot="5400000">
            <a:off x="6046788" y="3105150"/>
            <a:ext cx="1009650" cy="647700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2195512" y="3213101"/>
            <a:ext cx="936625" cy="647700"/>
          </a:xfrm>
          <a:prstGeom prst="bentArrow">
            <a:avLst>
              <a:gd name="adj1" fmla="val 25000"/>
              <a:gd name="adj2" fmla="val 29267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19812" y="2168526"/>
            <a:ext cx="792163" cy="57626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933700" y="5867400"/>
            <a:ext cx="3352800" cy="609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887" name="TextBox 9"/>
          <p:cNvSpPr txBox="1">
            <a:spLocks noChangeArrowheads="1"/>
          </p:cNvSpPr>
          <p:nvPr/>
        </p:nvSpPr>
        <p:spPr bwMode="auto">
          <a:xfrm>
            <a:off x="3048000" y="59436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GB" altLang="en-US" sz="1800" b="1">
                <a:latin typeface="+mn-lt"/>
              </a:rPr>
              <a:t>Reflections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2500" y="1557338"/>
            <a:ext cx="2159000" cy="287337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3" name="Right Arrow 32"/>
          <p:cNvSpPr/>
          <p:nvPr/>
        </p:nvSpPr>
        <p:spPr>
          <a:xfrm rot="5400000">
            <a:off x="359569" y="2888456"/>
            <a:ext cx="1944688" cy="2889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" name="Right Arrow 33"/>
          <p:cNvSpPr/>
          <p:nvPr/>
        </p:nvSpPr>
        <p:spPr>
          <a:xfrm rot="5400000">
            <a:off x="6911975" y="2889250"/>
            <a:ext cx="1873250" cy="21590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" name="Right Arrow 35"/>
          <p:cNvSpPr/>
          <p:nvPr/>
        </p:nvSpPr>
        <p:spPr>
          <a:xfrm rot="10800000">
            <a:off x="3505200" y="4038600"/>
            <a:ext cx="1817688" cy="287338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7" name="Bent Arrow 36"/>
          <p:cNvSpPr/>
          <p:nvPr/>
        </p:nvSpPr>
        <p:spPr>
          <a:xfrm flipV="1">
            <a:off x="1905000" y="4648200"/>
            <a:ext cx="1054100" cy="7620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6616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Bent Arrow 37"/>
          <p:cNvSpPr/>
          <p:nvPr/>
        </p:nvSpPr>
        <p:spPr>
          <a:xfrm rot="5400000" flipH="1">
            <a:off x="6739732" y="3788568"/>
            <a:ext cx="4114800" cy="652463"/>
          </a:xfrm>
          <a:prstGeom prst="bentArrow">
            <a:avLst>
              <a:gd name="adj1" fmla="val 28023"/>
              <a:gd name="adj2" fmla="val 25458"/>
              <a:gd name="adj3" fmla="val 25000"/>
              <a:gd name="adj4" fmla="val 4375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 rot="10800000">
            <a:off x="6259513" y="5889625"/>
            <a:ext cx="2173287" cy="35877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0" name="Down Arrow 39"/>
          <p:cNvSpPr/>
          <p:nvPr/>
        </p:nvSpPr>
        <p:spPr>
          <a:xfrm rot="10800000">
            <a:off x="7637463" y="4495800"/>
            <a:ext cx="287337" cy="147320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1" name="Down Arrow 40"/>
          <p:cNvSpPr/>
          <p:nvPr/>
        </p:nvSpPr>
        <p:spPr>
          <a:xfrm rot="10800000">
            <a:off x="1143000" y="4648200"/>
            <a:ext cx="287338" cy="1473200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2" name="Right Arrow 41"/>
          <p:cNvSpPr/>
          <p:nvPr/>
        </p:nvSpPr>
        <p:spPr>
          <a:xfrm>
            <a:off x="762000" y="5943600"/>
            <a:ext cx="2159000" cy="28733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4" name="Bent Arrow 43"/>
          <p:cNvSpPr/>
          <p:nvPr/>
        </p:nvSpPr>
        <p:spPr>
          <a:xfrm rot="16200000">
            <a:off x="-1570037" y="3798887"/>
            <a:ext cx="4114800" cy="631825"/>
          </a:xfrm>
          <a:prstGeom prst="ben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Up-Down Arrow 7"/>
          <p:cNvSpPr/>
          <p:nvPr/>
        </p:nvSpPr>
        <p:spPr>
          <a:xfrm>
            <a:off x="4419600" y="5562600"/>
            <a:ext cx="147638" cy="304800"/>
          </a:xfrm>
          <a:prstGeom prst="upDown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27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571"/>
    </mc:Choice>
    <mc:Fallback>
      <p:transition spd="slow" advTm="225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09600"/>
            <a:ext cx="7239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+mn-lt"/>
              </a:rPr>
              <a:t>The best dissertations integrate their different chapters</a:t>
            </a:r>
          </a:p>
          <a:p>
            <a:endParaRPr lang="en-GB" sz="2400">
              <a:latin typeface="+mn-lt"/>
            </a:endParaRPr>
          </a:p>
          <a:p>
            <a:r>
              <a:rPr lang="en-GB" sz="2400" smtClean="0">
                <a:latin typeface="+mn-lt"/>
              </a:rPr>
              <a:t>Something best achieved by </a:t>
            </a:r>
          </a:p>
          <a:p>
            <a:endParaRPr lang="en-GB" sz="24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mtClean="0">
                <a:latin typeface="+mn-lt"/>
              </a:rPr>
              <a:t>careful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mtClean="0">
                <a:latin typeface="+mn-lt"/>
              </a:rPr>
              <a:t>reviewing and revising towards the end</a:t>
            </a:r>
          </a:p>
          <a:p>
            <a:endParaRPr lang="en-GB" sz="2400">
              <a:latin typeface="+mn-lt"/>
            </a:endParaRPr>
          </a:p>
          <a:p>
            <a:r>
              <a:rPr lang="en-GB" sz="2400" smtClean="0">
                <a:latin typeface="+mn-lt"/>
              </a:rPr>
              <a:t>See the great dissertations for examples</a:t>
            </a:r>
            <a:endParaRPr lang="en-GB" sz="2400">
              <a:latin typeface="+mn-lt"/>
            </a:endParaRP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81993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987"/>
    </mc:Choice>
    <mc:Fallback>
      <p:transition spd="slow" advTm="319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7|21|11.9|8.6|8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3027</TotalTime>
  <Words>97</Words>
  <Application>Microsoft Office PowerPoint</Application>
  <PresentationFormat>On-screen Show (4:3)</PresentationFormat>
  <Paragraphs>53</Paragraphs>
  <Slides>7</Slides>
  <Notes>5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Office Theme</vt:lpstr>
      <vt:lpstr>1_Office Theme</vt:lpstr>
      <vt:lpstr>The Dissertation: What the dissertation looks like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</cp:lastModifiedBy>
  <cp:revision>136</cp:revision>
  <cp:lastPrinted>2015-04-12T10:54:10Z</cp:lastPrinted>
  <dcterms:created xsi:type="dcterms:W3CDTF">2005-09-18T18:21:05Z</dcterms:created>
  <dcterms:modified xsi:type="dcterms:W3CDTF">2020-04-15T12:25:26Z</dcterms:modified>
</cp:coreProperties>
</file>