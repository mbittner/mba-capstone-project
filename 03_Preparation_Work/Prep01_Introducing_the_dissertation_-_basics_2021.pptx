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838" r:id="rId2"/>
  </p:sldMasterIdLst>
  <p:notesMasterIdLst>
    <p:notesMasterId r:id="rId12"/>
  </p:notesMasterIdLst>
  <p:handoutMasterIdLst>
    <p:handoutMasterId r:id="rId13"/>
  </p:handoutMasterIdLst>
  <p:sldIdLst>
    <p:sldId id="256" r:id="rId3"/>
    <p:sldId id="300" r:id="rId4"/>
    <p:sldId id="382" r:id="rId5"/>
    <p:sldId id="321" r:id="rId6"/>
    <p:sldId id="367" r:id="rId7"/>
    <p:sldId id="383" r:id="rId8"/>
    <p:sldId id="384" r:id="rId9"/>
    <p:sldId id="360" r:id="rId10"/>
    <p:sldId id="363" r:id="rId11"/>
  </p:sldIdLst>
  <p:sldSz cx="9144000" cy="6858000" type="screen4x3"/>
  <p:notesSz cx="6669088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3128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58E9270E-8C09-49A4-B283-C014A9AFAB5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041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F81D1A9-7D7E-4A84-BE6C-B1750DE62939}" type="datetimeFigureOut">
              <a:rPr lang="en-GB"/>
              <a:pPr>
                <a:defRPr/>
              </a:pPr>
              <a:t>07/05/2021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663" y="942975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63C051-0E79-4E4E-8469-4694D55C3C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00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D2F226-4623-42C9-911E-3126B077695D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60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96609E-2777-4C41-9972-115547164D75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9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4F43D7-2AB1-4B36-B93A-3D4D6CE2E9AC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881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4F43D7-2AB1-4B36-B93A-3D4D6CE2E9AC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683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23954D-DE47-4C19-8BCC-5CFBB91D97F4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498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A64DC-C9C3-4D81-BED6-7081361429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28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44E4-0749-4776-858C-97B8C2912D4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383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A6944-F261-4D5C-A076-17F4676AE8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566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D504E-3709-4E4D-B737-7C89FCEBD5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985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FCE4-922A-4DD0-A3A4-37254D55D9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25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90625-679F-4FB2-B9D7-AA98A27B7B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685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2E777-4434-4784-B126-823819E7E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155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8DB4-9542-44BE-AFFE-5DC6CC9B6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36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1298B-2002-4A14-8CC8-A969F14611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86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2E822-2C45-4849-9AC7-ADB592D4E3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8EC10-1760-470C-8EF6-608B752F0E6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123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D85F5-3009-4838-9925-A1745C6994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493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3255-B8DE-469E-B4CC-F2D6A488C9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543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C86F-3376-42AD-91EE-C688EA551E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37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293B-76E3-40D4-98F9-F9DAD31340C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656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7871-540A-4304-8592-244B7E9317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8913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C902E-D8F0-4613-A1CD-20A24A37CD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553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72F35-0591-47BC-8F98-FE1500F951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3286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E7473-26EF-49C4-83D4-CF934C106F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8976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E4DD-04F4-4BE5-AD7F-FDF93CC43EC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52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D5C5-8120-4B2F-99FA-C5980E8F46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4735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B130-CABC-4C67-BA71-A2CE8274CF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57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FE3ECE-E4A5-41D6-9C3F-B9BE4D0993E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F988CA-E93D-435D-A8EE-DC64CFB5B0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3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6764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Introducing the Dissertation:</a:t>
            </a:r>
            <a:br>
              <a:rPr lang="en-US" altLang="en-US" b="1">
                <a:solidFill>
                  <a:srgbClr val="FF0000"/>
                </a:solidFill>
              </a:rPr>
            </a:br>
            <a:r>
              <a:rPr lang="en-US" altLang="en-US" b="1">
                <a:solidFill>
                  <a:srgbClr val="FF0000"/>
                </a:solidFill>
              </a:rPr>
              <a:t>Basics</a:t>
            </a:r>
            <a:endParaRPr lang="en-GB" altLang="en-US" b="1">
              <a:solidFill>
                <a:srgbClr val="FF0000"/>
              </a:solidFill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58"/>
    </mc:Choice>
    <mc:Fallback xmlns="">
      <p:transition spd="slow" advTm="187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"/>
          <p:cNvSpPr txBox="1">
            <a:spLocks noChangeArrowheads="1"/>
          </p:cNvSpPr>
          <p:nvPr/>
        </p:nvSpPr>
        <p:spPr bwMode="auto">
          <a:xfrm>
            <a:off x="685800" y="838200"/>
            <a:ext cx="7924800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GB" sz="2800" dirty="0"/>
          </a:p>
          <a:p>
            <a:pPr>
              <a:buNone/>
            </a:pPr>
            <a:r>
              <a:rPr lang="en-GB" sz="2800" dirty="0"/>
              <a:t>For this module you are expected to undertake research into a topic related to the degree you are studying, and produce a dissertation.</a:t>
            </a:r>
          </a:p>
          <a:p>
            <a:endParaRPr lang="en-GB" altLang="en-US" sz="28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800" dirty="0">
                <a:latin typeface="+mn-lt"/>
              </a:rPr>
              <a:t>You will gather information in an area of your choice and analyse it with reference to relevant academic theory.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67"/>
    </mc:Choice>
    <mc:Fallback xmlns="">
      <p:transition spd="slow" advTm="192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467373"/>
              </p:ext>
            </p:extLst>
          </p:nvPr>
        </p:nvGraphicFramePr>
        <p:xfrm>
          <a:off x="685797" y="761999"/>
          <a:ext cx="7772402" cy="4763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86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Degree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Relevant topics for a dissertation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2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MA or MBA Leading Innovation and Change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Leadership, innovation, change, strategy,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Leadership and Management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Leadership, management, coaching,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strategy 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Entrepreneurship and Innovation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Innovation, change, entrepreneur-ship, strategy, culture 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Coaching, Mentoring, Leadership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Coaching/mentoring, leadership, innovation</a:t>
                      </a:r>
                      <a:r>
                        <a:rPr lang="en-GB" sz="2000">
                          <a:solidFill>
                            <a:schemeClr val="tx1"/>
                          </a:solidFill>
                          <a:effectLst/>
                        </a:rPr>
                        <a:t>, change,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Innovation, Leadership and Consulting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Innovation, change, leadership, consulting, strategy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2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MBA Management Consulting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Consulting, innovation, change, strategy, culture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0F6EBCA2-0823-4612-B8F3-2C64352251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395"/>
    </mc:Choice>
    <mc:Fallback xmlns="">
      <p:transition spd="slow" advTm="493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33400" y="452438"/>
            <a:ext cx="7786688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Two pieces of work: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1. The Proposal</a:t>
            </a:r>
            <a:r>
              <a:rPr lang="en-GB" altLang="en-US" sz="2400" dirty="0">
                <a:latin typeface="+mn-lt"/>
                <a:cs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A written research proposal, submitted prior to carrying out the full research.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2,000 words – 20% of marks for the module.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2. The Dissertation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A full report on your research.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  <a:cs typeface="Arial" panose="020B0604020202020204" pitchFamily="34" charset="0"/>
              </a:rPr>
              <a:t>12,000 words – 80% of marks for the module.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088"/>
    </mc:Choice>
    <mc:Fallback xmlns="">
      <p:transition spd="slow" advTm="530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33400" y="452438"/>
            <a:ext cx="778668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Both pieces of work must = 50% or more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b="1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You can fail one of these pieces of work and still pass the module, if your mark in the other piece of work is enough to compensate</a:t>
            </a: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42"/>
    </mc:Choice>
    <mc:Fallback xmlns="">
      <p:transition spd="slow" advTm="329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33400" y="452438"/>
            <a:ext cx="778668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Proposal </a:t>
            </a:r>
            <a:r>
              <a:rPr lang="en-GB" altLang="en-US" sz="2400" b="1" dirty="0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is the foundation for the Dissertation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b="1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You can cut and paste from the Proposal to the Dissertation</a:t>
            </a:r>
            <a:endParaRPr lang="en-GB" altLang="en-US" sz="2400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151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740"/>
    </mc:Choice>
    <mc:Fallback xmlns="">
      <p:transition spd="slow" advTm="487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457200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FF0000"/>
                </a:solidFill>
                <a:latin typeface="+mn-lt"/>
              </a:rPr>
              <a:t>What happens if things change after you submit the proposal?</a:t>
            </a:r>
          </a:p>
          <a:p>
            <a:endParaRPr lang="en-GB" sz="2400">
              <a:latin typeface="+mn-lt"/>
            </a:endParaRPr>
          </a:p>
          <a:p>
            <a:r>
              <a:rPr lang="en-GB" sz="2400">
                <a:latin typeface="+mn-lt"/>
              </a:rPr>
              <a:t>You retain the mark you gained for the proposal, but you can change the research you undertake in the rest of the module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884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724"/>
    </mc:Choice>
    <mc:Fallback xmlns="">
      <p:transition spd="slow" advTm="487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85800" y="457200"/>
            <a:ext cx="80772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0000FF"/>
                </a:solidFill>
                <a:latin typeface="+mn-lt"/>
              </a:rPr>
              <a:t>Timescales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</a:rPr>
              <a:t>Once you formally begin the dissertation module you have 30 weeks to complete the Dissertation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</a:rPr>
              <a:t>30 weeks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dirty="0">
                <a:latin typeface="+mn-lt"/>
              </a:rPr>
              <a:t>Within the first six weeks you must complete and submit the research Proposal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GB" altLang="en-US" sz="2400" dirty="0">
              <a:latin typeface="+mn-lt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b="1" dirty="0">
                <a:solidFill>
                  <a:srgbClr val="FF0000"/>
                </a:solidFill>
                <a:latin typeface="+mn-lt"/>
              </a:rPr>
              <a:t>6 weeks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FE089F47-7793-4E36-BD40-8B86FDBFE395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277"/>
    </mc:Choice>
    <mc:Fallback>
      <p:transition spd="slow" advTm="222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GB" altLang="en-US" sz="2800" b="1">
                <a:solidFill>
                  <a:srgbClr val="0000FF"/>
                </a:solidFill>
                <a:latin typeface="+mn-lt"/>
                <a:cs typeface="Arial" panose="020B0604020202020204" pitchFamily="34" charset="0"/>
              </a:rPr>
              <a:t>Overview of this series of 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74088"/>
            <a:ext cx="7696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Assessment criteria</a:t>
            </a:r>
          </a:p>
          <a:p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Choosing your topic</a:t>
            </a:r>
          </a:p>
          <a:p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Focusing your research</a:t>
            </a:r>
          </a:p>
          <a:p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Scope and scale of the research</a:t>
            </a:r>
          </a:p>
          <a:p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Designing your research project</a:t>
            </a:r>
          </a:p>
          <a:p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What the dissertation looks like</a:t>
            </a:r>
          </a:p>
          <a:p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Working with your supervisor</a:t>
            </a:r>
          </a:p>
          <a:p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Enrolling on the dissertation module</a:t>
            </a:r>
          </a:p>
          <a:p>
            <a:endParaRPr lang="en-GB" altLang="en-US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r>
              <a:rPr lang="en-GB" altLang="en-US" b="1">
                <a:solidFill>
                  <a:srgbClr val="0000FF"/>
                </a:solidFill>
                <a:cs typeface="Arial" panose="020B0604020202020204" pitchFamily="34" charset="0"/>
              </a:rPr>
              <a:t>What you need to do to succeed</a:t>
            </a:r>
          </a:p>
          <a:p>
            <a:endParaRPr lang="en-GB" b="1">
              <a:solidFill>
                <a:srgbClr val="0000FF"/>
              </a:solidFill>
              <a:cs typeface="Arial" panose="020B0604020202020204" pitchFamily="34" charset="0"/>
            </a:endParaRPr>
          </a:p>
          <a:p>
            <a:r>
              <a:rPr lang="en-GB" b="1">
                <a:solidFill>
                  <a:srgbClr val="0000FF"/>
                </a:solidFill>
                <a:cs typeface="Arial" panose="020B0604020202020204" pitchFamily="34" charset="0"/>
              </a:rPr>
              <a:t>Research ethics</a:t>
            </a:r>
            <a:endParaRPr lang="en-GB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530"/>
    </mc:Choice>
    <mc:Fallback xmlns="">
      <p:transition spd="slow" advTm="515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2.8|12.9|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6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5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5.8|3.4|7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3178</TotalTime>
  <Words>374</Words>
  <Application>Microsoft Office PowerPoint</Application>
  <PresentationFormat>On-screen Show (4:3)</PresentationFormat>
  <Paragraphs>78</Paragraphs>
  <Slides>9</Slides>
  <Notes>5</Notes>
  <HiddenSlides>0</HiddenSlides>
  <MMClips>9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Office Theme</vt:lpstr>
      <vt:lpstr>1_Office Theme</vt:lpstr>
      <vt:lpstr>Introducing the Dissertation: Basics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 of this series of presentations</vt:lpstr>
    </vt:vector>
  </TitlesOfParts>
  <Company>University of Hull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 Boak</cp:lastModifiedBy>
  <cp:revision>147</cp:revision>
  <cp:lastPrinted>2015-04-12T10:54:10Z</cp:lastPrinted>
  <dcterms:created xsi:type="dcterms:W3CDTF">2005-09-18T18:21:05Z</dcterms:created>
  <dcterms:modified xsi:type="dcterms:W3CDTF">2021-05-07T11:16:34Z</dcterms:modified>
</cp:coreProperties>
</file>