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4"/>
  </p:notesMasterIdLst>
  <p:handoutMasterIdLst>
    <p:handoutMasterId r:id="rId25"/>
  </p:handoutMasterIdLst>
  <p:sldIdLst>
    <p:sldId id="338" r:id="rId2"/>
    <p:sldId id="306" r:id="rId3"/>
    <p:sldId id="393" r:id="rId4"/>
    <p:sldId id="395" r:id="rId5"/>
    <p:sldId id="396" r:id="rId6"/>
    <p:sldId id="397" r:id="rId7"/>
    <p:sldId id="383" r:id="rId8"/>
    <p:sldId id="398" r:id="rId9"/>
    <p:sldId id="350" r:id="rId10"/>
    <p:sldId id="379" r:id="rId11"/>
    <p:sldId id="381" r:id="rId12"/>
    <p:sldId id="382" r:id="rId13"/>
    <p:sldId id="384" r:id="rId14"/>
    <p:sldId id="385" r:id="rId15"/>
    <p:sldId id="387" r:id="rId16"/>
    <p:sldId id="386" r:id="rId17"/>
    <p:sldId id="388" r:id="rId18"/>
    <p:sldId id="391" r:id="rId19"/>
    <p:sldId id="399" r:id="rId20"/>
    <p:sldId id="394" r:id="rId21"/>
    <p:sldId id="377" r:id="rId22"/>
    <p:sldId id="392" r:id="rId23"/>
  </p:sldIdLst>
  <p:sldSz cx="9144000" cy="6858000" type="screen4x3"/>
  <p:notesSz cx="7010400" cy="9296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62"/>
    </p:cViewPr>
  </p:sorter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9946" y="0"/>
            <a:ext cx="3038785" cy="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48"/>
            <a:ext cx="3038786" cy="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9946" y="8829648"/>
            <a:ext cx="3038785" cy="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fld id="{86A4BE46-524F-4EB0-AE0C-CC8BF98868E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32883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786" cy="46526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9946" y="0"/>
            <a:ext cx="3038785" cy="46526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161507B-56E7-4327-8E28-DF4D05304700}" type="datetimeFigureOut">
              <a:rPr lang="en-GB"/>
              <a:pPr>
                <a:defRPr/>
              </a:pPr>
              <a:t>08/02/2021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73" y="4416311"/>
            <a:ext cx="5608654" cy="418293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48"/>
            <a:ext cx="3038786" cy="46526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9946" y="8829648"/>
            <a:ext cx="3038785" cy="46526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4177902-8B39-4E02-A4BF-A36FA837F98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760720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CC5D11-30EA-4D96-B982-B63AF338A2EF}" type="slidenum">
              <a:rPr lang="en-GB" altLang="en-US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27769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CC5D11-30EA-4D96-B982-B63AF338A2EF}" type="slidenum">
              <a:rPr lang="en-GB" altLang="en-US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125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863676-E7F0-4230-BCF6-580B557F8DBE}" type="slidenum">
              <a:rPr lang="en-GB" altLang="en-US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3895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/>
              <a:t>Discuss the motivation behind asking questions</a:t>
            </a: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A0BEB1-3418-46C3-BE14-BAEC7E33812D}" type="slidenum">
              <a:rPr lang="en-GB" altLang="en-US">
                <a:solidFill>
                  <a:srgbClr val="000000"/>
                </a:solidFill>
                <a:latin typeface="Verdana" panose="020B0604030504040204" pitchFamily="34" charset="0"/>
              </a:rPr>
              <a:pPr/>
              <a:t>21</a:t>
            </a:fld>
            <a:endParaRPr lang="en-GB" altLang="en-US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76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1A989-0F6D-4918-8228-7AA4FF9C879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6206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47788-2AB8-407D-AD87-3D3B38A6C7D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789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0292B-E685-4FAC-A164-86F43110D83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7619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5DC704-BA27-4CD1-8271-EF7DDF34364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0190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C7991-8FE4-47AF-9BEF-C3108BCA8D5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379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3610E7-0C5F-4302-B1D6-C5BF7EE912A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454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9449B-9ACE-452C-BAFE-73A0156A1D0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233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36BF3E-EB53-4AC8-8CFF-B2F9BEE1595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251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8D23B-D5BA-462A-B926-37CBC10034B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2992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8CD5D8-2262-46CD-865B-964CAE5990B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2272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E114A2-5C45-4B19-96F2-E71FB2B6DB7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968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6C010FC5-80AD-42F6-AEA0-FD4D88C2ECE0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3"/>
          <p:cNvSpPr txBox="1">
            <a:spLocks noChangeArrowheads="1"/>
          </p:cNvSpPr>
          <p:nvPr/>
        </p:nvSpPr>
        <p:spPr bwMode="auto">
          <a:xfrm>
            <a:off x="533400" y="2782669"/>
            <a:ext cx="8077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GB" sz="3600" b="1" dirty="0">
                <a:solidFill>
                  <a:srgbClr val="0000FF"/>
                </a:solidFill>
              </a:rPr>
              <a:t>Writing a great dissertation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609600" y="457200"/>
            <a:ext cx="8077200" cy="3490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</a:rPr>
              <a:t>What have we done this week?</a:t>
            </a:r>
          </a:p>
          <a:p>
            <a:endParaRPr lang="en-GB" sz="2400" dirty="0"/>
          </a:p>
          <a:p>
            <a:pPr>
              <a:buNone/>
            </a:pPr>
            <a:r>
              <a:rPr lang="en-GB" sz="2400" dirty="0"/>
              <a:t>Research question and research objectives</a:t>
            </a:r>
          </a:p>
          <a:p>
            <a:pPr>
              <a:buNone/>
            </a:pPr>
            <a:r>
              <a:rPr lang="en-GB" sz="2400" dirty="0"/>
              <a:t>Literature search</a:t>
            </a:r>
          </a:p>
          <a:p>
            <a:pPr>
              <a:buNone/>
            </a:pPr>
            <a:r>
              <a:rPr lang="en-GB" sz="2400" dirty="0"/>
              <a:t>Qualitative research and the interview</a:t>
            </a:r>
          </a:p>
          <a:p>
            <a:pPr>
              <a:buNone/>
            </a:pPr>
            <a:r>
              <a:rPr lang="en-GB" sz="2400" dirty="0"/>
              <a:t>Quantitative research and the questionnaire</a:t>
            </a:r>
          </a:p>
          <a:p>
            <a:pPr>
              <a:buNone/>
            </a:pPr>
            <a:r>
              <a:rPr lang="en-GB" sz="2400" dirty="0"/>
              <a:t>Devising a research strategy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09600"/>
            <a:ext cx="7391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+mn-lt"/>
              </a:rPr>
              <a:t>How to write a great dissertation</a:t>
            </a:r>
          </a:p>
          <a:p>
            <a:endParaRPr lang="en-GB" sz="2400" b="1" dirty="0">
              <a:solidFill>
                <a:srgbClr val="0000FF"/>
              </a:solidFill>
              <a:latin typeface="+mn-lt"/>
            </a:endParaRPr>
          </a:p>
          <a:p>
            <a:pPr marL="457200" indent="-457200">
              <a:buAutoNum type="arabicPeriod"/>
            </a:pPr>
            <a:r>
              <a:rPr lang="en-GB" sz="2400" dirty="0">
                <a:latin typeface="+mn-lt"/>
              </a:rPr>
              <a:t>Create a great proposal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+mn-lt"/>
              </a:rPr>
              <a:t>Carry out great research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+mn-lt"/>
              </a:rPr>
              <a:t>Follow the guidance in the module handbook</a:t>
            </a:r>
          </a:p>
          <a:p>
            <a:endParaRPr lang="en-GB" sz="2400" dirty="0">
              <a:latin typeface="+mn-lt"/>
            </a:endParaRPr>
          </a:p>
          <a:p>
            <a:endParaRPr lang="en-GB" sz="2400" dirty="0">
              <a:latin typeface="+mn-lt"/>
            </a:endParaRPr>
          </a:p>
          <a:p>
            <a:r>
              <a:rPr lang="en-GB" sz="2400" b="1" dirty="0">
                <a:solidFill>
                  <a:srgbClr val="0000FF"/>
                </a:solidFill>
                <a:latin typeface="+mn-lt"/>
              </a:rPr>
              <a:t>Write a great dissertation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Write it chapter by chapter and get feedback as you go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Leave time to amend it at the end</a:t>
            </a:r>
          </a:p>
          <a:p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030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31"/>
    </mc:Choice>
    <mc:Fallback xmlns="">
      <p:transition spd="slow" advTm="196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508903-144C-4AD9-980A-05620F50E77B}"/>
              </a:ext>
            </a:extLst>
          </p:cNvPr>
          <p:cNvSpPr txBox="1"/>
          <p:nvPr/>
        </p:nvSpPr>
        <p:spPr>
          <a:xfrm>
            <a:off x="762000" y="533400"/>
            <a:ext cx="7924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+mn-lt"/>
              </a:rPr>
              <a:t>Module handbook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Provides guidance about marks allocated to </a:t>
            </a:r>
            <a:r>
              <a:rPr lang="en-US" sz="2400">
                <a:latin typeface="+mn-lt"/>
              </a:rPr>
              <a:t>different parts </a:t>
            </a:r>
            <a:r>
              <a:rPr lang="en-US" sz="2400" dirty="0">
                <a:latin typeface="+mn-lt"/>
              </a:rPr>
              <a:t>of the Proposal and the Dissertation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Provides guidance on what different parts of each should contain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This is used as the template for feedback by the assessors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Use it in planning and writing your Proposal and Dissertation</a:t>
            </a:r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254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457200"/>
            <a:ext cx="8077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 Great Proposal</a:t>
            </a:r>
          </a:p>
          <a:p>
            <a:endParaRPr lang="en-GB" sz="2400" b="1" dirty="0">
              <a:solidFill>
                <a:srgbClr val="0000FF"/>
              </a:solidFill>
              <a:latin typeface="+mn-lt"/>
            </a:endParaRPr>
          </a:p>
          <a:p>
            <a:r>
              <a:rPr lang="en-GB" sz="2400" b="1" dirty="0">
                <a:solidFill>
                  <a:srgbClr val="0000FF"/>
                </a:solidFill>
                <a:latin typeface="+mn-lt"/>
              </a:rPr>
              <a:t>Introduction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Background to the research problem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Clarity and definition of the problem and objectives, questions, or hypothesis</a:t>
            </a:r>
          </a:p>
          <a:p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How focused is the problem/ comprehensiveness of the research objectives, questions or hypothesis and their appropriateness</a:t>
            </a:r>
            <a:endParaRPr lang="en-GB" sz="2400" dirty="0">
              <a:latin typeface="+mn-lt"/>
            </a:endParaRP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Explains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Why this is an interesting/relevant/appropriate topic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Research question and the research objectives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702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7772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+mn-lt"/>
              </a:rPr>
              <a:t>Literature review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Provides a review of literature relevant to your research</a:t>
            </a:r>
          </a:p>
          <a:p>
            <a:endParaRPr lang="en-GB" sz="2400" dirty="0">
              <a:latin typeface="+mn-lt"/>
            </a:endParaRP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Ability demonstrated in selectivity of material reviewed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Evidence of breadth and depth of the material reviewed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Critical review/analysis as opposed to paraphrasing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Professionalism in quoting, and using other people’s work</a:t>
            </a:r>
          </a:p>
          <a:p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Demonstration of a logical conceptual development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Focus on the topic</a:t>
            </a:r>
          </a:p>
          <a:p>
            <a:r>
              <a:rPr lang="en-GB" sz="2400" dirty="0">
                <a:latin typeface="+mn-lt"/>
              </a:rPr>
              <a:t>Do a thorough search of literature</a:t>
            </a:r>
          </a:p>
          <a:p>
            <a:r>
              <a:rPr lang="en-GB" sz="2400" dirty="0">
                <a:latin typeface="+mn-lt"/>
              </a:rPr>
              <a:t>Provide a critical review, not just a description</a:t>
            </a:r>
          </a:p>
          <a:p>
            <a:r>
              <a:rPr lang="en-GB" sz="2400" dirty="0">
                <a:latin typeface="+mn-lt"/>
              </a:rPr>
              <a:t>Explain how this relates to your research</a:t>
            </a:r>
          </a:p>
          <a:p>
            <a:r>
              <a:rPr lang="en-GB" sz="2400" dirty="0">
                <a:latin typeface="+mn-lt"/>
              </a:rPr>
              <a:t>Summary of key points at the end</a:t>
            </a:r>
          </a:p>
        </p:txBody>
      </p:sp>
    </p:spTree>
    <p:extLst>
      <p:ext uri="{BB962C8B-B14F-4D97-AF65-F5344CB8AC3E}">
        <p14:creationId xmlns:p14="http://schemas.microsoft.com/office/powerpoint/2010/main" val="405345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09600"/>
            <a:ext cx="7086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+mn-lt"/>
              </a:rPr>
              <a:t>Methodology section</a:t>
            </a:r>
          </a:p>
          <a:p>
            <a:endParaRPr lang="en-GB" sz="2400" dirty="0">
              <a:latin typeface="+mn-lt"/>
            </a:endParaRP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Explanation of methodology that will be used with reasons for the choices made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Details of data collection tools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Information about potential sample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Explanation of how data might be analysed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What information will be gathered</a:t>
            </a:r>
          </a:p>
          <a:p>
            <a:r>
              <a:rPr lang="en-GB" sz="2400" dirty="0">
                <a:latin typeface="+mn-lt"/>
              </a:rPr>
              <a:t>Sample: who will provide information; type and target size of sample</a:t>
            </a:r>
          </a:p>
          <a:p>
            <a:r>
              <a:rPr lang="en-GB" sz="2400" dirty="0">
                <a:latin typeface="+mn-lt"/>
              </a:rPr>
              <a:t>Research methods (</a:t>
            </a:r>
            <a:r>
              <a:rPr lang="en-GB" sz="2400" dirty="0" err="1">
                <a:latin typeface="+mn-lt"/>
              </a:rPr>
              <a:t>eg</a:t>
            </a:r>
            <a:r>
              <a:rPr lang="en-GB" sz="2400" dirty="0">
                <a:latin typeface="+mn-lt"/>
              </a:rPr>
              <a:t> interview/ questionnaire) – advantages compared to other common method</a:t>
            </a:r>
          </a:p>
          <a:p>
            <a:r>
              <a:rPr lang="en-GB" sz="2400" dirty="0">
                <a:latin typeface="+mn-lt"/>
              </a:rPr>
              <a:t>Cite relevant references</a:t>
            </a:r>
          </a:p>
        </p:txBody>
      </p:sp>
    </p:spTree>
    <p:extLst>
      <p:ext uri="{BB962C8B-B14F-4D97-AF65-F5344CB8AC3E}">
        <p14:creationId xmlns:p14="http://schemas.microsoft.com/office/powerpoint/2010/main" val="45364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5A4C0-A136-4306-B528-6CE5E8EC8A12}"/>
              </a:ext>
            </a:extLst>
          </p:cNvPr>
          <p:cNvSpPr txBox="1"/>
          <p:nvPr/>
        </p:nvSpPr>
        <p:spPr>
          <a:xfrm>
            <a:off x="762000" y="609600"/>
            <a:ext cx="7315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+mn-lt"/>
              </a:rPr>
              <a:t>Limitations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Short section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Risks and limitations and how you will mitigate them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Use a table: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5FD3E-2B4B-46A2-BAD5-6D6394AD49E5}"/>
              </a:ext>
            </a:extLst>
          </p:cNvPr>
          <p:cNvSpPr/>
          <p:nvPr/>
        </p:nvSpPr>
        <p:spPr>
          <a:xfrm>
            <a:off x="990600" y="3352800"/>
            <a:ext cx="34290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AFDCD1-4F0F-4D5C-A512-0378CEDCD971}"/>
              </a:ext>
            </a:extLst>
          </p:cNvPr>
          <p:cNvSpPr/>
          <p:nvPr/>
        </p:nvSpPr>
        <p:spPr>
          <a:xfrm>
            <a:off x="4419600" y="3352800"/>
            <a:ext cx="34290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14624-C28D-49FD-BA16-ED7695985156}"/>
              </a:ext>
            </a:extLst>
          </p:cNvPr>
          <p:cNvSpPr/>
          <p:nvPr/>
        </p:nvSpPr>
        <p:spPr>
          <a:xfrm>
            <a:off x="990600" y="3886200"/>
            <a:ext cx="34290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0F0D1-F1FB-4736-9896-1B52FC2D1A56}"/>
              </a:ext>
            </a:extLst>
          </p:cNvPr>
          <p:cNvSpPr/>
          <p:nvPr/>
        </p:nvSpPr>
        <p:spPr>
          <a:xfrm>
            <a:off x="4419600" y="3886200"/>
            <a:ext cx="34290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33D92-15F2-473D-87A4-3F9D376641B6}"/>
              </a:ext>
            </a:extLst>
          </p:cNvPr>
          <p:cNvSpPr txBox="1"/>
          <p:nvPr/>
        </p:nvSpPr>
        <p:spPr>
          <a:xfrm>
            <a:off x="1066800" y="3429000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Limitations</a:t>
            </a:r>
            <a:endParaRPr lang="en-GB" sz="24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1BCC1-836D-4CF0-882D-A8AF52279F6A}"/>
              </a:ext>
            </a:extLst>
          </p:cNvPr>
          <p:cNvSpPr txBox="1"/>
          <p:nvPr/>
        </p:nvSpPr>
        <p:spPr>
          <a:xfrm>
            <a:off x="4572000" y="3429000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Mitigation</a:t>
            </a:r>
            <a:endParaRPr lang="en-GB" sz="24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BDAAA-5E6C-476F-A633-2B1892264687}"/>
              </a:ext>
            </a:extLst>
          </p:cNvPr>
          <p:cNvSpPr txBox="1"/>
          <p:nvPr/>
        </p:nvSpPr>
        <p:spPr>
          <a:xfrm>
            <a:off x="762000" y="5562600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+mn-lt"/>
              </a:rPr>
              <a:t>Plan for completing the Dissertation</a:t>
            </a:r>
          </a:p>
          <a:p>
            <a:r>
              <a:rPr lang="en-US" sz="2400" dirty="0">
                <a:latin typeface="+mn-lt"/>
              </a:rPr>
              <a:t>- a bar chart</a:t>
            </a:r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903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015049" y="1143000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2982098" y="21336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33700" y="50292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3015049" y="2819400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2982097" y="35814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2947086" y="4267200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729" name="TextBox 4"/>
          <p:cNvSpPr txBox="1">
            <a:spLocks noChangeArrowheads="1"/>
          </p:cNvSpPr>
          <p:nvPr/>
        </p:nvSpPr>
        <p:spPr bwMode="auto">
          <a:xfrm>
            <a:off x="3009900" y="1143000"/>
            <a:ext cx="3124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Introduction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Objectives</a:t>
            </a:r>
          </a:p>
        </p:txBody>
      </p:sp>
      <p:sp>
        <p:nvSpPr>
          <p:cNvPr id="30730" name="TextBox 5"/>
          <p:cNvSpPr txBox="1">
            <a:spLocks noChangeArrowheads="1"/>
          </p:cNvSpPr>
          <p:nvPr/>
        </p:nvSpPr>
        <p:spPr bwMode="auto">
          <a:xfrm>
            <a:off x="3048000" y="22098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Literature review</a:t>
            </a:r>
          </a:p>
        </p:txBody>
      </p:sp>
      <p:sp>
        <p:nvSpPr>
          <p:cNvPr id="30731" name="TextBox 6"/>
          <p:cNvSpPr txBox="1">
            <a:spLocks noChangeArrowheads="1"/>
          </p:cNvSpPr>
          <p:nvPr/>
        </p:nvSpPr>
        <p:spPr bwMode="auto">
          <a:xfrm>
            <a:off x="3096397" y="28956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Methodology</a:t>
            </a:r>
          </a:p>
        </p:txBody>
      </p:sp>
      <p:sp>
        <p:nvSpPr>
          <p:cNvPr id="30732" name="TextBox 7"/>
          <p:cNvSpPr txBox="1">
            <a:spLocks noChangeArrowheads="1"/>
          </p:cNvSpPr>
          <p:nvPr/>
        </p:nvSpPr>
        <p:spPr bwMode="auto">
          <a:xfrm>
            <a:off x="3200400" y="36576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Findings</a:t>
            </a:r>
          </a:p>
        </p:txBody>
      </p:sp>
      <p:sp>
        <p:nvSpPr>
          <p:cNvPr id="30733" name="TextBox 8"/>
          <p:cNvSpPr txBox="1">
            <a:spLocks noChangeArrowheads="1"/>
          </p:cNvSpPr>
          <p:nvPr/>
        </p:nvSpPr>
        <p:spPr bwMode="auto">
          <a:xfrm>
            <a:off x="2933700" y="43434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Analysis</a:t>
            </a:r>
          </a:p>
        </p:txBody>
      </p:sp>
      <p:sp>
        <p:nvSpPr>
          <p:cNvPr id="30734" name="TextBox 9"/>
          <p:cNvSpPr txBox="1">
            <a:spLocks noChangeArrowheads="1"/>
          </p:cNvSpPr>
          <p:nvPr/>
        </p:nvSpPr>
        <p:spPr bwMode="auto">
          <a:xfrm>
            <a:off x="2971800" y="51816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Conclusions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2097" y="3810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200400" y="4572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+mn-lt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457200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Dissertation</a:t>
            </a:r>
          </a:p>
        </p:txBody>
      </p:sp>
      <p:sp>
        <p:nvSpPr>
          <p:cNvPr id="18" name="Rounded Rectangle 22">
            <a:extLst>
              <a:ext uri="{FF2B5EF4-FFF2-40B4-BE49-F238E27FC236}">
                <a16:creationId xmlns:a16="http://schemas.microsoft.com/office/drawing/2014/main" id="{6CFCB62A-A393-4BC1-A3F9-4D737BFD5008}"/>
              </a:ext>
            </a:extLst>
          </p:cNvPr>
          <p:cNvSpPr/>
          <p:nvPr/>
        </p:nvSpPr>
        <p:spPr>
          <a:xfrm>
            <a:off x="29718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9097D-98C2-4518-9CB2-F609E6898437}"/>
              </a:ext>
            </a:extLst>
          </p:cNvPr>
          <p:cNvSpPr txBox="1"/>
          <p:nvPr/>
        </p:nvSpPr>
        <p:spPr>
          <a:xfrm>
            <a:off x="3886200" y="59436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Reflections</a:t>
            </a:r>
            <a:endParaRPr lang="en-GB" dirty="0"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7543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Abstract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A one-page summary of the dissertation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Explains: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The purpose of the research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Key ideas from the literature on the research issue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How you gathered information for your research (i.e. research methods, sample) 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The key findings and conclusions of the research</a:t>
            </a:r>
          </a:p>
          <a:p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009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258425"/>
            <a:ext cx="8077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Introduction</a:t>
            </a:r>
          </a:p>
          <a:p>
            <a:endParaRPr lang="en-GB" sz="2400" dirty="0">
              <a:latin typeface="+mn-lt"/>
            </a:endParaRP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Background to the research problem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Clear definition of the problem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A clear and focused statement of the research question and objectives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Why this is an interesting/relevant/appropriate topic</a:t>
            </a:r>
          </a:p>
          <a:p>
            <a:r>
              <a:rPr lang="en-GB" sz="2400" dirty="0">
                <a:latin typeface="+mn-lt"/>
              </a:rPr>
              <a:t>What methodology you have used</a:t>
            </a:r>
          </a:p>
          <a:p>
            <a:r>
              <a:rPr lang="en-GB" sz="2400" dirty="0">
                <a:latin typeface="+mn-lt"/>
              </a:rPr>
              <a:t>Overview of the structure of the dissertation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Avoid: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'Gap in the literature'</a:t>
            </a:r>
          </a:p>
          <a:p>
            <a:r>
              <a:rPr lang="en-GB" sz="2400" dirty="0">
                <a:latin typeface="+mn-lt"/>
              </a:rPr>
              <a:t>Assertions unsupported by references</a:t>
            </a:r>
          </a:p>
        </p:txBody>
      </p:sp>
    </p:spTree>
    <p:extLst>
      <p:ext uri="{BB962C8B-B14F-4D97-AF65-F5344CB8AC3E}">
        <p14:creationId xmlns:p14="http://schemas.microsoft.com/office/powerpoint/2010/main" val="193910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77724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Literature review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Provides a review of relevant literature, some of which you will use to analyse the findings of your research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Focus on the topic</a:t>
            </a:r>
          </a:p>
          <a:p>
            <a:r>
              <a:rPr lang="en-GB" sz="2400" dirty="0">
                <a:latin typeface="+mn-lt"/>
              </a:rPr>
              <a:t>Do a thorough search of literature</a:t>
            </a:r>
          </a:p>
          <a:p>
            <a:r>
              <a:rPr lang="en-GB" sz="2400" dirty="0">
                <a:latin typeface="+mn-lt"/>
              </a:rPr>
              <a:t>Provide a critical review, not just a description</a:t>
            </a:r>
          </a:p>
          <a:p>
            <a:r>
              <a:rPr lang="en-US" sz="2400" dirty="0">
                <a:latin typeface="+mn-lt"/>
              </a:rPr>
              <a:t>It should be apparent how the literature review informs what is done in the project</a:t>
            </a:r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Summary of key points at the end</a:t>
            </a:r>
          </a:p>
        </p:txBody>
      </p:sp>
    </p:spTree>
    <p:extLst>
      <p:ext uri="{BB962C8B-B14F-4D97-AF65-F5344CB8AC3E}">
        <p14:creationId xmlns:p14="http://schemas.microsoft.com/office/powerpoint/2010/main" val="65751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228600"/>
            <a:ext cx="8077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FF0000"/>
                </a:solidFill>
                <a:latin typeface="+mn-lt"/>
              </a:rPr>
              <a:t>Methodology chapter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Reminder of purpose of the research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Research philosophy </a:t>
            </a:r>
          </a:p>
          <a:p>
            <a:pPr>
              <a:lnSpc>
                <a:spcPct val="150000"/>
              </a:lnSpc>
            </a:pPr>
            <a:r>
              <a:rPr lang="en-GB" sz="2400" i="1" dirty="0">
                <a:latin typeface="+mn-lt"/>
              </a:rPr>
              <a:t>Research strategy: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What information was gathered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Sample: who and how many; type of sample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Research methods - advantages and limitations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How the information was analysed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Statement on research ethics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Quality of this strategy; limitations and how you mitigated them</a:t>
            </a:r>
          </a:p>
        </p:txBody>
      </p:sp>
    </p:spTree>
    <p:extLst>
      <p:ext uri="{BB962C8B-B14F-4D97-AF65-F5344CB8AC3E}">
        <p14:creationId xmlns:p14="http://schemas.microsoft.com/office/powerpoint/2010/main" val="420312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29491"/>
            <a:ext cx="76962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Findings chapter</a:t>
            </a:r>
          </a:p>
          <a:p>
            <a:endParaRPr lang="en-GB" dirty="0"/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Logical and credible analysis of findings</a:t>
            </a: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Suitable methods used in presenting the findings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Quantitative research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Statistical analysis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Presentation of the data - tables, pie charts etc.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Qualitative research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Themes and quotations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Explanation of relevance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+mn-lt"/>
              </a:rPr>
              <a:t>Summary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+mn-lt"/>
            </a:endParaRPr>
          </a:p>
          <a:p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7589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29491"/>
            <a:ext cx="76962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Discussion/Analysis chapter </a:t>
            </a:r>
          </a:p>
          <a:p>
            <a:endParaRPr lang="en-GB" dirty="0"/>
          </a:p>
          <a:p>
            <a:r>
              <a:rPr lang="en-GB" sz="2400" dirty="0">
                <a:latin typeface="+mn-lt"/>
              </a:rPr>
              <a:t>Discuss the key findings</a:t>
            </a:r>
          </a:p>
          <a:p>
            <a:pPr>
              <a:tabLst>
                <a:tab pos="2637155" algn="ctr"/>
                <a:tab pos="5274310" algn="r"/>
              </a:tabLst>
            </a:pPr>
            <a:endParaRPr lang="en-GB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Apply relevant ideas from literature to analyse the findings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Discuss whether your findings agree or disagree with key ideas discussed in the literature review</a:t>
            </a:r>
          </a:p>
          <a:p>
            <a:pPr>
              <a:tabLst>
                <a:tab pos="2637155" algn="ctr"/>
                <a:tab pos="5274310" algn="r"/>
              </a:tabLst>
            </a:pPr>
            <a:endParaRPr lang="en-GB" sz="2400" dirty="0">
              <a:latin typeface="+mn-lt"/>
            </a:endParaRP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latin typeface="+mn-lt"/>
              </a:rPr>
              <a:t>Explain why you think this is so</a:t>
            </a:r>
          </a:p>
          <a:p>
            <a:pPr>
              <a:tabLst>
                <a:tab pos="2637155" algn="ctr"/>
                <a:tab pos="5274310" algn="r"/>
              </a:tabLst>
            </a:pPr>
            <a:endParaRPr lang="en-GB" sz="2400" dirty="0">
              <a:solidFill>
                <a:srgbClr val="000000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Relate </a:t>
            </a:r>
            <a:r>
              <a:rPr lang="en-GB" sz="240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the </a:t>
            </a:r>
            <a:r>
              <a:rPr lang="en-GB" sz="2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analysis to your research question</a:t>
            </a:r>
            <a:endParaRPr lang="en-GB" sz="2400" dirty="0">
              <a:effectLst/>
              <a:latin typeface="+mn-lt"/>
              <a:ea typeface="Times New Roman" panose="02020603050405020304" pitchFamily="18" charset="0"/>
            </a:endParaRPr>
          </a:p>
          <a:p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775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74676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Conclusions and recommendations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State key conclusions</a:t>
            </a:r>
          </a:p>
          <a:p>
            <a:pPr>
              <a:tabLst>
                <a:tab pos="2637155" algn="ctr"/>
                <a:tab pos="5274310" algn="r"/>
              </a:tabLst>
            </a:pPr>
            <a:endParaRPr lang="en-GB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2637155" algn="ctr"/>
                <a:tab pos="5274310" algn="r"/>
              </a:tabLst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Connect your conclusions/recommendations to the findings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Return to the research question and show how you have answered it</a:t>
            </a:r>
          </a:p>
          <a:p>
            <a:endParaRPr lang="en-GB" sz="2400" dirty="0">
              <a:effectLst/>
              <a:latin typeface="+mn-lt"/>
              <a:ea typeface="Times New Roman" panose="02020603050405020304" pitchFamily="18" charset="0"/>
            </a:endParaRPr>
          </a:p>
          <a:p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Recommendations should be realistic in the organisational context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Do not introduce new information</a:t>
            </a:r>
          </a:p>
          <a:p>
            <a:endParaRPr lang="en-GB" sz="2400" dirty="0">
              <a:latin typeface="+mn-lt"/>
            </a:endParaRPr>
          </a:p>
          <a:p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851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33400"/>
            <a:ext cx="74676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Reflections on the dissertation process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A critical reflection on the process of undertaking the dissertation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Ability to identify personal skills used during the research process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Ability to identify areas of personal development required during the research, and looking forward from the end of the research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854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19256" cy="792088"/>
          </a:xfrm>
        </p:spPr>
        <p:txBody>
          <a:bodyPr>
            <a:normAutofit fontScale="90000"/>
          </a:bodyPr>
          <a:lstStyle/>
          <a:p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7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8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800" dirty="0">
                <a:latin typeface="Arial" pitchFamily="34" charset="0"/>
                <a:ea typeface="Times New Roman"/>
                <a:cs typeface="Arial" pitchFamily="34" charset="0"/>
              </a:rPr>
            </a:br>
            <a:br>
              <a:rPr lang="en-GB" sz="2800">
                <a:latin typeface="Arial" pitchFamily="34" charset="0"/>
                <a:ea typeface="Times New Roman"/>
                <a:cs typeface="Arial" pitchFamily="34" charset="0"/>
              </a:rPr>
            </a:br>
            <a:endParaRPr lang="en-GB" sz="2700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228600"/>
            <a:ext cx="7918648" cy="626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GB" sz="2400" dirty="0">
                <a:latin typeface="+mn-lt"/>
                <a:cs typeface="Arial" pitchFamily="34" charset="0"/>
              </a:rPr>
              <a:t>Research skills (</a:t>
            </a:r>
            <a:r>
              <a:rPr lang="en-GB" sz="2400" dirty="0" err="1">
                <a:cs typeface="Arial" pitchFamily="34" charset="0"/>
              </a:rPr>
              <a:t>Easterby</a:t>
            </a:r>
            <a:r>
              <a:rPr lang="en-GB" sz="2400" dirty="0">
                <a:cs typeface="Arial" pitchFamily="34" charset="0"/>
              </a:rPr>
              <a:t>-Smith </a:t>
            </a:r>
            <a:r>
              <a:rPr lang="en-GB" sz="2400" i="1" dirty="0">
                <a:cs typeface="Arial" pitchFamily="34" charset="0"/>
              </a:rPr>
              <a:t>et al.</a:t>
            </a:r>
            <a:r>
              <a:rPr lang="en-GB" sz="2400" dirty="0">
                <a:cs typeface="Arial" pitchFamily="34" charset="0"/>
              </a:rPr>
              <a:t> 2012: 7)</a:t>
            </a:r>
            <a:endParaRPr lang="en-GB" sz="2400" dirty="0">
              <a:latin typeface="+mn-lt"/>
              <a:cs typeface="Arial" pitchFamily="34" charset="0"/>
            </a:endParaRP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endParaRPr lang="en-GB" sz="2400" dirty="0">
              <a:latin typeface="+mn-lt"/>
              <a:cs typeface="Arial" pitchFamily="34" charset="0"/>
            </a:endParaRP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Planning, organising and managing your time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Searching libraries and online data sources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Interviewing and observation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Analysing and interpreting data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Arguing views orally and in writing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Gaining support and cooperation from others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Self awareness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  <a:tabLst>
                <a:tab pos="180975" algn="l"/>
              </a:tabLst>
            </a:pPr>
            <a:r>
              <a:rPr lang="en-GB" sz="2400" dirty="0">
                <a:latin typeface="+mn-lt"/>
                <a:cs typeface="Arial" pitchFamily="34" charset="0"/>
              </a:rPr>
              <a:t>Clarity of thought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Sensitivity to events and feelings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Emotional resilience 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Creativity</a:t>
            </a:r>
          </a:p>
          <a:p>
            <a:pPr marL="273050" indent="-273050" eaLnBrk="0" hangingPunct="0">
              <a:spcBef>
                <a:spcPts val="600"/>
              </a:spcBef>
              <a:buClr>
                <a:schemeClr val="accent1"/>
              </a:buClr>
              <a:buSzPct val="70000"/>
              <a:buFont typeface="Courier New" pitchFamily="49" charset="0"/>
              <a:buChar char="o"/>
            </a:pPr>
            <a:r>
              <a:rPr lang="en-GB" sz="2400" dirty="0">
                <a:latin typeface="+mn-lt"/>
                <a:cs typeface="Arial" pitchFamily="34" charset="0"/>
              </a:rPr>
              <a:t>Learning from experience</a:t>
            </a:r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9720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015049" y="1143000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2982098" y="21336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33700" y="50292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3015049" y="2819400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2982097" y="35814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2947086" y="4267200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729" name="TextBox 4"/>
          <p:cNvSpPr txBox="1">
            <a:spLocks noChangeArrowheads="1"/>
          </p:cNvSpPr>
          <p:nvPr/>
        </p:nvSpPr>
        <p:spPr bwMode="auto">
          <a:xfrm>
            <a:off x="3009900" y="1143000"/>
            <a:ext cx="3124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Introduction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Objectives</a:t>
            </a:r>
          </a:p>
        </p:txBody>
      </p:sp>
      <p:sp>
        <p:nvSpPr>
          <p:cNvPr id="30730" name="TextBox 5"/>
          <p:cNvSpPr txBox="1">
            <a:spLocks noChangeArrowheads="1"/>
          </p:cNvSpPr>
          <p:nvPr/>
        </p:nvSpPr>
        <p:spPr bwMode="auto">
          <a:xfrm>
            <a:off x="3048000" y="22098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Literature review</a:t>
            </a:r>
          </a:p>
        </p:txBody>
      </p:sp>
      <p:sp>
        <p:nvSpPr>
          <p:cNvPr id="30731" name="TextBox 6"/>
          <p:cNvSpPr txBox="1">
            <a:spLocks noChangeArrowheads="1"/>
          </p:cNvSpPr>
          <p:nvPr/>
        </p:nvSpPr>
        <p:spPr bwMode="auto">
          <a:xfrm>
            <a:off x="3096397" y="28956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Methodology</a:t>
            </a:r>
          </a:p>
        </p:txBody>
      </p:sp>
      <p:sp>
        <p:nvSpPr>
          <p:cNvPr id="30732" name="TextBox 7"/>
          <p:cNvSpPr txBox="1">
            <a:spLocks noChangeArrowheads="1"/>
          </p:cNvSpPr>
          <p:nvPr/>
        </p:nvSpPr>
        <p:spPr bwMode="auto">
          <a:xfrm>
            <a:off x="3200400" y="36576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Findings</a:t>
            </a:r>
          </a:p>
        </p:txBody>
      </p:sp>
      <p:sp>
        <p:nvSpPr>
          <p:cNvPr id="30733" name="TextBox 8"/>
          <p:cNvSpPr txBox="1">
            <a:spLocks noChangeArrowheads="1"/>
          </p:cNvSpPr>
          <p:nvPr/>
        </p:nvSpPr>
        <p:spPr bwMode="auto">
          <a:xfrm>
            <a:off x="2933700" y="43434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Analysis</a:t>
            </a:r>
          </a:p>
        </p:txBody>
      </p:sp>
      <p:sp>
        <p:nvSpPr>
          <p:cNvPr id="30734" name="TextBox 9"/>
          <p:cNvSpPr txBox="1">
            <a:spLocks noChangeArrowheads="1"/>
          </p:cNvSpPr>
          <p:nvPr/>
        </p:nvSpPr>
        <p:spPr bwMode="auto">
          <a:xfrm>
            <a:off x="2971800" y="51816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n-lt"/>
              </a:rPr>
              <a:t>Conclusions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2097" y="3810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200400" y="4572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+mn-lt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457200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Dissertation</a:t>
            </a:r>
          </a:p>
        </p:txBody>
      </p:sp>
      <p:sp>
        <p:nvSpPr>
          <p:cNvPr id="18" name="Rounded Rectangle 22">
            <a:extLst>
              <a:ext uri="{FF2B5EF4-FFF2-40B4-BE49-F238E27FC236}">
                <a16:creationId xmlns:a16="http://schemas.microsoft.com/office/drawing/2014/main" id="{6CFCB62A-A393-4BC1-A3F9-4D737BFD5008}"/>
              </a:ext>
            </a:extLst>
          </p:cNvPr>
          <p:cNvSpPr/>
          <p:nvPr/>
        </p:nvSpPr>
        <p:spPr>
          <a:xfrm>
            <a:off x="29718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9097D-98C2-4518-9CB2-F609E6898437}"/>
              </a:ext>
            </a:extLst>
          </p:cNvPr>
          <p:cNvSpPr txBox="1"/>
          <p:nvPr/>
        </p:nvSpPr>
        <p:spPr>
          <a:xfrm>
            <a:off x="3886200" y="59436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Reflections</a:t>
            </a:r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082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2519363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179388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48768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5651500" y="1450975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5322888" y="38989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511175" y="4038600"/>
            <a:ext cx="2981325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872" name="TextBox 4"/>
          <p:cNvSpPr txBox="1">
            <a:spLocks noChangeArrowheads="1"/>
          </p:cNvSpPr>
          <p:nvPr/>
        </p:nvSpPr>
        <p:spPr bwMode="auto">
          <a:xfrm>
            <a:off x="2987675" y="2638425"/>
            <a:ext cx="3124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 dirty="0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 dirty="0">
                <a:latin typeface="+mn-lt"/>
              </a:rPr>
              <a:t>Objectives</a:t>
            </a:r>
          </a:p>
        </p:txBody>
      </p:sp>
      <p:sp>
        <p:nvSpPr>
          <p:cNvPr id="36873" name="TextBox 5"/>
          <p:cNvSpPr txBox="1">
            <a:spLocks noChangeArrowheads="1"/>
          </p:cNvSpPr>
          <p:nvPr/>
        </p:nvSpPr>
        <p:spPr bwMode="auto">
          <a:xfrm>
            <a:off x="219075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Literature review</a:t>
            </a:r>
          </a:p>
        </p:txBody>
      </p:sp>
      <p:sp>
        <p:nvSpPr>
          <p:cNvPr id="36874" name="TextBox 6"/>
          <p:cNvSpPr txBox="1">
            <a:spLocks noChangeArrowheads="1"/>
          </p:cNvSpPr>
          <p:nvPr/>
        </p:nvSpPr>
        <p:spPr bwMode="auto">
          <a:xfrm>
            <a:off x="5768975" y="1546225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Methodology</a:t>
            </a:r>
          </a:p>
        </p:txBody>
      </p:sp>
      <p:sp>
        <p:nvSpPr>
          <p:cNvPr id="36875" name="TextBox 7"/>
          <p:cNvSpPr txBox="1">
            <a:spLocks noChangeArrowheads="1"/>
          </p:cNvSpPr>
          <p:nvPr/>
        </p:nvSpPr>
        <p:spPr bwMode="auto">
          <a:xfrm>
            <a:off x="5651500" y="400526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Findings</a:t>
            </a:r>
          </a:p>
        </p:txBody>
      </p:sp>
      <p:sp>
        <p:nvSpPr>
          <p:cNvPr id="36876" name="TextBox 8"/>
          <p:cNvSpPr txBox="1">
            <a:spLocks noChangeArrowheads="1"/>
          </p:cNvSpPr>
          <p:nvPr/>
        </p:nvSpPr>
        <p:spPr bwMode="auto">
          <a:xfrm>
            <a:off x="685800" y="4114800"/>
            <a:ext cx="2362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Analysis</a:t>
            </a:r>
          </a:p>
        </p:txBody>
      </p:sp>
      <p:sp>
        <p:nvSpPr>
          <p:cNvPr id="36877" name="TextBox 9"/>
          <p:cNvSpPr txBox="1">
            <a:spLocks noChangeArrowheads="1"/>
          </p:cNvSpPr>
          <p:nvPr/>
        </p:nvSpPr>
        <p:spPr bwMode="auto">
          <a:xfrm>
            <a:off x="3124200" y="50292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Conclusions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3213" y="333375"/>
            <a:ext cx="3352800" cy="431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879" name="TextBox 4"/>
          <p:cNvSpPr txBox="1">
            <a:spLocks noChangeArrowheads="1"/>
          </p:cNvSpPr>
          <p:nvPr/>
        </p:nvSpPr>
        <p:spPr bwMode="auto">
          <a:xfrm>
            <a:off x="2987675" y="344488"/>
            <a:ext cx="312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Introduction</a:t>
            </a:r>
          </a:p>
        </p:txBody>
      </p:sp>
      <p:sp>
        <p:nvSpPr>
          <p:cNvPr id="17" name="Bent Arrow 16"/>
          <p:cNvSpPr/>
          <p:nvPr/>
        </p:nvSpPr>
        <p:spPr>
          <a:xfrm rot="16200000">
            <a:off x="2339976" y="2205037"/>
            <a:ext cx="863600" cy="57467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4356100" y="765175"/>
            <a:ext cx="287338" cy="180022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" name="Down Arrow 19"/>
          <p:cNvSpPr/>
          <p:nvPr/>
        </p:nvSpPr>
        <p:spPr>
          <a:xfrm>
            <a:off x="4356100" y="3357563"/>
            <a:ext cx="287338" cy="14732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" name="Bent Arrow 21"/>
          <p:cNvSpPr/>
          <p:nvPr/>
        </p:nvSpPr>
        <p:spPr>
          <a:xfrm rot="5400000">
            <a:off x="6046788" y="3105150"/>
            <a:ext cx="1009650" cy="647700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Bent Arrow 24"/>
          <p:cNvSpPr/>
          <p:nvPr/>
        </p:nvSpPr>
        <p:spPr>
          <a:xfrm rot="5400000" flipV="1">
            <a:off x="2195512" y="3213101"/>
            <a:ext cx="936625" cy="647700"/>
          </a:xfrm>
          <a:prstGeom prst="bentArrow">
            <a:avLst>
              <a:gd name="adj1" fmla="val 25000"/>
              <a:gd name="adj2" fmla="val 29267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 rot="5400000" flipH="1">
            <a:off x="6119812" y="2168526"/>
            <a:ext cx="792163" cy="576262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9337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887" name="TextBox 9"/>
          <p:cNvSpPr txBox="1">
            <a:spLocks noChangeArrowheads="1"/>
          </p:cNvSpPr>
          <p:nvPr/>
        </p:nvSpPr>
        <p:spPr bwMode="auto">
          <a:xfrm>
            <a:off x="3048000" y="59436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 dirty="0">
                <a:latin typeface="+mn-lt"/>
              </a:rPr>
              <a:t>Reflections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492500" y="1557338"/>
            <a:ext cx="2159000" cy="28733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Right Arrow 32"/>
          <p:cNvSpPr/>
          <p:nvPr/>
        </p:nvSpPr>
        <p:spPr>
          <a:xfrm rot="5400000">
            <a:off x="359569" y="2888456"/>
            <a:ext cx="1944688" cy="28892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4" name="Right Arrow 33"/>
          <p:cNvSpPr/>
          <p:nvPr/>
        </p:nvSpPr>
        <p:spPr>
          <a:xfrm rot="5400000">
            <a:off x="6911975" y="2889250"/>
            <a:ext cx="1873250" cy="2159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" name="Right Arrow 35"/>
          <p:cNvSpPr/>
          <p:nvPr/>
        </p:nvSpPr>
        <p:spPr>
          <a:xfrm rot="10800000">
            <a:off x="3505200" y="4038600"/>
            <a:ext cx="1817688" cy="287338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7" name="Bent Arrow 36"/>
          <p:cNvSpPr/>
          <p:nvPr/>
        </p:nvSpPr>
        <p:spPr>
          <a:xfrm flipV="1">
            <a:off x="1905000" y="4648200"/>
            <a:ext cx="1054100" cy="762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6616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Bent Arrow 37"/>
          <p:cNvSpPr/>
          <p:nvPr/>
        </p:nvSpPr>
        <p:spPr>
          <a:xfrm rot="5400000" flipH="1">
            <a:off x="6739732" y="3788568"/>
            <a:ext cx="4114800" cy="652463"/>
          </a:xfrm>
          <a:prstGeom prst="bentArrow">
            <a:avLst>
              <a:gd name="adj1" fmla="val 28023"/>
              <a:gd name="adj2" fmla="val 25458"/>
              <a:gd name="adj3" fmla="val 25000"/>
              <a:gd name="adj4" fmla="val 4375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Right Arrow 38"/>
          <p:cNvSpPr/>
          <p:nvPr/>
        </p:nvSpPr>
        <p:spPr>
          <a:xfrm rot="10800000">
            <a:off x="6259513" y="5889625"/>
            <a:ext cx="2173287" cy="35877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0" name="Down Arrow 39"/>
          <p:cNvSpPr/>
          <p:nvPr/>
        </p:nvSpPr>
        <p:spPr>
          <a:xfrm rot="10800000">
            <a:off x="7637463" y="4495800"/>
            <a:ext cx="287337" cy="1473200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1" name="Down Arrow 40"/>
          <p:cNvSpPr/>
          <p:nvPr/>
        </p:nvSpPr>
        <p:spPr>
          <a:xfrm rot="10800000">
            <a:off x="1143000" y="4648200"/>
            <a:ext cx="287338" cy="1473200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2" name="Right Arrow 41"/>
          <p:cNvSpPr/>
          <p:nvPr/>
        </p:nvSpPr>
        <p:spPr>
          <a:xfrm>
            <a:off x="762000" y="5943600"/>
            <a:ext cx="2159000" cy="287338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4" name="Bent Arrow 43"/>
          <p:cNvSpPr/>
          <p:nvPr/>
        </p:nvSpPr>
        <p:spPr>
          <a:xfrm rot="16200000">
            <a:off x="-1570037" y="3798887"/>
            <a:ext cx="4114800" cy="631825"/>
          </a:xfrm>
          <a:prstGeom prst="ben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Up-Down Arrow 7"/>
          <p:cNvSpPr/>
          <p:nvPr/>
        </p:nvSpPr>
        <p:spPr>
          <a:xfrm>
            <a:off x="4419600" y="5562600"/>
            <a:ext cx="147638" cy="304800"/>
          </a:xfrm>
          <a:prstGeom prst="up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42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15"/>
    </mc:Choice>
    <mc:Fallback xmlns="">
      <p:transition spd="slow" advTm="26715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200" b="1">
                <a:solidFill>
                  <a:srgbClr val="FF0000"/>
                </a:solidFill>
              </a:rPr>
              <a:t>Questions?</a:t>
            </a:r>
          </a:p>
        </p:txBody>
      </p:sp>
      <p:pic>
        <p:nvPicPr>
          <p:cNvPr id="31747" name="Picture 4" descr="C:\Users\s.crabbe\AppData\Local\Microsoft\Windows\Temporary Internet Files\Content.IE5\7B9FBSSA\thinking-cartoon12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2133600"/>
            <a:ext cx="2417762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AF7FC5-05EE-4E31-9F0E-A197774C2E55}"/>
              </a:ext>
            </a:extLst>
          </p:cNvPr>
          <p:cNvSpPr txBox="1"/>
          <p:nvPr/>
        </p:nvSpPr>
        <p:spPr>
          <a:xfrm>
            <a:off x="838200" y="457200"/>
            <a:ext cx="71628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>
                <a:latin typeface="+mn-lt"/>
              </a:rPr>
              <a:t>M </a:t>
            </a:r>
            <a:r>
              <a:rPr lang="en-US" sz="2400" dirty="0" err="1">
                <a:latin typeface="+mn-lt"/>
              </a:rPr>
              <a:t>Easterby</a:t>
            </a:r>
            <a:r>
              <a:rPr lang="en-US" sz="2400" dirty="0">
                <a:latin typeface="+mn-lt"/>
              </a:rPr>
              <a:t>-Smith, R Thorpe and P Jackson 2012 </a:t>
            </a:r>
            <a:r>
              <a:rPr lang="en-US" sz="2400" i="1" dirty="0">
                <a:latin typeface="+mn-lt"/>
              </a:rPr>
              <a:t>Management Research,</a:t>
            </a:r>
            <a:r>
              <a:rPr lang="en-US" sz="2400" dirty="0">
                <a:latin typeface="+mn-lt"/>
              </a:rPr>
              <a:t> Sage, London</a:t>
            </a:r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8926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3730</TotalTime>
  <Words>900</Words>
  <Application>Microsoft Office PowerPoint</Application>
  <PresentationFormat>On-screen Show (4:3)</PresentationFormat>
  <Paragraphs>220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</vt:lpstr>
      <vt:lpstr>PowerPoint Presentation</vt:lpstr>
      <vt:lpstr>PowerPoint Presentation</vt:lpstr>
      <vt:lpstr>Questions?</vt:lpstr>
      <vt:lpstr>PowerPoint Presentation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 Boak</cp:lastModifiedBy>
  <cp:revision>144</cp:revision>
  <cp:lastPrinted>2020-09-09T12:09:34Z</cp:lastPrinted>
  <dcterms:created xsi:type="dcterms:W3CDTF">2005-09-18T18:21:05Z</dcterms:created>
  <dcterms:modified xsi:type="dcterms:W3CDTF">2021-02-08T15:46:54Z</dcterms:modified>
</cp:coreProperties>
</file>