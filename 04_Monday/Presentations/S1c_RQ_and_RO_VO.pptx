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5203" r:id="rId1"/>
  </p:sldMasterIdLst>
  <p:notesMasterIdLst>
    <p:notesMasterId r:id="rId15"/>
  </p:notesMasterIdLst>
  <p:handoutMasterIdLst>
    <p:handoutMasterId r:id="rId16"/>
  </p:handoutMasterIdLst>
  <p:sldIdLst>
    <p:sldId id="312" r:id="rId2"/>
    <p:sldId id="325" r:id="rId3"/>
    <p:sldId id="326" r:id="rId4"/>
    <p:sldId id="327" r:id="rId5"/>
    <p:sldId id="265" r:id="rId6"/>
    <p:sldId id="321" r:id="rId7"/>
    <p:sldId id="322" r:id="rId8"/>
    <p:sldId id="307" r:id="rId9"/>
    <p:sldId id="294" r:id="rId10"/>
    <p:sldId id="323" r:id="rId11"/>
    <p:sldId id="324" r:id="rId12"/>
    <p:sldId id="328" r:id="rId13"/>
    <p:sldId id="316" r:id="rId1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604" cy="464895"/>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sz="quarter" idx="1"/>
          </p:nvPr>
        </p:nvSpPr>
        <p:spPr>
          <a:xfrm>
            <a:off x="3970159" y="1"/>
            <a:ext cx="3038604" cy="464895"/>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A2307C98-2C02-4A20-B261-0C67BCCB5028}" type="datetimeFigureOut">
              <a:rPr lang="en-GB"/>
              <a:pPr>
                <a:defRPr/>
              </a:pPr>
              <a:t>08/02/2021</a:t>
            </a:fld>
            <a:endParaRPr lang="en-GB"/>
          </a:p>
        </p:txBody>
      </p:sp>
      <p:sp>
        <p:nvSpPr>
          <p:cNvPr id="4" name="Footer Placeholder 3"/>
          <p:cNvSpPr>
            <a:spLocks noGrp="1"/>
          </p:cNvSpPr>
          <p:nvPr>
            <p:ph type="ftr" sz="quarter" idx="2"/>
          </p:nvPr>
        </p:nvSpPr>
        <p:spPr>
          <a:xfrm>
            <a:off x="0" y="8830011"/>
            <a:ext cx="3038604" cy="464894"/>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5" name="Slide Number Placeholder 4"/>
          <p:cNvSpPr>
            <a:spLocks noGrp="1"/>
          </p:cNvSpPr>
          <p:nvPr>
            <p:ph type="sldNum" sz="quarter" idx="3"/>
          </p:nvPr>
        </p:nvSpPr>
        <p:spPr>
          <a:xfrm>
            <a:off x="3970159" y="8830011"/>
            <a:ext cx="3038604" cy="464894"/>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BB2D8D7-2E1B-4E64-BA0D-0A08E806179E}" type="slidenum">
              <a:rPr lang="en-GB" altLang="en-US"/>
              <a:pPr/>
              <a:t>‹#›</a:t>
            </a:fld>
            <a:endParaRPr lang="en-GB" altLang="en-US"/>
          </a:p>
        </p:txBody>
      </p:sp>
    </p:spTree>
    <p:extLst>
      <p:ext uri="{BB962C8B-B14F-4D97-AF65-F5344CB8AC3E}">
        <p14:creationId xmlns:p14="http://schemas.microsoft.com/office/powerpoint/2010/main" val="1669639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604" cy="464895"/>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idx="1"/>
          </p:nvPr>
        </p:nvSpPr>
        <p:spPr>
          <a:xfrm>
            <a:off x="3970159" y="1"/>
            <a:ext cx="3038604" cy="464895"/>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48B243DA-0CCB-428B-B2FD-B8C07B903141}" type="datetimeFigureOut">
              <a:rPr lang="en-GB"/>
              <a:pPr>
                <a:defRPr/>
              </a:pPr>
              <a:t>08/02/2021</a:t>
            </a:fld>
            <a:endParaRPr lang="en-GB"/>
          </a:p>
        </p:txBody>
      </p:sp>
      <p:sp>
        <p:nvSpPr>
          <p:cNvPr id="4" name="Slide Image Placeholder 3"/>
          <p:cNvSpPr>
            <a:spLocks noGrp="1" noRot="1" noChangeAspect="1"/>
          </p:cNvSpPr>
          <p:nvPr>
            <p:ph type="sldImg" idx="2"/>
          </p:nvPr>
        </p:nvSpPr>
        <p:spPr>
          <a:xfrm>
            <a:off x="1179513" y="696913"/>
            <a:ext cx="4651375" cy="3487737"/>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700713" y="4415753"/>
            <a:ext cx="5608975" cy="418405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830011"/>
            <a:ext cx="3038604" cy="464894"/>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7" name="Slide Number Placeholder 6"/>
          <p:cNvSpPr>
            <a:spLocks noGrp="1"/>
          </p:cNvSpPr>
          <p:nvPr>
            <p:ph type="sldNum" sz="quarter" idx="5"/>
          </p:nvPr>
        </p:nvSpPr>
        <p:spPr>
          <a:xfrm>
            <a:off x="3970159" y="8830011"/>
            <a:ext cx="3038604" cy="464894"/>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8248DC9F-F91A-4D70-8A8E-CCE91B309259}" type="slidenum">
              <a:rPr lang="en-GB" altLang="en-US"/>
              <a:pPr/>
              <a:t>‹#›</a:t>
            </a:fld>
            <a:endParaRPr lang="en-GB" altLang="en-US"/>
          </a:p>
        </p:txBody>
      </p:sp>
    </p:spTree>
    <p:extLst>
      <p:ext uri="{BB962C8B-B14F-4D97-AF65-F5344CB8AC3E}">
        <p14:creationId xmlns:p14="http://schemas.microsoft.com/office/powerpoint/2010/main" val="36724591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A3E9C94-3543-4441-8F63-3F900EE556D0}" type="slidenum">
              <a:rPr lang="en-GB" altLang="en-US" smtClean="0"/>
              <a:pPr>
                <a:defRPr/>
              </a:pPr>
              <a:t>9</a:t>
            </a:fld>
            <a:endParaRPr lang="en-GB" altLang="en-US"/>
          </a:p>
        </p:txBody>
      </p:sp>
    </p:spTree>
    <p:extLst>
      <p:ext uri="{BB962C8B-B14F-4D97-AF65-F5344CB8AC3E}">
        <p14:creationId xmlns:p14="http://schemas.microsoft.com/office/powerpoint/2010/main" val="370895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832F893A-D866-482D-BFA9-FF66AB3E278B}" type="datetime1">
              <a:rPr lang="en-GB" smtClean="0"/>
              <a:t>08/02/2021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DC24D54B-1D97-44FB-8108-55BD9455F0B2}" type="slidenum">
              <a:rPr lang="en-GB" altLang="en-US" smtClean="0"/>
              <a:pPr/>
              <a:t>‹#›</a:t>
            </a:fld>
            <a:endParaRPr lang="en-GB" altLang="en-US"/>
          </a:p>
        </p:txBody>
      </p:sp>
    </p:spTree>
    <p:extLst>
      <p:ext uri="{BB962C8B-B14F-4D97-AF65-F5344CB8AC3E}">
        <p14:creationId xmlns:p14="http://schemas.microsoft.com/office/powerpoint/2010/main" val="178679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EA88B37-3C37-44B8-B283-A54C613F4C2F}" type="datetime1">
              <a:rPr lang="en-GB" smtClean="0"/>
              <a:t>08/02/2021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B93B99DB-FFDE-4C94-84F9-BB176E666D73}" type="slidenum">
              <a:rPr lang="en-GB" altLang="en-US" smtClean="0"/>
              <a:pPr/>
              <a:t>‹#›</a:t>
            </a:fld>
            <a:endParaRPr lang="en-GB" altLang="en-US"/>
          </a:p>
        </p:txBody>
      </p:sp>
    </p:spTree>
    <p:extLst>
      <p:ext uri="{BB962C8B-B14F-4D97-AF65-F5344CB8AC3E}">
        <p14:creationId xmlns:p14="http://schemas.microsoft.com/office/powerpoint/2010/main" val="4153383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9C2FAFF-1089-4ACB-8D17-12EA17FD0238}" type="datetime1">
              <a:rPr lang="en-GB" smtClean="0"/>
              <a:t>08/02/2021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3B9E3C68-2F86-4C5E-A533-3027C341664F}" type="slidenum">
              <a:rPr lang="en-GB" altLang="en-US" smtClean="0"/>
              <a:pPr/>
              <a:t>‹#›</a:t>
            </a:fld>
            <a:endParaRPr lang="en-GB" altLang="en-US"/>
          </a:p>
        </p:txBody>
      </p:sp>
    </p:spTree>
    <p:extLst>
      <p:ext uri="{BB962C8B-B14F-4D97-AF65-F5344CB8AC3E}">
        <p14:creationId xmlns:p14="http://schemas.microsoft.com/office/powerpoint/2010/main" val="314791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D0867CF7-EDD5-49AF-BD10-16F84E2DD8CB}" type="datetime1">
              <a:rPr lang="en-GB" smtClean="0"/>
              <a:t>08/02/2021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140C8033-8FCC-4A55-9956-E757C5D03704}" type="slidenum">
              <a:rPr lang="en-GB" altLang="en-US" smtClean="0"/>
              <a:pPr/>
              <a:t>‹#›</a:t>
            </a:fld>
            <a:endParaRPr lang="en-GB" altLang="en-US"/>
          </a:p>
        </p:txBody>
      </p:sp>
    </p:spTree>
    <p:extLst>
      <p:ext uri="{BB962C8B-B14F-4D97-AF65-F5344CB8AC3E}">
        <p14:creationId xmlns:p14="http://schemas.microsoft.com/office/powerpoint/2010/main" val="3880729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85A93C9E-3071-4925-B72B-44AC811415F6}" type="datetime1">
              <a:rPr lang="en-GB" smtClean="0"/>
              <a:t>08/02/2021</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fld id="{34BB206D-380F-484F-B62F-E6690B8772EC}" type="slidenum">
              <a:rPr lang="en-GB" altLang="en-US" smtClean="0"/>
              <a:pPr/>
              <a:t>‹#›</a:t>
            </a:fld>
            <a:endParaRPr lang="en-GB" altLang="en-US"/>
          </a:p>
        </p:txBody>
      </p:sp>
    </p:spTree>
    <p:extLst>
      <p:ext uri="{BB962C8B-B14F-4D97-AF65-F5344CB8AC3E}">
        <p14:creationId xmlns:p14="http://schemas.microsoft.com/office/powerpoint/2010/main" val="90675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07919F7-7DE2-4923-AD2C-41EB67A0D890}" type="datetime1">
              <a:rPr lang="en-GB" smtClean="0"/>
              <a:t>08/02/2021</a:t>
            </a:fld>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fld id="{C9D798AF-0A30-43B2-AB2F-D935866C9208}" type="slidenum">
              <a:rPr lang="en-GB" altLang="en-US" smtClean="0"/>
              <a:pPr/>
              <a:t>‹#›</a:t>
            </a:fld>
            <a:endParaRPr lang="en-GB" altLang="en-US"/>
          </a:p>
        </p:txBody>
      </p:sp>
    </p:spTree>
    <p:extLst>
      <p:ext uri="{BB962C8B-B14F-4D97-AF65-F5344CB8AC3E}">
        <p14:creationId xmlns:p14="http://schemas.microsoft.com/office/powerpoint/2010/main" val="178406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66443E0-729B-494B-A883-BEFB0C622E91}" type="datetime1">
              <a:rPr lang="en-GB" smtClean="0"/>
              <a:t>08/02/2021</a:t>
            </a:fld>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fld id="{1324EBBD-F835-4812-8F89-F2A1BCF4F82F}" type="slidenum">
              <a:rPr lang="en-GB" altLang="en-US" smtClean="0"/>
              <a:pPr/>
              <a:t>‹#›</a:t>
            </a:fld>
            <a:endParaRPr lang="en-GB" altLang="en-US"/>
          </a:p>
        </p:txBody>
      </p:sp>
    </p:spTree>
    <p:extLst>
      <p:ext uri="{BB962C8B-B14F-4D97-AF65-F5344CB8AC3E}">
        <p14:creationId xmlns:p14="http://schemas.microsoft.com/office/powerpoint/2010/main" val="173443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6B82264-EF95-4D0E-9D23-10A2CCA0A5C5}" type="datetime1">
              <a:rPr lang="en-GB" smtClean="0"/>
              <a:t>08/02/2021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50EBB150-5CCF-4680-B4E1-B5EC8E2ABE6E}" type="slidenum">
              <a:rPr lang="en-GB" altLang="en-US" smtClean="0"/>
              <a:pPr/>
              <a:t>‹#›</a:t>
            </a:fld>
            <a:endParaRPr lang="en-GB" altLang="en-US"/>
          </a:p>
        </p:txBody>
      </p:sp>
    </p:spTree>
    <p:extLst>
      <p:ext uri="{BB962C8B-B14F-4D97-AF65-F5344CB8AC3E}">
        <p14:creationId xmlns:p14="http://schemas.microsoft.com/office/powerpoint/2010/main" val="414741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E17E0A2-3485-4D1C-B596-A24E95FB14F0}" type="datetime1">
              <a:rPr lang="en-GB" smtClean="0"/>
              <a:t>08/02/2021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FA308569-DAFC-4398-8338-52E92F214383}" type="slidenum">
              <a:rPr lang="en-GB" altLang="en-US" smtClean="0"/>
              <a:pPr/>
              <a:t>‹#›</a:t>
            </a:fld>
            <a:endParaRPr lang="en-GB" altLang="en-US"/>
          </a:p>
        </p:txBody>
      </p:sp>
    </p:spTree>
    <p:extLst>
      <p:ext uri="{BB962C8B-B14F-4D97-AF65-F5344CB8AC3E}">
        <p14:creationId xmlns:p14="http://schemas.microsoft.com/office/powerpoint/2010/main" val="2373352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17B5E16-F1E2-42BC-A749-33BDF788E9B4}" type="datetime1">
              <a:rPr lang="en-GB" smtClean="0"/>
              <a:t>08/02/2021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89198252-3193-4A12-9CD9-4B2ACD2D116E}" type="slidenum">
              <a:rPr lang="en-GB" altLang="en-US" smtClean="0"/>
              <a:pPr/>
              <a:t>‹#›</a:t>
            </a:fld>
            <a:endParaRPr lang="en-GB" altLang="en-US"/>
          </a:p>
        </p:txBody>
      </p:sp>
    </p:spTree>
    <p:extLst>
      <p:ext uri="{BB962C8B-B14F-4D97-AF65-F5344CB8AC3E}">
        <p14:creationId xmlns:p14="http://schemas.microsoft.com/office/powerpoint/2010/main" val="400460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B1B2CEB-6F4A-42ED-A52B-E7650B2661B0}" type="datetime1">
              <a:rPr lang="en-GB" smtClean="0"/>
              <a:t>08/02/2021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66E513B1-8050-4E58-ACFA-45CC3B066BB8}" type="slidenum">
              <a:rPr lang="en-GB" altLang="en-US" smtClean="0"/>
              <a:pPr/>
              <a:t>‹#›</a:t>
            </a:fld>
            <a:endParaRPr lang="en-GB" altLang="en-US"/>
          </a:p>
        </p:txBody>
      </p:sp>
    </p:spTree>
    <p:extLst>
      <p:ext uri="{BB962C8B-B14F-4D97-AF65-F5344CB8AC3E}">
        <p14:creationId xmlns:p14="http://schemas.microsoft.com/office/powerpoint/2010/main" val="1525254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E357E3A-F802-4798-82ED-449F76173439}" type="datetime1">
              <a:rPr lang="en-GB" smtClean="0"/>
              <a:t>08/02/2021</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857875-C26B-4CED-AB72-1B392FFD87B5}" type="slidenum">
              <a:rPr lang="en-GB" altLang="en-US" smtClean="0"/>
              <a:pPr/>
              <a:t>‹#›</a:t>
            </a:fld>
            <a:endParaRPr lang="en-GB" altLang="en-US"/>
          </a:p>
        </p:txBody>
      </p:sp>
    </p:spTree>
    <p:extLst>
      <p:ext uri="{BB962C8B-B14F-4D97-AF65-F5344CB8AC3E}">
        <p14:creationId xmlns:p14="http://schemas.microsoft.com/office/powerpoint/2010/main" val="3753721718"/>
      </p:ext>
    </p:extLst>
  </p:cSld>
  <p:clrMap bg1="lt1" tx1="dk1" bg2="lt2" tx2="dk2" accent1="accent1" accent2="accent2" accent3="accent3" accent4="accent4" accent5="accent5" accent6="accent6" hlink="hlink" folHlink="folHlink"/>
  <p:sldLayoutIdLst>
    <p:sldLayoutId id="2147485204" r:id="rId1"/>
    <p:sldLayoutId id="2147485205" r:id="rId2"/>
    <p:sldLayoutId id="2147485206" r:id="rId3"/>
    <p:sldLayoutId id="2147485207" r:id="rId4"/>
    <p:sldLayoutId id="2147485208" r:id="rId5"/>
    <p:sldLayoutId id="2147485209" r:id="rId6"/>
    <p:sldLayoutId id="2147485210" r:id="rId7"/>
    <p:sldLayoutId id="2147485211" r:id="rId8"/>
    <p:sldLayoutId id="2147485212" r:id="rId9"/>
    <p:sldLayoutId id="2147485213" r:id="rId10"/>
    <p:sldLayoutId id="214748521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2" Type="http://schemas.microsoft.com/office/2007/relationships/media" Target="../media/media4.m4a"/><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2" Type="http://schemas.microsoft.com/office/2007/relationships/media" Target="../media/media6.m4a"/><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2" Type="http://schemas.microsoft.com/office/2007/relationships/media" Target="../media/media7.m4a"/><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2" Type="http://schemas.microsoft.com/office/2007/relationships/media" Target="../media/media8.m4a"/><Relationship Id="rId1" Type="http://schemas.openxmlformats.org/officeDocument/2006/relationships/tags" Target="../tags/tag4.xml"/><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audio" Target="../media/media9.m4a"/><Relationship Id="rId7" Type="http://schemas.openxmlformats.org/officeDocument/2006/relationships/image" Target="../media/image2.png"/><Relationship Id="rId2" Type="http://schemas.microsoft.com/office/2007/relationships/media" Target="../media/media9.m4a"/><Relationship Id="rId1" Type="http://schemas.openxmlformats.org/officeDocument/2006/relationships/tags" Target="../tags/tag5.xml"/><Relationship Id="rId6" Type="http://schemas.openxmlformats.org/officeDocument/2006/relationships/image" Target="../media/image1.jpeg"/><Relationship Id="rId5" Type="http://schemas.openxmlformats.org/officeDocument/2006/relationships/notesSlide" Target="../notesSlides/notesSlide1.xml"/><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1.m4a"/><Relationship Id="rId1" Type="http://schemas.microsoft.com/office/2007/relationships/media" Target="../media/media11.m4a"/><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3" descr="C:\Users\n.waehning\Downloads\lens-1209823_1920.jpg"/>
          <p:cNvPicPr>
            <a:picLocks noChangeAspect="1" noChangeArrowheads="1"/>
          </p:cNvPicPr>
          <p:nvPr/>
        </p:nvPicPr>
        <p:blipFill>
          <a:blip r:embed="rId4">
            <a:extLst>
              <a:ext uri="{28A0092B-C50C-407E-A947-70E740481C1C}">
                <a14:useLocalDpi xmlns:a14="http://schemas.microsoft.com/office/drawing/2010/main" val="0"/>
              </a:ext>
            </a:extLst>
          </a:blip>
          <a:srcRect l="10858"/>
          <a:stretch>
            <a:fillRect/>
          </a:stretch>
        </p:blipFill>
        <p:spPr bwMode="auto">
          <a:xfrm>
            <a:off x="0" y="0"/>
            <a:ext cx="9167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extBox 3"/>
          <p:cNvSpPr txBox="1">
            <a:spLocks noChangeArrowheads="1"/>
          </p:cNvSpPr>
          <p:nvPr/>
        </p:nvSpPr>
        <p:spPr bwMode="auto">
          <a:xfrm>
            <a:off x="0" y="5805488"/>
            <a:ext cx="9144000" cy="738664"/>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pPr>
            <a:r>
              <a:rPr lang="en-GB" altLang="en-US" sz="2400" b="1" dirty="0">
                <a:latin typeface="+mn-lt"/>
              </a:rPr>
              <a:t>Research Question &amp; Research Objectives </a:t>
            </a:r>
          </a:p>
          <a:p>
            <a:pPr algn="ctr">
              <a:spcBef>
                <a:spcPct val="0"/>
              </a:spcBef>
              <a:buFontTx/>
              <a:buNone/>
            </a:pPr>
            <a:endParaRPr lang="en-GB" altLang="en-US" sz="1800" b="1" dirty="0">
              <a:latin typeface="Arial" charset="0"/>
            </a:endParaRPr>
          </a:p>
        </p:txBody>
      </p:sp>
      <p:pic>
        <p:nvPicPr>
          <p:cNvPr id="3" name="Audio 2">
            <a:hlinkClick r:id="" action="ppaction://media"/>
            <a:extLst>
              <a:ext uri="{FF2B5EF4-FFF2-40B4-BE49-F238E27FC236}">
                <a16:creationId xmlns:a16="http://schemas.microsoft.com/office/drawing/2014/main" id="{2ADD5266-2441-4A97-BAF4-D289C025B17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8500" y="6032500"/>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06"/>
    </mc:Choice>
    <mc:Fallback>
      <p:transition spd="slow" advTm="402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545654-91F6-4D3A-AE60-0CA2A0A3BDEB}"/>
              </a:ext>
            </a:extLst>
          </p:cNvPr>
          <p:cNvSpPr txBox="1"/>
          <p:nvPr/>
        </p:nvSpPr>
        <p:spPr>
          <a:xfrm>
            <a:off x="827584" y="548680"/>
            <a:ext cx="7632848" cy="1631216"/>
          </a:xfrm>
          <a:prstGeom prst="rect">
            <a:avLst/>
          </a:prstGeom>
          <a:noFill/>
        </p:spPr>
        <p:txBody>
          <a:bodyPr wrap="square" rtlCol="0">
            <a:spAutoFit/>
          </a:bodyPr>
          <a:lstStyle/>
          <a:p>
            <a:pPr eaLnBrk="1" hangingPunct="1">
              <a:spcBef>
                <a:spcPct val="0"/>
              </a:spcBef>
              <a:buFontTx/>
              <a:buNone/>
            </a:pPr>
            <a:r>
              <a:rPr lang="en-GB" altLang="en-US" sz="2800" b="1" dirty="0">
                <a:solidFill>
                  <a:srgbClr val="FF0000"/>
                </a:solidFill>
              </a:rPr>
              <a:t>Research question and research objectives</a:t>
            </a:r>
          </a:p>
          <a:p>
            <a:pPr eaLnBrk="1" hangingPunct="1">
              <a:spcBef>
                <a:spcPct val="0"/>
              </a:spcBef>
              <a:buFontTx/>
              <a:buNone/>
            </a:pPr>
            <a:endParaRPr lang="en-GB" altLang="en-US" sz="2400" b="1" dirty="0"/>
          </a:p>
          <a:p>
            <a:pPr eaLnBrk="1" hangingPunct="1">
              <a:spcBef>
                <a:spcPct val="0"/>
              </a:spcBef>
              <a:buFontTx/>
              <a:buNone/>
            </a:pPr>
            <a:r>
              <a:rPr lang="en-GB" altLang="en-US" sz="2400" dirty="0"/>
              <a:t>set the mission, vision and direction for your research</a:t>
            </a:r>
          </a:p>
          <a:p>
            <a:endParaRPr lang="en-GB" sz="2400" dirty="0"/>
          </a:p>
        </p:txBody>
      </p:sp>
      <p:pic>
        <p:nvPicPr>
          <p:cNvPr id="2" name="Audio 1">
            <a:hlinkClick r:id="" action="ppaction://media"/>
            <a:extLst>
              <a:ext uri="{FF2B5EF4-FFF2-40B4-BE49-F238E27FC236}">
                <a16:creationId xmlns:a16="http://schemas.microsoft.com/office/drawing/2014/main" id="{47D1815A-09B7-4855-8CC2-2E6BCA5F3FA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4034050114"/>
      </p:ext>
    </p:extLst>
  </p:cSld>
  <p:clrMapOvr>
    <a:masterClrMapping/>
  </p:clrMapOvr>
  <mc:AlternateContent xmlns:mc="http://schemas.openxmlformats.org/markup-compatibility/2006">
    <mc:Choice xmlns:p14="http://schemas.microsoft.com/office/powerpoint/2010/main" Requires="p14">
      <p:transition spd="slow" p14:dur="2000" advTm="9112"/>
    </mc:Choice>
    <mc:Fallback>
      <p:transition spd="slow" advTm="91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C115-7747-4748-9BFB-4B7295EB2359}"/>
              </a:ext>
            </a:extLst>
          </p:cNvPr>
          <p:cNvSpPr>
            <a:spLocks noGrp="1"/>
          </p:cNvSpPr>
          <p:nvPr>
            <p:ph type="title"/>
          </p:nvPr>
        </p:nvSpPr>
        <p:spPr/>
        <p:txBody>
          <a:bodyPr>
            <a:normAutofit/>
          </a:bodyPr>
          <a:lstStyle/>
          <a:p>
            <a:r>
              <a:rPr lang="en-GB" altLang="en-US" sz="2800" b="1" dirty="0">
                <a:solidFill>
                  <a:srgbClr val="FF0000"/>
                </a:solidFill>
                <a:latin typeface="+mn-lt"/>
              </a:rPr>
              <a:t>Research question</a:t>
            </a:r>
            <a:br>
              <a:rPr lang="en-GB" altLang="en-US" sz="2800" b="1" dirty="0">
                <a:solidFill>
                  <a:srgbClr val="FF0000"/>
                </a:solidFill>
                <a:latin typeface="+mn-lt"/>
              </a:rPr>
            </a:br>
            <a:endParaRPr lang="en-GB" sz="2800" dirty="0">
              <a:solidFill>
                <a:srgbClr val="FF0000"/>
              </a:solidFill>
              <a:latin typeface="+mn-lt"/>
            </a:endParaRPr>
          </a:p>
        </p:txBody>
      </p:sp>
      <p:sp>
        <p:nvSpPr>
          <p:cNvPr id="3" name="Content Placeholder 2">
            <a:extLst>
              <a:ext uri="{FF2B5EF4-FFF2-40B4-BE49-F238E27FC236}">
                <a16:creationId xmlns:a16="http://schemas.microsoft.com/office/drawing/2014/main" id="{DF76F339-C9FC-43BD-B2C8-4FC8AC27A2C9}"/>
              </a:ext>
            </a:extLst>
          </p:cNvPr>
          <p:cNvSpPr>
            <a:spLocks noGrp="1"/>
          </p:cNvSpPr>
          <p:nvPr>
            <p:ph idx="1"/>
          </p:nvPr>
        </p:nvSpPr>
        <p:spPr/>
        <p:txBody>
          <a:bodyPr/>
          <a:lstStyle/>
          <a:p>
            <a:pPr marL="0" indent="0">
              <a:buNone/>
            </a:pPr>
            <a:r>
              <a:rPr lang="en-GB" altLang="en-US" sz="2400" b="1" dirty="0"/>
              <a:t>What</a:t>
            </a:r>
            <a:r>
              <a:rPr lang="en-GB" altLang="en-US" sz="2400" dirty="0"/>
              <a:t> will you find out by doing your research?</a:t>
            </a:r>
          </a:p>
          <a:p>
            <a:pPr marL="0" indent="0">
              <a:buNone/>
            </a:pPr>
            <a:endParaRPr lang="en-GB" dirty="0"/>
          </a:p>
        </p:txBody>
      </p:sp>
      <p:pic>
        <p:nvPicPr>
          <p:cNvPr id="4" name="Audio 3">
            <a:hlinkClick r:id="" action="ppaction://media"/>
            <a:extLst>
              <a:ext uri="{FF2B5EF4-FFF2-40B4-BE49-F238E27FC236}">
                <a16:creationId xmlns:a16="http://schemas.microsoft.com/office/drawing/2014/main" id="{6CA442CA-5139-48B6-95C9-751F613037F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373002220"/>
      </p:ext>
    </p:extLst>
  </p:cSld>
  <p:clrMapOvr>
    <a:masterClrMapping/>
  </p:clrMapOvr>
  <mc:AlternateContent xmlns:mc="http://schemas.openxmlformats.org/markup-compatibility/2006">
    <mc:Choice xmlns:p14="http://schemas.microsoft.com/office/powerpoint/2010/main" Requires="p14">
      <p:transition spd="slow" p14:dur="2000" advTm="8833"/>
    </mc:Choice>
    <mc:Fallback>
      <p:transition spd="slow" advTm="88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6854-A73F-446F-B4C5-388BE5D04D1C}"/>
              </a:ext>
            </a:extLst>
          </p:cNvPr>
          <p:cNvSpPr>
            <a:spLocks noGrp="1"/>
          </p:cNvSpPr>
          <p:nvPr>
            <p:ph type="title"/>
          </p:nvPr>
        </p:nvSpPr>
        <p:spPr/>
        <p:txBody>
          <a:bodyPr>
            <a:normAutofit/>
          </a:bodyPr>
          <a:lstStyle/>
          <a:p>
            <a:r>
              <a:rPr lang="en-GB" altLang="en-US" sz="2800" b="1" dirty="0">
                <a:solidFill>
                  <a:srgbClr val="FF0000"/>
                </a:solidFill>
                <a:latin typeface="+mn-lt"/>
              </a:rPr>
              <a:t>Research objectives</a:t>
            </a:r>
            <a:endParaRPr lang="en-GB" sz="2800" dirty="0">
              <a:solidFill>
                <a:srgbClr val="FF0000"/>
              </a:solidFill>
              <a:latin typeface="+mn-lt"/>
            </a:endParaRPr>
          </a:p>
        </p:txBody>
      </p:sp>
      <p:sp>
        <p:nvSpPr>
          <p:cNvPr id="3" name="Content Placeholder 2">
            <a:extLst>
              <a:ext uri="{FF2B5EF4-FFF2-40B4-BE49-F238E27FC236}">
                <a16:creationId xmlns:a16="http://schemas.microsoft.com/office/drawing/2014/main" id="{5EF99761-E392-4BB6-8B80-2E17111C869E}"/>
              </a:ext>
            </a:extLst>
          </p:cNvPr>
          <p:cNvSpPr>
            <a:spLocks noGrp="1"/>
          </p:cNvSpPr>
          <p:nvPr>
            <p:ph idx="1"/>
          </p:nvPr>
        </p:nvSpPr>
        <p:spPr/>
        <p:txBody>
          <a:bodyPr/>
          <a:lstStyle/>
          <a:p>
            <a:pPr marL="0" indent="0">
              <a:buNone/>
            </a:pPr>
            <a:r>
              <a:rPr lang="en-GB" altLang="en-US" sz="2400" dirty="0"/>
              <a:t>Set out the </a:t>
            </a:r>
            <a:r>
              <a:rPr lang="en-GB" altLang="en-US" sz="2400" b="1" dirty="0"/>
              <a:t>areas</a:t>
            </a:r>
            <a:r>
              <a:rPr lang="en-GB" altLang="en-US" sz="2400" dirty="0"/>
              <a:t> that you intend to research</a:t>
            </a:r>
          </a:p>
          <a:p>
            <a:pPr marL="0" indent="0">
              <a:buNone/>
            </a:pPr>
            <a:endParaRPr lang="en-GB" altLang="en-US" sz="2400" dirty="0"/>
          </a:p>
          <a:p>
            <a:pPr marL="0" indent="0">
              <a:buNone/>
            </a:pPr>
            <a:r>
              <a:rPr lang="en-GB" altLang="en-US" sz="2400" dirty="0"/>
              <a:t>We recommend 3-4 objectives</a:t>
            </a:r>
          </a:p>
          <a:p>
            <a:pPr marL="0" indent="0">
              <a:buNone/>
            </a:pPr>
            <a:endParaRPr lang="en-GB" altLang="en-US" sz="2400" dirty="0"/>
          </a:p>
          <a:p>
            <a:pPr marL="0" indent="0">
              <a:buNone/>
            </a:pPr>
            <a:r>
              <a:rPr lang="en-GB" altLang="en-US" sz="2400" dirty="0"/>
              <a:t>First objective: what literature you will critically review</a:t>
            </a:r>
          </a:p>
          <a:p>
            <a:pPr marL="0" indent="0">
              <a:buNone/>
            </a:pPr>
            <a:endParaRPr lang="en-GB" altLang="en-US" sz="2400" dirty="0"/>
          </a:p>
          <a:p>
            <a:pPr marL="0" indent="0">
              <a:buNone/>
            </a:pPr>
            <a:r>
              <a:rPr lang="en-GB" altLang="en-US" sz="2400" dirty="0"/>
              <a:t>Objectives 2-4: what data you will gather and analyse</a:t>
            </a: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dirty="0">
              <a:latin typeface="Arial" charset="0"/>
            </a:endParaRPr>
          </a:p>
          <a:p>
            <a:pPr marL="0" indent="0">
              <a:buNone/>
            </a:pPr>
            <a:endParaRPr lang="en-GB" dirty="0"/>
          </a:p>
        </p:txBody>
      </p:sp>
      <p:pic>
        <p:nvPicPr>
          <p:cNvPr id="4" name="Audio 3">
            <a:hlinkClick r:id="" action="ppaction://media"/>
            <a:extLst>
              <a:ext uri="{FF2B5EF4-FFF2-40B4-BE49-F238E27FC236}">
                <a16:creationId xmlns:a16="http://schemas.microsoft.com/office/drawing/2014/main" id="{645DD94C-327D-4D3D-89A0-4C5E5C8B9AB3}"/>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8318500" y="6032500"/>
            <a:ext cx="609600" cy="609600"/>
          </a:xfrm>
          <a:prstGeom prst="rect">
            <a:avLst/>
          </a:prstGeom>
        </p:spPr>
      </p:pic>
    </p:spTree>
    <p:custDataLst>
      <p:tags r:id="rId1"/>
    </p:custDataLst>
    <p:extLst>
      <p:ext uri="{BB962C8B-B14F-4D97-AF65-F5344CB8AC3E}">
        <p14:creationId xmlns:p14="http://schemas.microsoft.com/office/powerpoint/2010/main" val="2836856825"/>
      </p:ext>
    </p:extLst>
  </p:cSld>
  <p:clrMapOvr>
    <a:masterClrMapping/>
  </p:clrMapOvr>
  <mc:AlternateContent xmlns:mc="http://schemas.openxmlformats.org/markup-compatibility/2006">
    <mc:Choice xmlns:p14="http://schemas.microsoft.com/office/powerpoint/2010/main" Requires="p14">
      <p:transition spd="slow" p14:dur="2000" advTm="33384"/>
    </mc:Choice>
    <mc:Fallback>
      <p:transition spd="slow" advTm="333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2"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07502F4-FEC9-4ECB-8E25-9B44C33CC56C}"/>
              </a:ext>
            </a:extLst>
          </p:cNvPr>
          <p:cNvSpPr>
            <a:spLocks noChangeArrowheads="1"/>
          </p:cNvSpPr>
          <p:nvPr/>
        </p:nvSpPr>
        <p:spPr bwMode="auto">
          <a:xfrm>
            <a:off x="1979712" y="1556792"/>
            <a:ext cx="5293568" cy="367240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tx2">
              <a:lumMod val="40000"/>
              <a:lumOff val="60000"/>
            </a:schemeClr>
          </a:solidFill>
          <a:ln w="9525">
            <a:solidFill>
              <a:schemeClr val="tx1"/>
            </a:solidFill>
            <a:miter lim="800000"/>
            <a:headEnd/>
            <a:tailEnd/>
          </a:ln>
          <a:effectLst>
            <a:innerShdw blurRad="63500" dist="50800" dir="10800000">
              <a:prstClr val="black">
                <a:alpha val="50000"/>
              </a:prstClr>
            </a:innerShdw>
          </a:effectLst>
          <a:scene3d>
            <a:camera prst="orthographicFront"/>
            <a:lightRig rig="threePt" dir="t"/>
          </a:scene3d>
          <a:sp3d>
            <a:bevelT w="101600" prst="riblet"/>
          </a:sp3d>
        </p:spPr>
        <p:txBody>
          <a:bodyPr wrap="none" anchor="ctr"/>
          <a:lstStyle/>
          <a:p>
            <a:pPr algn="ctr" eaLnBrk="0" hangingPunct="0">
              <a:defRPr/>
            </a:pPr>
            <a:endParaRPr lang="en-US" sz="2400">
              <a:solidFill>
                <a:schemeClr val="bg2"/>
              </a:solidFill>
              <a:latin typeface="Times New Roman" pitchFamily="18" charset="0"/>
            </a:endParaRPr>
          </a:p>
        </p:txBody>
      </p:sp>
      <p:sp>
        <p:nvSpPr>
          <p:cNvPr id="6149" name="TextBox 2">
            <a:extLst>
              <a:ext uri="{FF2B5EF4-FFF2-40B4-BE49-F238E27FC236}">
                <a16:creationId xmlns:a16="http://schemas.microsoft.com/office/drawing/2014/main" id="{1DE3AA69-F0DF-4BDD-BE62-57B89D9C19B1}"/>
              </a:ext>
            </a:extLst>
          </p:cNvPr>
          <p:cNvSpPr txBox="1">
            <a:spLocks noChangeArrowheads="1"/>
          </p:cNvSpPr>
          <p:nvPr/>
        </p:nvSpPr>
        <p:spPr bwMode="auto">
          <a:xfrm>
            <a:off x="1042988" y="549275"/>
            <a:ext cx="73453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3600" dirty="0">
                <a:latin typeface="+mn-lt"/>
              </a:rPr>
              <a:t>Broad area of interest</a:t>
            </a:r>
          </a:p>
        </p:txBody>
      </p:sp>
      <p:sp>
        <p:nvSpPr>
          <p:cNvPr id="4" name="Down Arrow 3">
            <a:extLst>
              <a:ext uri="{FF2B5EF4-FFF2-40B4-BE49-F238E27FC236}">
                <a16:creationId xmlns:a16="http://schemas.microsoft.com/office/drawing/2014/main" id="{D57BB9CB-0B38-4752-B182-70B5EA603F0E}"/>
              </a:ext>
            </a:extLst>
          </p:cNvPr>
          <p:cNvSpPr/>
          <p:nvPr/>
        </p:nvSpPr>
        <p:spPr>
          <a:xfrm>
            <a:off x="4139952" y="1268760"/>
            <a:ext cx="720080" cy="2016224"/>
          </a:xfrm>
          <a:prstGeom prst="downArrow">
            <a:avLst/>
          </a:prstGeom>
          <a:solidFill>
            <a:srgbClr val="FF0000"/>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cs typeface="Arial" pitchFamily="34" charset="0"/>
            </a:endParaRPr>
          </a:p>
        </p:txBody>
      </p:sp>
      <p:sp>
        <p:nvSpPr>
          <p:cNvPr id="6153" name="TextBox 4">
            <a:extLst>
              <a:ext uri="{FF2B5EF4-FFF2-40B4-BE49-F238E27FC236}">
                <a16:creationId xmlns:a16="http://schemas.microsoft.com/office/drawing/2014/main" id="{E99CE7C2-6C3F-4177-B3D2-99DC76632064}"/>
              </a:ext>
            </a:extLst>
          </p:cNvPr>
          <p:cNvSpPr txBox="1">
            <a:spLocks noChangeArrowheads="1"/>
          </p:cNvSpPr>
          <p:nvPr/>
        </p:nvSpPr>
        <p:spPr bwMode="auto">
          <a:xfrm>
            <a:off x="2555875" y="3357563"/>
            <a:ext cx="4103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3200" dirty="0">
                <a:latin typeface="+mn-lt"/>
              </a:rPr>
              <a:t>Particular focus</a:t>
            </a:r>
          </a:p>
        </p:txBody>
      </p:sp>
      <p:sp>
        <p:nvSpPr>
          <p:cNvPr id="6" name="Down Arrow 5">
            <a:extLst>
              <a:ext uri="{FF2B5EF4-FFF2-40B4-BE49-F238E27FC236}">
                <a16:creationId xmlns:a16="http://schemas.microsoft.com/office/drawing/2014/main" id="{7C3549F8-2AC2-46D2-BCD8-BF4EB01F8D82}"/>
              </a:ext>
            </a:extLst>
          </p:cNvPr>
          <p:cNvSpPr/>
          <p:nvPr/>
        </p:nvSpPr>
        <p:spPr>
          <a:xfrm>
            <a:off x="4067944" y="4005064"/>
            <a:ext cx="720080" cy="1584176"/>
          </a:xfrm>
          <a:prstGeom prst="downArrow">
            <a:avLst/>
          </a:prstGeom>
          <a:solidFill>
            <a:srgbClr val="FF0000"/>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cs typeface="Arial" pitchFamily="34" charset="0"/>
            </a:endParaRPr>
          </a:p>
        </p:txBody>
      </p:sp>
      <p:sp>
        <p:nvSpPr>
          <p:cNvPr id="6157" name="TextBox 6">
            <a:extLst>
              <a:ext uri="{FF2B5EF4-FFF2-40B4-BE49-F238E27FC236}">
                <a16:creationId xmlns:a16="http://schemas.microsoft.com/office/drawing/2014/main" id="{2CE0449F-AB0E-48C0-B11B-F647C17ED48D}"/>
              </a:ext>
            </a:extLst>
          </p:cNvPr>
          <p:cNvSpPr txBox="1">
            <a:spLocks noChangeArrowheads="1"/>
          </p:cNvSpPr>
          <p:nvPr/>
        </p:nvSpPr>
        <p:spPr bwMode="auto">
          <a:xfrm>
            <a:off x="2195513" y="5589588"/>
            <a:ext cx="55451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3200" dirty="0">
                <a:latin typeface="+mn-lt"/>
              </a:rPr>
              <a:t>Clear question and specific objectives</a:t>
            </a:r>
          </a:p>
        </p:txBody>
      </p:sp>
      <p:pic>
        <p:nvPicPr>
          <p:cNvPr id="3" name="Audio 2">
            <a:hlinkClick r:id="" action="ppaction://media"/>
            <a:extLst>
              <a:ext uri="{FF2B5EF4-FFF2-40B4-BE49-F238E27FC236}">
                <a16:creationId xmlns:a16="http://schemas.microsoft.com/office/drawing/2014/main" id="{E64F7B16-4A74-4702-B25B-BEB94265F60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754"/>
    </mc:Choice>
    <mc:Fallback>
      <p:transition spd="slow" advTm="29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7238-97C1-4CC4-819B-3F70791C4ED4}"/>
              </a:ext>
            </a:extLst>
          </p:cNvPr>
          <p:cNvSpPr>
            <a:spLocks noGrp="1"/>
          </p:cNvSpPr>
          <p:nvPr>
            <p:ph type="title"/>
          </p:nvPr>
        </p:nvSpPr>
        <p:spPr/>
        <p:txBody>
          <a:bodyPr>
            <a:normAutofit/>
          </a:bodyPr>
          <a:lstStyle/>
          <a:p>
            <a:r>
              <a:rPr lang="en-GB" sz="2800" b="1" dirty="0">
                <a:solidFill>
                  <a:srgbClr val="FF0000"/>
                </a:solidFill>
                <a:latin typeface="+mn-lt"/>
              </a:rPr>
              <a:t>Examples of good research questions</a:t>
            </a:r>
          </a:p>
        </p:txBody>
      </p:sp>
      <p:sp>
        <p:nvSpPr>
          <p:cNvPr id="3" name="Content Placeholder 2">
            <a:extLst>
              <a:ext uri="{FF2B5EF4-FFF2-40B4-BE49-F238E27FC236}">
                <a16:creationId xmlns:a16="http://schemas.microsoft.com/office/drawing/2014/main" id="{7FAE3E0F-1BB0-43BF-9053-D19648E4A668}"/>
              </a:ext>
            </a:extLst>
          </p:cNvPr>
          <p:cNvSpPr>
            <a:spLocks noGrp="1"/>
          </p:cNvSpPr>
          <p:nvPr>
            <p:ph idx="1"/>
          </p:nvPr>
        </p:nvSpPr>
        <p:spPr>
          <a:xfrm>
            <a:off x="457200" y="1855365"/>
            <a:ext cx="8229600" cy="4525963"/>
          </a:xfrm>
        </p:spPr>
        <p:txBody>
          <a:bodyPr/>
          <a:lstStyle/>
          <a:p>
            <a:pPr marL="457200" indent="-457200" algn="just">
              <a:spcBef>
                <a:spcPct val="0"/>
              </a:spcBef>
              <a:buFont typeface="+mj-lt"/>
              <a:buAutoNum type="arabicPeriod"/>
              <a:defRPr/>
            </a:pPr>
            <a:r>
              <a:rPr lang="en-GB" altLang="en-US" sz="2400" dirty="0"/>
              <a:t>What, in practice, are the principal competencies and skills needed for a humanitarian leader to be effective in the Sudanese context?</a:t>
            </a:r>
          </a:p>
          <a:p>
            <a:pPr marL="457200" indent="-457200" algn="just">
              <a:spcBef>
                <a:spcPct val="0"/>
              </a:spcBef>
              <a:buFont typeface="+mj-lt"/>
              <a:buAutoNum type="arabicPeriod"/>
              <a:defRPr/>
            </a:pPr>
            <a:endParaRPr lang="en-GB" altLang="en-US" sz="2400" dirty="0"/>
          </a:p>
          <a:p>
            <a:pPr marL="457200" indent="-457200" algn="just">
              <a:spcBef>
                <a:spcPct val="0"/>
              </a:spcBef>
              <a:buFont typeface="+mj-lt"/>
              <a:buAutoNum type="arabicPeriod"/>
              <a:defRPr/>
            </a:pPr>
            <a:r>
              <a:rPr lang="en-GB" altLang="en-US" sz="2400" dirty="0"/>
              <a:t>How do Cambodian MFIs translate the environmental pressures and aspirations to innovate into their internal processes and behaviours?</a:t>
            </a:r>
          </a:p>
          <a:p>
            <a:pPr marL="457200" indent="-457200" algn="just">
              <a:spcBef>
                <a:spcPct val="0"/>
              </a:spcBef>
              <a:buFont typeface="+mj-lt"/>
              <a:buAutoNum type="arabicPeriod"/>
              <a:defRPr/>
            </a:pPr>
            <a:endParaRPr lang="en-GB" altLang="en-US" sz="2400" dirty="0"/>
          </a:p>
          <a:p>
            <a:endParaRPr lang="en-GB" dirty="0"/>
          </a:p>
        </p:txBody>
      </p:sp>
      <p:pic>
        <p:nvPicPr>
          <p:cNvPr id="5" name="Audio 4">
            <a:hlinkClick r:id="" action="ppaction://media"/>
            <a:extLst>
              <a:ext uri="{FF2B5EF4-FFF2-40B4-BE49-F238E27FC236}">
                <a16:creationId xmlns:a16="http://schemas.microsoft.com/office/drawing/2014/main" id="{173863D3-F880-4C2D-936C-2CE9C7F3FE69}"/>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8318500" y="6032500"/>
            <a:ext cx="609600" cy="609600"/>
          </a:xfrm>
          <a:prstGeom prst="rect">
            <a:avLst/>
          </a:prstGeom>
        </p:spPr>
      </p:pic>
    </p:spTree>
    <p:custDataLst>
      <p:tags r:id="rId1"/>
    </p:custDataLst>
    <p:extLst>
      <p:ext uri="{BB962C8B-B14F-4D97-AF65-F5344CB8AC3E}">
        <p14:creationId xmlns:p14="http://schemas.microsoft.com/office/powerpoint/2010/main" val="4290586477"/>
      </p:ext>
    </p:extLst>
  </p:cSld>
  <p:clrMapOvr>
    <a:masterClrMapping/>
  </p:clrMapOvr>
  <mc:AlternateContent xmlns:mc="http://schemas.openxmlformats.org/markup-compatibility/2006">
    <mc:Choice xmlns:p14="http://schemas.microsoft.com/office/powerpoint/2010/main" Requires="p14">
      <p:transition spd="slow" p14:dur="2000" advTm="44426"/>
    </mc:Choice>
    <mc:Fallback>
      <p:transition spd="slow" advTm="444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AE3E0F-1BB0-43BF-9053-D19648E4A668}"/>
              </a:ext>
            </a:extLst>
          </p:cNvPr>
          <p:cNvSpPr>
            <a:spLocks noGrp="1"/>
          </p:cNvSpPr>
          <p:nvPr>
            <p:ph idx="1"/>
          </p:nvPr>
        </p:nvSpPr>
        <p:spPr>
          <a:xfrm>
            <a:off x="457200" y="1855365"/>
            <a:ext cx="8229600" cy="4525963"/>
          </a:xfrm>
        </p:spPr>
        <p:txBody>
          <a:bodyPr/>
          <a:lstStyle/>
          <a:p>
            <a:pPr marL="457200" indent="-457200" algn="just">
              <a:spcBef>
                <a:spcPct val="0"/>
              </a:spcBef>
              <a:buFont typeface="+mj-lt"/>
              <a:buAutoNum type="arabicPeriod" startAt="3"/>
              <a:defRPr/>
            </a:pPr>
            <a:r>
              <a:rPr lang="en-GB" altLang="en-US" sz="2400" dirty="0"/>
              <a:t>What is the appropriate approach to managing change in an international (or multinational) organization in Africa given the intercultural context and possible wide differences of cultural sensitivities among management and staff?</a:t>
            </a:r>
          </a:p>
          <a:p>
            <a:pPr marL="457200" indent="-457200" algn="just">
              <a:spcBef>
                <a:spcPct val="0"/>
              </a:spcBef>
              <a:buFont typeface="+mj-lt"/>
              <a:buAutoNum type="arabicPeriod" startAt="3"/>
              <a:defRPr/>
            </a:pPr>
            <a:endParaRPr lang="en-GB" altLang="en-US" sz="2400" dirty="0"/>
          </a:p>
          <a:p>
            <a:pPr marL="457200" indent="-457200" algn="just">
              <a:spcBef>
                <a:spcPct val="0"/>
              </a:spcBef>
              <a:buFont typeface="+mj-lt"/>
              <a:buAutoNum type="arabicPeriod" startAt="3"/>
              <a:defRPr/>
            </a:pPr>
            <a:r>
              <a:rPr lang="en-GB" altLang="en-US" sz="2400" dirty="0"/>
              <a:t>What caused resistance to the organisational change within [the case study company], how did management respond, and how effective were their responses?</a:t>
            </a:r>
          </a:p>
          <a:p>
            <a:pPr marL="457200" indent="-457200" algn="just">
              <a:spcBef>
                <a:spcPct val="0"/>
              </a:spcBef>
              <a:buFont typeface="+mj-lt"/>
              <a:buAutoNum type="arabicPeriod" startAt="3"/>
              <a:defRPr/>
            </a:pPr>
            <a:endParaRPr lang="en-GB" altLang="en-US" sz="2400" dirty="0"/>
          </a:p>
          <a:p>
            <a:endParaRPr lang="en-GB" dirty="0"/>
          </a:p>
        </p:txBody>
      </p:sp>
      <p:pic>
        <p:nvPicPr>
          <p:cNvPr id="2" name="Audio 1">
            <a:hlinkClick r:id="" action="ppaction://media"/>
            <a:extLst>
              <a:ext uri="{FF2B5EF4-FFF2-40B4-BE49-F238E27FC236}">
                <a16:creationId xmlns:a16="http://schemas.microsoft.com/office/drawing/2014/main" id="{5E41EE76-9397-4F4B-BF19-A39F2CF3F573}"/>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8318500" y="6032500"/>
            <a:ext cx="609600" cy="609600"/>
          </a:xfrm>
          <a:prstGeom prst="rect">
            <a:avLst/>
          </a:prstGeom>
        </p:spPr>
      </p:pic>
    </p:spTree>
    <p:custDataLst>
      <p:tags r:id="rId1"/>
    </p:custDataLst>
    <p:extLst>
      <p:ext uri="{BB962C8B-B14F-4D97-AF65-F5344CB8AC3E}">
        <p14:creationId xmlns:p14="http://schemas.microsoft.com/office/powerpoint/2010/main" val="256654264"/>
      </p:ext>
    </p:extLst>
  </p:cSld>
  <p:clrMapOvr>
    <a:masterClrMapping/>
  </p:clrMapOvr>
  <mc:AlternateContent xmlns:mc="http://schemas.openxmlformats.org/markup-compatibility/2006">
    <mc:Choice xmlns:p14="http://schemas.microsoft.com/office/powerpoint/2010/main" Requires="p14">
      <p:transition spd="slow" p14:dur="2000" advTm="49187"/>
    </mc:Choice>
    <mc:Fallback>
      <p:transition spd="slow" advTm="491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5363" name="TextBox 2"/>
          <p:cNvSpPr txBox="1">
            <a:spLocks noChangeArrowheads="1"/>
          </p:cNvSpPr>
          <p:nvPr/>
        </p:nvSpPr>
        <p:spPr bwMode="auto">
          <a:xfrm>
            <a:off x="34925" y="44450"/>
            <a:ext cx="90011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r>
              <a:rPr lang="en-GB" altLang="en-US" sz="2400" b="1" dirty="0">
                <a:solidFill>
                  <a:schemeClr val="bg1"/>
                </a:solidFill>
                <a:latin typeface="+mn-lt"/>
              </a:rPr>
              <a:t>Activity:</a:t>
            </a:r>
          </a:p>
          <a:p>
            <a:pPr eaLnBrk="1" hangingPunct="1">
              <a:spcBef>
                <a:spcPct val="0"/>
              </a:spcBef>
              <a:buFontTx/>
              <a:buNone/>
              <a:defRPr/>
            </a:pPr>
            <a:endParaRPr lang="en-GB" altLang="en-US" sz="2400" dirty="0">
              <a:solidFill>
                <a:schemeClr val="bg1"/>
              </a:solidFill>
              <a:latin typeface="Arial" charset="0"/>
            </a:endParaRPr>
          </a:p>
          <a:p>
            <a:pPr eaLnBrk="1" hangingPunct="1">
              <a:spcBef>
                <a:spcPct val="0"/>
              </a:spcBef>
              <a:buFontTx/>
              <a:buNone/>
              <a:defRPr/>
            </a:pPr>
            <a:r>
              <a:rPr lang="en-GB" altLang="en-US" sz="2400" dirty="0">
                <a:solidFill>
                  <a:schemeClr val="bg1"/>
                </a:solidFill>
                <a:latin typeface="+mn-lt"/>
              </a:rPr>
              <a:t>Work in groups of 4-5. You should each have the chance to talk about your ideas for your research/dissertation: </a:t>
            </a:r>
          </a:p>
          <a:p>
            <a:pPr eaLnBrk="1" hangingPunct="1">
              <a:spcBef>
                <a:spcPct val="0"/>
              </a:spcBef>
              <a:buFontTx/>
              <a:buNone/>
              <a:defRPr/>
            </a:pPr>
            <a:endParaRPr lang="en-GB" altLang="en-US" sz="2400" dirty="0">
              <a:solidFill>
                <a:schemeClr val="bg1"/>
              </a:solidFill>
              <a:latin typeface="+mn-lt"/>
            </a:endParaRPr>
          </a:p>
          <a:p>
            <a:pPr marL="363538" indent="-188913" eaLnBrk="1" hangingPunct="1">
              <a:spcBef>
                <a:spcPct val="0"/>
              </a:spcBef>
              <a:defRPr/>
            </a:pPr>
            <a:r>
              <a:rPr lang="en-GB" altLang="en-US" sz="2400" dirty="0">
                <a:solidFill>
                  <a:schemeClr val="bg1"/>
                </a:solidFill>
                <a:latin typeface="+mn-lt"/>
              </a:rPr>
              <a:t> the broad area(s)</a:t>
            </a:r>
          </a:p>
          <a:p>
            <a:pPr marL="363538" indent="-188913" eaLnBrk="1" hangingPunct="1">
              <a:spcBef>
                <a:spcPct val="0"/>
              </a:spcBef>
              <a:defRPr/>
            </a:pPr>
            <a:r>
              <a:rPr lang="en-GB" altLang="en-US" sz="2400" dirty="0">
                <a:solidFill>
                  <a:schemeClr val="bg1"/>
                </a:solidFill>
                <a:latin typeface="+mn-lt"/>
              </a:rPr>
              <a:t> what you can access</a:t>
            </a:r>
          </a:p>
          <a:p>
            <a:pPr marL="363538" indent="-188913" eaLnBrk="1" hangingPunct="1">
              <a:spcBef>
                <a:spcPct val="0"/>
              </a:spcBef>
              <a:defRPr/>
            </a:pPr>
            <a:r>
              <a:rPr lang="en-GB" altLang="en-US" sz="2400" dirty="0">
                <a:solidFill>
                  <a:schemeClr val="bg1"/>
                </a:solidFill>
                <a:latin typeface="+mn-lt"/>
              </a:rPr>
              <a:t> what the research question might be</a:t>
            </a:r>
          </a:p>
        </p:txBody>
      </p:sp>
      <p:pic>
        <p:nvPicPr>
          <p:cNvPr id="10244" name="Picture 5" descr="C:\Users\n.waehning\Downloads\sparrows-2759978_1920 (1).jpg"/>
          <p:cNvPicPr>
            <a:picLocks noChangeAspect="1" noChangeArrowheads="1"/>
          </p:cNvPicPr>
          <p:nvPr/>
        </p:nvPicPr>
        <p:blipFill>
          <a:blip r:embed="rId5">
            <a:extLst>
              <a:ext uri="{28A0092B-C50C-407E-A947-70E740481C1C}">
                <a14:useLocalDpi xmlns:a14="http://schemas.microsoft.com/office/drawing/2010/main" val="0"/>
              </a:ext>
            </a:extLst>
          </a:blip>
          <a:srcRect r="1030"/>
          <a:stretch>
            <a:fillRect/>
          </a:stretch>
        </p:blipFill>
        <p:spPr bwMode="auto">
          <a:xfrm>
            <a:off x="0" y="3784600"/>
            <a:ext cx="914400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Audio 3">
            <a:hlinkClick r:id="" action="ppaction://media"/>
            <a:extLst>
              <a:ext uri="{FF2B5EF4-FFF2-40B4-BE49-F238E27FC236}">
                <a16:creationId xmlns:a16="http://schemas.microsoft.com/office/drawing/2014/main" id="{14CA643B-7BF2-4DFE-A035-317739A0070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8318500" y="6032500"/>
            <a:ext cx="609600" cy="6096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8851"/>
    </mc:Choice>
    <mc:Fallback>
      <p:transition spd="slow" advTm="688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descr="C:\Users\n.waehning\Downloads\lens-1209823_1920.jpg"/>
          <p:cNvPicPr>
            <a:picLocks noChangeAspect="1" noChangeArrowheads="1"/>
          </p:cNvPicPr>
          <p:nvPr/>
        </p:nvPicPr>
        <p:blipFill>
          <a:blip r:embed="rId6">
            <a:extLst>
              <a:ext uri="{28A0092B-C50C-407E-A947-70E740481C1C}">
                <a14:useLocalDpi xmlns:a14="http://schemas.microsoft.com/office/drawing/2010/main" val="0"/>
              </a:ext>
            </a:extLst>
          </a:blip>
          <a:srcRect l="10858"/>
          <a:stretch>
            <a:fillRect/>
          </a:stretch>
        </p:blipFill>
        <p:spPr bwMode="auto">
          <a:xfrm>
            <a:off x="0" y="0"/>
            <a:ext cx="9167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
          <p:cNvSpPr txBox="1">
            <a:spLocks noChangeArrowheads="1"/>
          </p:cNvSpPr>
          <p:nvPr/>
        </p:nvSpPr>
        <p:spPr bwMode="auto">
          <a:xfrm>
            <a:off x="0" y="131763"/>
            <a:ext cx="9144000" cy="1200329"/>
          </a:xfrm>
          <a:prstGeom prst="rect">
            <a:avLst/>
          </a:prstGeom>
          <a:solidFill>
            <a:schemeClr val="tx1">
              <a:lumMod val="65000"/>
              <a:lumOff val="35000"/>
              <a:alpha val="50000"/>
            </a:schemeClr>
          </a:solid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r>
              <a:rPr lang="en-GB" altLang="en-US" sz="2400" dirty="0">
                <a:solidFill>
                  <a:schemeClr val="bg1"/>
                </a:solidFill>
                <a:latin typeface="+mn-lt"/>
              </a:rPr>
              <a:t>In any topic area, there are a number of possible research projects</a:t>
            </a:r>
          </a:p>
          <a:p>
            <a:pPr eaLnBrk="1" hangingPunct="1">
              <a:spcBef>
                <a:spcPct val="0"/>
              </a:spcBef>
              <a:buFontTx/>
              <a:buNone/>
              <a:defRPr/>
            </a:pPr>
            <a:endParaRPr lang="en-GB" altLang="en-US" sz="2400" dirty="0">
              <a:solidFill>
                <a:schemeClr val="bg1"/>
              </a:solidFill>
              <a:latin typeface="+mn-lt"/>
            </a:endParaRPr>
          </a:p>
          <a:p>
            <a:pPr eaLnBrk="1" hangingPunct="1">
              <a:spcBef>
                <a:spcPct val="0"/>
              </a:spcBef>
              <a:buFontTx/>
              <a:buNone/>
              <a:defRPr/>
            </a:pPr>
            <a:r>
              <a:rPr lang="en-GB" altLang="en-US" sz="2400" dirty="0">
                <a:solidFill>
                  <a:schemeClr val="bg1"/>
                </a:solidFill>
                <a:latin typeface="+mn-lt"/>
              </a:rPr>
              <a:t>…but you only need to do one dissertation!</a:t>
            </a:r>
          </a:p>
        </p:txBody>
      </p:sp>
      <p:sp>
        <p:nvSpPr>
          <p:cNvPr id="2" name="TextBox 1"/>
          <p:cNvSpPr txBox="1"/>
          <p:nvPr/>
        </p:nvSpPr>
        <p:spPr>
          <a:xfrm>
            <a:off x="0" y="5589588"/>
            <a:ext cx="9144000" cy="830997"/>
          </a:xfrm>
          <a:prstGeom prst="rect">
            <a:avLst/>
          </a:prstGeom>
          <a:solidFill>
            <a:schemeClr val="tx1">
              <a:lumMod val="65000"/>
              <a:lumOff val="35000"/>
              <a:alpha val="50000"/>
            </a:schemeClr>
          </a:solidFill>
        </p:spPr>
        <p:txBody>
          <a:bodyPr>
            <a:spAutoFit/>
          </a:bodyPr>
          <a:lstStyle/>
          <a:p>
            <a:pPr eaLnBrk="1" hangingPunct="1">
              <a:defRPr/>
            </a:pPr>
            <a:r>
              <a:rPr lang="en-GB" altLang="en-US" sz="2400" dirty="0">
                <a:solidFill>
                  <a:prstClr val="white"/>
                </a:solidFill>
              </a:rPr>
              <a:t>Narrowing down, focusing, often means making choices – </a:t>
            </a:r>
            <a:r>
              <a:rPr lang="en-GB" altLang="en-US" sz="2400" dirty="0" err="1">
                <a:solidFill>
                  <a:prstClr val="white"/>
                </a:solidFill>
              </a:rPr>
              <a:t>ie</a:t>
            </a:r>
            <a:r>
              <a:rPr lang="en-GB" altLang="en-US" sz="2400" dirty="0">
                <a:solidFill>
                  <a:prstClr val="white"/>
                </a:solidFill>
              </a:rPr>
              <a:t> to focus on a certain aspect of the situation and </a:t>
            </a:r>
            <a:r>
              <a:rPr lang="en-GB" altLang="en-US" sz="2400" u="sng" dirty="0">
                <a:solidFill>
                  <a:prstClr val="white"/>
                </a:solidFill>
              </a:rPr>
              <a:t>not</a:t>
            </a:r>
            <a:r>
              <a:rPr lang="en-GB" altLang="en-US" sz="2400" dirty="0">
                <a:solidFill>
                  <a:prstClr val="white"/>
                </a:solidFill>
              </a:rPr>
              <a:t> to focus on other aspects.</a:t>
            </a:r>
          </a:p>
        </p:txBody>
      </p:sp>
      <p:pic>
        <p:nvPicPr>
          <p:cNvPr id="4" name="Audio 3">
            <a:hlinkClick r:id="" action="ppaction://media"/>
            <a:extLst>
              <a:ext uri="{FF2B5EF4-FFF2-40B4-BE49-F238E27FC236}">
                <a16:creationId xmlns:a16="http://schemas.microsoft.com/office/drawing/2014/main" id="{06C050D1-C5E8-4D1A-B1BF-BD7A039CB7C0}"/>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8318500" y="6032500"/>
            <a:ext cx="609600" cy="6096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9948"/>
    </mc:Choice>
    <mc:Fallback>
      <p:transition spd="slow" advTm="399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4"/>
                </p:tgtEl>
              </p:cMediaNode>
            </p:audio>
          </p:childTnLst>
        </p:cTn>
      </p:par>
    </p:tnLst>
    <p:bldLst>
      <p:bldP spid="3"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AD2D4B-B8FC-4BE6-9996-A0A95654979A}"/>
              </a:ext>
            </a:extLst>
          </p:cNvPr>
          <p:cNvSpPr txBox="1"/>
          <p:nvPr/>
        </p:nvSpPr>
        <p:spPr>
          <a:xfrm>
            <a:off x="755576" y="476672"/>
            <a:ext cx="7488832" cy="4955203"/>
          </a:xfrm>
          <a:prstGeom prst="rect">
            <a:avLst/>
          </a:prstGeom>
          <a:noFill/>
        </p:spPr>
        <p:txBody>
          <a:bodyPr wrap="square" rtlCol="0">
            <a:spAutoFit/>
          </a:bodyPr>
          <a:lstStyle/>
          <a:p>
            <a:pPr eaLnBrk="1" hangingPunct="1">
              <a:spcBef>
                <a:spcPct val="0"/>
              </a:spcBef>
              <a:buFontTx/>
              <a:buNone/>
              <a:defRPr/>
            </a:pPr>
            <a:r>
              <a:rPr lang="en-GB" altLang="en-US" sz="2800" b="1" dirty="0">
                <a:solidFill>
                  <a:srgbClr val="FF0000"/>
                </a:solidFill>
              </a:rPr>
              <a:t>Exercise</a:t>
            </a:r>
          </a:p>
          <a:p>
            <a:pPr eaLnBrk="1" hangingPunct="1">
              <a:spcBef>
                <a:spcPct val="0"/>
              </a:spcBef>
              <a:buFontTx/>
              <a:buNone/>
              <a:defRPr/>
            </a:pPr>
            <a:endParaRPr lang="en-GB" altLang="en-US" sz="2400" b="1" dirty="0"/>
          </a:p>
          <a:p>
            <a:pPr eaLnBrk="1" hangingPunct="1">
              <a:spcBef>
                <a:spcPct val="0"/>
              </a:spcBef>
              <a:buFontTx/>
              <a:buNone/>
              <a:defRPr/>
            </a:pPr>
            <a:r>
              <a:rPr lang="en-GB" altLang="en-US" sz="2400" b="1" dirty="0"/>
              <a:t>For tomorrow’s session</a:t>
            </a:r>
          </a:p>
          <a:p>
            <a:pPr eaLnBrk="1" hangingPunct="1">
              <a:spcBef>
                <a:spcPct val="0"/>
              </a:spcBef>
              <a:buFontTx/>
              <a:buNone/>
              <a:defRPr/>
            </a:pPr>
            <a:endParaRPr lang="en-GB" altLang="en-US" sz="2400" dirty="0"/>
          </a:p>
          <a:p>
            <a:pPr eaLnBrk="1" hangingPunct="1">
              <a:spcBef>
                <a:spcPct val="0"/>
              </a:spcBef>
              <a:buFontTx/>
              <a:buNone/>
              <a:defRPr/>
            </a:pPr>
            <a:r>
              <a:rPr lang="en-GB" altLang="en-US" sz="2400" dirty="0"/>
              <a:t>Look at the examples in the Word file: </a:t>
            </a:r>
          </a:p>
          <a:p>
            <a:pPr eaLnBrk="1" hangingPunct="1">
              <a:spcBef>
                <a:spcPct val="0"/>
              </a:spcBef>
              <a:buFontTx/>
              <a:buNone/>
              <a:defRPr/>
            </a:pPr>
            <a:endParaRPr lang="en-GB" altLang="en-US" sz="2400" dirty="0"/>
          </a:p>
          <a:p>
            <a:pPr eaLnBrk="1" hangingPunct="1">
              <a:spcBef>
                <a:spcPct val="0"/>
              </a:spcBef>
              <a:buFontTx/>
              <a:buNone/>
              <a:defRPr/>
            </a:pPr>
            <a:r>
              <a:rPr lang="en-GB" altLang="en-US" sz="2400" dirty="0"/>
              <a:t>EXERCISE 2: Research Question and Research Objectives, on the Online Campus</a:t>
            </a:r>
          </a:p>
          <a:p>
            <a:pPr eaLnBrk="1" hangingPunct="1">
              <a:spcBef>
                <a:spcPct val="0"/>
              </a:spcBef>
              <a:buFontTx/>
              <a:buNone/>
              <a:defRPr/>
            </a:pPr>
            <a:endParaRPr lang="en-GB" altLang="en-US" sz="2400" dirty="0"/>
          </a:p>
          <a:p>
            <a:pPr marL="363538" indent="-188913" eaLnBrk="1" hangingPunct="1">
              <a:spcBef>
                <a:spcPct val="0"/>
              </a:spcBef>
              <a:defRPr/>
            </a:pPr>
            <a:r>
              <a:rPr lang="en-GB" altLang="en-US" sz="2400" dirty="0"/>
              <a:t>Are they sufficiently clear and specific?</a:t>
            </a:r>
          </a:p>
          <a:p>
            <a:pPr marL="363538" indent="-188913" eaLnBrk="1" hangingPunct="1">
              <a:spcBef>
                <a:spcPct val="0"/>
              </a:spcBef>
              <a:defRPr/>
            </a:pPr>
            <a:endParaRPr lang="en-GB" altLang="en-US" sz="2400" dirty="0"/>
          </a:p>
          <a:p>
            <a:pPr marL="363538" indent="-188913" eaLnBrk="1" hangingPunct="1">
              <a:spcBef>
                <a:spcPct val="0"/>
              </a:spcBef>
              <a:defRPr/>
            </a:pPr>
            <a:r>
              <a:rPr lang="en-GB" altLang="en-US" sz="2400" dirty="0"/>
              <a:t>If not, how could they be improved?</a:t>
            </a:r>
          </a:p>
          <a:p>
            <a:endParaRPr lang="en-GB" sz="2400" dirty="0"/>
          </a:p>
        </p:txBody>
      </p:sp>
      <p:pic>
        <p:nvPicPr>
          <p:cNvPr id="2" name="Audio 1">
            <a:hlinkClick r:id="" action="ppaction://media"/>
            <a:extLst>
              <a:ext uri="{FF2B5EF4-FFF2-40B4-BE49-F238E27FC236}">
                <a16:creationId xmlns:a16="http://schemas.microsoft.com/office/drawing/2014/main" id="{888CA15A-0C91-4E83-9A70-76F4568DDF3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3565218416"/>
      </p:ext>
    </p:extLst>
  </p:cSld>
  <p:clrMapOvr>
    <a:masterClrMapping/>
  </p:clrMapOvr>
  <mc:AlternateContent xmlns:mc="http://schemas.openxmlformats.org/markup-compatibility/2006">
    <mc:Choice xmlns:p14="http://schemas.microsoft.com/office/powerpoint/2010/main" Requires="p14">
      <p:transition spd="slow" p14:dur="2000" advTm="40645"/>
    </mc:Choice>
    <mc:Fallback>
      <p:transition spd="slow" advTm="406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18E3D2E-E14E-4BC1-851F-1BF7E7728A0A}"/>
              </a:ext>
            </a:extLst>
          </p:cNvPr>
          <p:cNvSpPr txBox="1"/>
          <p:nvPr/>
        </p:nvSpPr>
        <p:spPr>
          <a:xfrm>
            <a:off x="683568" y="476672"/>
            <a:ext cx="7776864" cy="5970865"/>
          </a:xfrm>
          <a:prstGeom prst="rect">
            <a:avLst/>
          </a:prstGeom>
          <a:noFill/>
        </p:spPr>
        <p:txBody>
          <a:bodyPr wrap="square" rtlCol="0">
            <a:spAutoFit/>
          </a:bodyPr>
          <a:lstStyle/>
          <a:p>
            <a:pPr eaLnBrk="1" hangingPunct="1">
              <a:defRPr/>
            </a:pPr>
            <a:r>
              <a:rPr lang="en-GB" sz="2800" b="1" dirty="0">
                <a:solidFill>
                  <a:srgbClr val="FF0000"/>
                </a:solidFill>
              </a:rPr>
              <a:t>Example</a:t>
            </a:r>
          </a:p>
          <a:p>
            <a:pPr eaLnBrk="1" hangingPunct="1">
              <a:defRPr/>
            </a:pPr>
            <a:endParaRPr lang="en-GB" sz="2400" dirty="0"/>
          </a:p>
          <a:p>
            <a:pPr eaLnBrk="1" hangingPunct="1">
              <a:defRPr/>
            </a:pPr>
            <a:r>
              <a:rPr lang="en-GB" sz="2400" dirty="0"/>
              <a:t>How leadership is going to impact the strategy of change within [my] organization?</a:t>
            </a:r>
          </a:p>
          <a:p>
            <a:pPr eaLnBrk="1" hangingPunct="1">
              <a:defRPr/>
            </a:pPr>
            <a:endParaRPr lang="en-GB" sz="2400" dirty="0"/>
          </a:p>
          <a:p>
            <a:pPr eaLnBrk="1" hangingPunct="1">
              <a:defRPr/>
            </a:pPr>
            <a:r>
              <a:rPr lang="en-GB" sz="2400" dirty="0"/>
              <a:t>The research objectives and aims of my paper are to:</a:t>
            </a:r>
          </a:p>
          <a:p>
            <a:pPr eaLnBrk="1" hangingPunct="1">
              <a:defRPr/>
            </a:pPr>
            <a:endParaRPr lang="en-GB" sz="2400" dirty="0"/>
          </a:p>
          <a:p>
            <a:pPr marL="457200" indent="-457200" eaLnBrk="1" hangingPunct="1">
              <a:buAutoNum type="arabicPeriod"/>
              <a:defRPr/>
            </a:pPr>
            <a:r>
              <a:rPr lang="en-GB" sz="2400" dirty="0"/>
              <a:t>Identify how leadership is going to impact the strategy of change within my organization to build a solid organizational structure.</a:t>
            </a:r>
          </a:p>
          <a:p>
            <a:pPr marL="457200" indent="-457200" eaLnBrk="1" hangingPunct="1">
              <a:buAutoNum type="arabicPeriod"/>
              <a:defRPr/>
            </a:pPr>
            <a:endParaRPr lang="en-GB" sz="2400" dirty="0"/>
          </a:p>
          <a:p>
            <a:pPr marL="457200" indent="-457200" defTabSz="450850" eaLnBrk="1" hangingPunct="1">
              <a:buFont typeface="+mj-lt"/>
              <a:buAutoNum type="arabicPeriod"/>
              <a:tabLst>
                <a:tab pos="355600" algn="l"/>
              </a:tabLst>
              <a:defRPr/>
            </a:pPr>
            <a:r>
              <a:rPr lang="en-GB" sz="2400" dirty="0"/>
              <a:t>Detect why change is needed within my organization.</a:t>
            </a:r>
          </a:p>
          <a:p>
            <a:pPr marL="457200" indent="-457200" eaLnBrk="1" hangingPunct="1">
              <a:buFont typeface="+mj-lt"/>
              <a:buAutoNum type="arabicPeriod"/>
              <a:defRPr/>
            </a:pPr>
            <a:endParaRPr lang="en-GB" sz="2400" dirty="0"/>
          </a:p>
          <a:p>
            <a:pPr marL="457200" indent="-457200" defTabSz="450850" eaLnBrk="1" hangingPunct="1">
              <a:buFont typeface="+mj-lt"/>
              <a:buAutoNum type="arabicPeriod"/>
              <a:defRPr/>
            </a:pPr>
            <a:r>
              <a:rPr lang="en-GB" sz="2400" dirty="0"/>
              <a:t>What are the limitations and difficulties that the leader faces when taking up leadership roles?</a:t>
            </a:r>
          </a:p>
          <a:p>
            <a:endParaRPr lang="en-GB" dirty="0"/>
          </a:p>
        </p:txBody>
      </p:sp>
      <p:pic>
        <p:nvPicPr>
          <p:cNvPr id="2" name="Audio 1">
            <a:hlinkClick r:id="" action="ppaction://media"/>
            <a:extLst>
              <a:ext uri="{FF2B5EF4-FFF2-40B4-BE49-F238E27FC236}">
                <a16:creationId xmlns:a16="http://schemas.microsoft.com/office/drawing/2014/main" id="{5BBB50AD-536D-4844-BD57-C3DD8D5E78F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052439827"/>
      </p:ext>
    </p:extLst>
  </p:cSld>
  <p:clrMapOvr>
    <a:masterClrMapping/>
  </p:clrMapOvr>
  <mc:AlternateContent xmlns:mc="http://schemas.openxmlformats.org/markup-compatibility/2006">
    <mc:Choice xmlns:p14="http://schemas.microsoft.com/office/powerpoint/2010/main" Requires="p14">
      <p:transition spd="slow" p14:dur="2000" advTm="182820"/>
    </mc:Choice>
    <mc:Fallback>
      <p:transition spd="slow" advTm="182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AD10C6-FA75-4789-9093-6087625A3D02}"/>
              </a:ext>
            </a:extLst>
          </p:cNvPr>
          <p:cNvSpPr txBox="1"/>
          <p:nvPr/>
        </p:nvSpPr>
        <p:spPr>
          <a:xfrm>
            <a:off x="899592" y="620688"/>
            <a:ext cx="7632848" cy="3477875"/>
          </a:xfrm>
          <a:prstGeom prst="rect">
            <a:avLst/>
          </a:prstGeom>
          <a:noFill/>
        </p:spPr>
        <p:txBody>
          <a:bodyPr wrap="square" rtlCol="0">
            <a:spAutoFit/>
          </a:bodyPr>
          <a:lstStyle/>
          <a:p>
            <a:r>
              <a:rPr lang="en-US" sz="2800" b="1" dirty="0">
                <a:solidFill>
                  <a:srgbClr val="FF0000"/>
                </a:solidFill>
              </a:rPr>
              <a:t>For tomorrow</a:t>
            </a:r>
          </a:p>
          <a:p>
            <a:endParaRPr lang="en-US" sz="2400" dirty="0"/>
          </a:p>
          <a:p>
            <a:r>
              <a:rPr lang="en-US" sz="2400" dirty="0"/>
              <a:t>Tackle:</a:t>
            </a:r>
          </a:p>
          <a:p>
            <a:endParaRPr lang="en-US" sz="2400" dirty="0"/>
          </a:p>
          <a:p>
            <a:r>
              <a:rPr lang="en-US" sz="2400" dirty="0"/>
              <a:t>EXERCISE 1: Literature search</a:t>
            </a:r>
          </a:p>
          <a:p>
            <a:endParaRPr lang="en-US" sz="2400" dirty="0"/>
          </a:p>
          <a:p>
            <a:r>
              <a:rPr lang="en-GB" altLang="en-US" sz="2400" dirty="0"/>
              <a:t>EXERCISE 2: Research Question and Research Objectives</a:t>
            </a:r>
          </a:p>
          <a:p>
            <a:endParaRPr lang="en-GB" altLang="en-US" sz="2400" dirty="0"/>
          </a:p>
          <a:p>
            <a:r>
              <a:rPr lang="en-GB" altLang="en-US" sz="2400" dirty="0"/>
              <a:t>Both are on the Online Campus</a:t>
            </a:r>
            <a:endParaRPr lang="en-GB" sz="2400" dirty="0"/>
          </a:p>
        </p:txBody>
      </p:sp>
      <p:pic>
        <p:nvPicPr>
          <p:cNvPr id="2" name="Audio 1">
            <a:hlinkClick r:id="" action="ppaction://media"/>
            <a:extLst>
              <a:ext uri="{FF2B5EF4-FFF2-40B4-BE49-F238E27FC236}">
                <a16:creationId xmlns:a16="http://schemas.microsoft.com/office/drawing/2014/main" id="{D16A2E36-DFB0-4AA7-B3A1-19BAA9175E6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18500" y="6032500"/>
            <a:ext cx="609600" cy="609600"/>
          </a:xfrm>
          <a:prstGeom prst="rect">
            <a:avLst/>
          </a:prstGeom>
        </p:spPr>
      </p:pic>
    </p:spTree>
    <p:extLst>
      <p:ext uri="{BB962C8B-B14F-4D97-AF65-F5344CB8AC3E}">
        <p14:creationId xmlns:p14="http://schemas.microsoft.com/office/powerpoint/2010/main" val="1802313237"/>
      </p:ext>
    </p:extLst>
  </p:cSld>
  <p:clrMapOvr>
    <a:masterClrMapping/>
  </p:clrMapOvr>
  <mc:AlternateContent xmlns:mc="http://schemas.openxmlformats.org/markup-compatibility/2006">
    <mc:Choice xmlns:p14="http://schemas.microsoft.com/office/powerpoint/2010/main" Requires="p14">
      <p:transition spd="slow" p14:dur="2000" advTm="27216"/>
    </mc:Choice>
    <mc:Fallback>
      <p:transition spd="slow" advTm="272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p:cNvSpPr>
            <a:spLocks noGrp="1"/>
          </p:cNvSpPr>
          <p:nvPr>
            <p:ph type="title"/>
          </p:nvPr>
        </p:nvSpPr>
        <p:spPr/>
        <p:txBody>
          <a:bodyPr>
            <a:normAutofit/>
          </a:bodyPr>
          <a:lstStyle/>
          <a:p>
            <a:r>
              <a:rPr lang="en-GB" altLang="en-US" sz="2800" b="1" dirty="0"/>
              <a:t>References</a:t>
            </a:r>
          </a:p>
        </p:txBody>
      </p:sp>
      <p:sp>
        <p:nvSpPr>
          <p:cNvPr id="13315" name="Content Placeholder 3"/>
          <p:cNvSpPr>
            <a:spLocks noGrp="1"/>
          </p:cNvSpPr>
          <p:nvPr>
            <p:ph sz="half" idx="1"/>
          </p:nvPr>
        </p:nvSpPr>
        <p:spPr>
          <a:xfrm>
            <a:off x="457200" y="1600200"/>
            <a:ext cx="8507413" cy="4525963"/>
          </a:xfrm>
        </p:spPr>
        <p:txBody>
          <a:bodyPr>
            <a:normAutofit/>
          </a:bodyPr>
          <a:lstStyle/>
          <a:p>
            <a:pPr marL="0" indent="0">
              <a:buNone/>
            </a:pPr>
            <a:r>
              <a:rPr lang="en-GB" altLang="en-US" sz="2400" dirty="0"/>
              <a:t>Photographs: are taken from </a:t>
            </a:r>
            <a:r>
              <a:rPr lang="en-GB" altLang="en-US" sz="2400" dirty="0" err="1"/>
              <a:t>Pixabay</a:t>
            </a:r>
            <a:r>
              <a:rPr lang="en-GB" altLang="en-US" sz="2400" dirty="0"/>
              <a:t>: </a:t>
            </a:r>
            <a:r>
              <a:rPr lang="en-GB" altLang="en-US" sz="2400" dirty="0">
                <a:hlinkClick r:id="rId2"/>
              </a:rPr>
              <a:t>https://pixabay.com</a:t>
            </a:r>
            <a:r>
              <a:rPr lang="en-GB" altLang="en-US" sz="2400" dirty="0"/>
              <a:t> which offers royalty-free photos and videos to share. </a:t>
            </a:r>
          </a:p>
        </p:txBody>
      </p:sp>
    </p:spTree>
    <p:extLst>
      <p:ext uri="{BB962C8B-B14F-4D97-AF65-F5344CB8AC3E}">
        <p14:creationId xmlns:p14="http://schemas.microsoft.com/office/powerpoint/2010/main" val="40744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6.3|10|9.5"/>
</p:tagLst>
</file>

<file path=ppt/tags/tag2.xml><?xml version="1.0" encoding="utf-8"?>
<p:tagLst xmlns:a="http://schemas.openxmlformats.org/drawingml/2006/main" xmlns:r="http://schemas.openxmlformats.org/officeDocument/2006/relationships" xmlns:p="http://schemas.openxmlformats.org/presentationml/2006/main">
  <p:tag name="TIMING" val="|4|21.2"/>
</p:tagLst>
</file>

<file path=ppt/tags/tag3.xml><?xml version="1.0" encoding="utf-8"?>
<p:tagLst xmlns:a="http://schemas.openxmlformats.org/drawingml/2006/main" xmlns:r="http://schemas.openxmlformats.org/officeDocument/2006/relationships" xmlns:p="http://schemas.openxmlformats.org/presentationml/2006/main">
  <p:tag name="TIMING" val="|1.6|17.3"/>
</p:tagLst>
</file>

<file path=ppt/tags/tag4.xml><?xml version="1.0" encoding="utf-8"?>
<p:tagLst xmlns:a="http://schemas.openxmlformats.org/drawingml/2006/main" xmlns:r="http://schemas.openxmlformats.org/officeDocument/2006/relationships" xmlns:p="http://schemas.openxmlformats.org/presentationml/2006/main">
  <p:tag name="TIMING" val="|18.1|3.4|6.4"/>
</p:tagLst>
</file>

<file path=ppt/tags/tag5.xml><?xml version="1.0" encoding="utf-8"?>
<p:tagLst xmlns:a="http://schemas.openxmlformats.org/drawingml/2006/main" xmlns:r="http://schemas.openxmlformats.org/officeDocument/2006/relationships" xmlns:p="http://schemas.openxmlformats.org/presentationml/2006/main">
  <p:tag name="TIMING" val="|11.1|12.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288</TotalTime>
  <Words>443</Words>
  <Application>Microsoft Office PowerPoint</Application>
  <PresentationFormat>On-screen Show (4:3)</PresentationFormat>
  <Paragraphs>73</Paragraphs>
  <Slides>13</Slides>
  <Notes>1</Notes>
  <HiddenSlides>0</HiddenSlides>
  <MMClips>12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Research question </vt:lpstr>
      <vt:lpstr>Research objectives</vt:lpstr>
      <vt:lpstr>PowerPoint Presentation</vt:lpstr>
      <vt:lpstr>Examples of good research questions</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Nadine Waehning</dc:creator>
  <cp:lastModifiedBy>George Boak</cp:lastModifiedBy>
  <cp:revision>16</cp:revision>
  <cp:lastPrinted>2020-06-17T09:16:30Z</cp:lastPrinted>
  <dcterms:created xsi:type="dcterms:W3CDTF">2020-05-11T05:51:43Z</dcterms:created>
  <dcterms:modified xsi:type="dcterms:W3CDTF">2021-02-08T12:39:06Z</dcterms:modified>
</cp:coreProperties>
</file>