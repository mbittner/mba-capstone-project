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5"/>
  </p:notesMasterIdLst>
  <p:handoutMasterIdLst>
    <p:handoutMasterId r:id="rId16"/>
  </p:handoutMasterIdLst>
  <p:sldIdLst>
    <p:sldId id="256" r:id="rId3"/>
    <p:sldId id="398" r:id="rId4"/>
    <p:sldId id="400" r:id="rId5"/>
    <p:sldId id="395" r:id="rId6"/>
    <p:sldId id="396" r:id="rId7"/>
    <p:sldId id="397" r:id="rId8"/>
    <p:sldId id="403" r:id="rId9"/>
    <p:sldId id="404" r:id="rId10"/>
    <p:sldId id="401" r:id="rId11"/>
    <p:sldId id="402" r:id="rId12"/>
    <p:sldId id="306" r:id="rId13"/>
    <p:sldId id="399" r:id="rId14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13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15/04/2020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23954D-DE47-4C19-8BCC-5CFBB91D97F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88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</a:t>
            </a:r>
            <a:r>
              <a:rPr lang="en-US" altLang="en-US" b="1" smtClean="0">
                <a:solidFill>
                  <a:srgbClr val="FF0000"/>
                </a:solidFill>
              </a:rPr>
              <a:t>Dissertation: </a:t>
            </a:r>
            <a:br>
              <a:rPr lang="en-US" altLang="en-US" b="1" smtClean="0">
                <a:solidFill>
                  <a:srgbClr val="FF0000"/>
                </a:solidFill>
              </a:rPr>
            </a:br>
            <a:r>
              <a:rPr lang="en-US" altLang="en-US" b="1" smtClean="0">
                <a:solidFill>
                  <a:srgbClr val="FF0000"/>
                </a:solidFill>
              </a:rPr>
              <a:t>Designing your research project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65"/>
    </mc:Choice>
    <mc:Fallback xmlns="">
      <p:transition spd="slow" advTm="7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A12EFD-ADC2-48AE-A191-C2518FB8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sz="2800" b="1" dirty="0">
                <a:solidFill>
                  <a:srgbClr val="FF0000"/>
                </a:solidFill>
              </a:rPr>
              <a:t>Designing your 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D50685-2B15-4378-96EC-EE89104E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WHAT do you want to find out?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WHY do you want to find this out?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WHO will you gather information from?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HOW will you gather that </a:t>
            </a:r>
            <a:r>
              <a:rPr lang="en-GB" sz="2400"/>
              <a:t>information</a:t>
            </a:r>
            <a:r>
              <a:rPr lang="en-GB" sz="2400" smtClean="0"/>
              <a:t>?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 smtClean="0"/>
              <a:t>WHEN and WHERE will you carry out the research?</a:t>
            </a:r>
            <a:endParaRPr lang="en-GB" sz="24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493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07"/>
    </mc:Choice>
    <mc:Fallback xmlns="">
      <p:transition spd="slow" advTm="474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GB" altLang="en-US" sz="28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Choosing your topic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Interest</a:t>
            </a:r>
            <a:r>
              <a:rPr lang="en-GB" altLang="en-US" sz="2400" b="1" dirty="0">
                <a:solidFill>
                  <a:schemeClr val="hlink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>
                <a:cs typeface="Arial" panose="020B0604020202020204" pitchFamily="34" charset="0"/>
              </a:rPr>
              <a:t>	</a:t>
            </a:r>
          </a:p>
          <a:p>
            <a:pPr marL="609600" indent="-609600" eaLnBrk="1" hangingPunct="1">
              <a:buFontTx/>
              <a:buNone/>
            </a:pPr>
            <a:endParaRPr lang="en-GB" altLang="en-US" sz="2400" dirty="0">
              <a:cs typeface="Arial" panose="020B0604020202020204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Meets course requirements</a:t>
            </a:r>
          </a:p>
          <a:p>
            <a:pPr marL="609600" indent="-609600" eaLnBrk="1" hangingPunct="1">
              <a:buFontTx/>
              <a:buNone/>
            </a:pPr>
            <a:endParaRPr lang="en-GB" altLang="en-US" sz="2400" dirty="0">
              <a:cs typeface="Arial" panose="020B0604020202020204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Practical in the time available</a:t>
            </a: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 - </a:t>
            </a:r>
            <a:r>
              <a:rPr lang="en-GB" altLang="en-US" sz="2400" dirty="0" err="1">
                <a:cs typeface="Arial" panose="020B0604020202020204" pitchFamily="34" charset="0"/>
              </a:rPr>
              <a:t>eg</a:t>
            </a:r>
            <a:r>
              <a:rPr lang="en-GB" altLang="en-US" sz="2400" dirty="0">
                <a:cs typeface="Arial" panose="020B0604020202020204" pitchFamily="34" charset="0"/>
              </a:rPr>
              <a:t> access, resources, complexity, expertise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78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07"/>
    </mc:Choice>
    <mc:Fallback xmlns="">
      <p:transition spd="slow" advTm="60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14400" y="990600"/>
            <a:ext cx="26670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+mn-lt"/>
              </a:rPr>
              <a:t>Qualitative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990600"/>
            <a:ext cx="5029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Usually: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Small samples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Interview data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Analysis of themes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Explore a phenomenon in detail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4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527"/>
    </mc:Choice>
    <mc:Fallback xmlns="">
      <p:transition spd="slow" advTm="44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14400" y="2895600"/>
            <a:ext cx="26670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43000" y="3928053"/>
            <a:ext cx="2209800" cy="91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+mn-lt"/>
              </a:rPr>
              <a:t>Quantitative approach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91000" y="2514600"/>
            <a:ext cx="3733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Usually: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Larger samples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Questionnaire data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Statistical analyses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Discover common patterns</a:t>
            </a:r>
          </a:p>
          <a:p>
            <a:endParaRPr lang="en-GB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3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36"/>
    </mc:Choice>
    <mc:Fallback xmlns="">
      <p:transition spd="slow" advTm="189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14400" y="990600"/>
            <a:ext cx="26670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+mn-lt"/>
              </a:rPr>
              <a:t>Qualitative 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819400"/>
            <a:ext cx="26670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1143000" y="40386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+mn-lt"/>
              </a:rPr>
              <a:t>Quantitative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2400" y="990600"/>
            <a:ext cx="4419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Mixed methods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 best of both worlds?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Risk of having too much data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87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80"/>
    </mc:Choice>
    <mc:Fallback xmlns="">
      <p:transition spd="slow" advTm="304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3"/>
          <p:cNvSpPr txBox="1">
            <a:spLocks noChangeArrowheads="1"/>
          </p:cNvSpPr>
          <p:nvPr/>
        </p:nvSpPr>
        <p:spPr bwMode="auto">
          <a:xfrm>
            <a:off x="6096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smtClean="0">
                <a:latin typeface="+mn-lt"/>
                <a:cs typeface="Arial" charset="0"/>
              </a:rPr>
              <a:t>Starting with data - an </a:t>
            </a:r>
            <a:r>
              <a:rPr lang="en-GB" sz="2400" b="1">
                <a:latin typeface="+mn-lt"/>
                <a:cs typeface="Arial" charset="0"/>
              </a:rPr>
              <a:t>inductive strategy </a:t>
            </a:r>
          </a:p>
          <a:p>
            <a:pPr>
              <a:defRPr/>
            </a:pPr>
            <a:endParaRPr lang="en-GB" sz="2400">
              <a:latin typeface="+mn-lt"/>
              <a:cs typeface="Arial" charset="0"/>
            </a:endParaRPr>
          </a:p>
          <a:p>
            <a:pPr>
              <a:defRPr/>
            </a:pPr>
            <a:r>
              <a:rPr lang="en-GB" sz="2400">
                <a:latin typeface="+mn-lt"/>
                <a:cs typeface="Arial" charset="0"/>
              </a:rPr>
              <a:t>- building theory</a:t>
            </a:r>
          </a:p>
          <a:p>
            <a:pPr>
              <a:defRPr/>
            </a:pPr>
            <a:endParaRPr lang="en-GB" sz="2400">
              <a:latin typeface="+mn-lt"/>
              <a:cs typeface="Arial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GB" sz="2400">
                <a:latin typeface="+mn-lt"/>
                <a:cs typeface="Arial" charset="0"/>
              </a:rPr>
              <a:t>Develop a research question</a:t>
            </a:r>
          </a:p>
          <a:p>
            <a:pPr marL="457200" indent="-457200">
              <a:defRPr/>
            </a:pPr>
            <a:endParaRPr lang="en-GB" sz="2400">
              <a:latin typeface="+mn-lt"/>
              <a:cs typeface="Arial" charset="0"/>
            </a:endParaRPr>
          </a:p>
          <a:p>
            <a:pPr marL="457200" indent="-457200">
              <a:defRPr/>
            </a:pPr>
            <a:r>
              <a:rPr lang="en-GB" sz="2400">
                <a:latin typeface="+mn-lt"/>
                <a:cs typeface="Arial" charset="0"/>
              </a:rPr>
              <a:t>eg ‘what </a:t>
            </a:r>
            <a:r>
              <a:rPr lang="en-GB" sz="2400" smtClean="0">
                <a:latin typeface="+mn-lt"/>
                <a:cs typeface="Arial" charset="0"/>
              </a:rPr>
              <a:t>effects will a high level of trust in an employee's supervisor have on the effort the employee puts into their work, and what factors influence the level of trust?’ </a:t>
            </a:r>
            <a:endParaRPr lang="en-GB" sz="2400">
              <a:latin typeface="+mn-lt"/>
              <a:cs typeface="Arial" charset="0"/>
            </a:endParaRPr>
          </a:p>
          <a:p>
            <a:pPr>
              <a:defRPr/>
            </a:pPr>
            <a:endParaRPr lang="en-GB" sz="2400">
              <a:latin typeface="+mn-lt"/>
              <a:cs typeface="Arial" charset="0"/>
            </a:endParaRPr>
          </a:p>
          <a:p>
            <a:pPr>
              <a:defRPr/>
            </a:pPr>
            <a:r>
              <a:rPr lang="en-GB" sz="2400">
                <a:latin typeface="+mn-lt"/>
                <a:cs typeface="Arial" charset="0"/>
              </a:rPr>
              <a:t>2. Gather data</a:t>
            </a:r>
          </a:p>
          <a:p>
            <a:pPr>
              <a:defRPr/>
            </a:pPr>
            <a:endParaRPr lang="en-GB" sz="2400">
              <a:latin typeface="+mn-lt"/>
              <a:cs typeface="Arial" charset="0"/>
            </a:endParaRPr>
          </a:p>
          <a:p>
            <a:pPr>
              <a:defRPr/>
            </a:pPr>
            <a:r>
              <a:rPr lang="en-GB" sz="2400">
                <a:latin typeface="+mn-lt"/>
                <a:cs typeface="Arial" charset="0"/>
              </a:rPr>
              <a:t>- find out </a:t>
            </a:r>
            <a:r>
              <a:rPr lang="en-GB" sz="2400" smtClean="0">
                <a:latin typeface="+mn-lt"/>
                <a:cs typeface="Arial" charset="0"/>
              </a:rPr>
              <a:t>opinions of employees and supervisors on these issues</a:t>
            </a:r>
            <a:endParaRPr lang="en-GB" sz="2400">
              <a:latin typeface="+mn-lt"/>
              <a:cs typeface="Arial" charset="0"/>
            </a:endParaRPr>
          </a:p>
          <a:p>
            <a:pPr>
              <a:defRPr/>
            </a:pPr>
            <a:endParaRPr lang="en-GB" sz="2400">
              <a:latin typeface="+mn-lt"/>
              <a:cs typeface="Arial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9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06"/>
    </mc:Choice>
    <mc:Fallback xmlns="">
      <p:transition spd="slow" advTm="538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3"/>
          <p:cNvSpPr txBox="1">
            <a:spLocks noChangeArrowheads="1"/>
          </p:cNvSpPr>
          <p:nvPr/>
        </p:nvSpPr>
        <p:spPr bwMode="auto">
          <a:xfrm>
            <a:off x="533400" y="457200"/>
            <a:ext cx="822960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  <a:latin typeface="+mn-lt"/>
              </a:rPr>
              <a:t>3. Analyse data and develop theory</a:t>
            </a:r>
          </a:p>
          <a:p>
            <a:pPr eaLnBrk="1" hangingPunct="1"/>
            <a:endParaRPr lang="en-GB" altLang="en-US" sz="2400">
              <a:solidFill>
                <a:srgbClr val="000000"/>
              </a:solidFill>
              <a:latin typeface="+mn-lt"/>
            </a:endParaRPr>
          </a:p>
          <a:p>
            <a:pPr eaLnBrk="1" hangingPunct="1"/>
            <a:r>
              <a:rPr lang="en-GB" altLang="en-US" sz="2400">
                <a:solidFill>
                  <a:srgbClr val="000000"/>
                </a:solidFill>
                <a:latin typeface="+mn-lt"/>
              </a:rPr>
              <a:t>- relate your developing theory to existing, published theory</a:t>
            </a:r>
          </a:p>
          <a:p>
            <a:pPr eaLnBrk="1" hangingPunct="1"/>
            <a:endParaRPr lang="en-GB" altLang="en-US" sz="2400">
              <a:solidFill>
                <a:srgbClr val="000000"/>
              </a:solidFill>
              <a:latin typeface="+mn-lt"/>
            </a:endParaRPr>
          </a:p>
          <a:p>
            <a:pPr eaLnBrk="1" hangingPunct="1"/>
            <a:r>
              <a:rPr lang="en-GB" altLang="en-US" sz="2400">
                <a:solidFill>
                  <a:srgbClr val="000000"/>
                </a:solidFill>
                <a:latin typeface="+mn-lt"/>
              </a:rPr>
              <a:t>Inductive approaches use qualitative </a:t>
            </a:r>
            <a:r>
              <a:rPr lang="en-GB" altLang="en-US" sz="2400" smtClean="0">
                <a:solidFill>
                  <a:srgbClr val="000000"/>
                </a:solidFill>
                <a:latin typeface="+mn-lt"/>
              </a:rPr>
              <a:t>data</a:t>
            </a:r>
            <a:endParaRPr lang="en-GB" altLang="en-US" sz="2400">
              <a:solidFill>
                <a:srgbClr val="000000"/>
              </a:solidFill>
              <a:latin typeface="+mn-lt"/>
            </a:endParaRPr>
          </a:p>
          <a:p>
            <a:pPr eaLnBrk="1" hangingPunct="1"/>
            <a:endParaRPr lang="en-GB" altLang="en-US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4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59"/>
    </mc:Choice>
    <mc:Fallback xmlns="">
      <p:transition spd="slow" advTm="185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 txBox="1">
            <a:spLocks noChangeArrowheads="1"/>
          </p:cNvSpPr>
          <p:nvPr/>
        </p:nvSpPr>
        <p:spPr bwMode="auto">
          <a:xfrm>
            <a:off x="609600" y="609600"/>
            <a:ext cx="80772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smtClean="0">
                <a:latin typeface="+mn-lt"/>
              </a:rPr>
              <a:t>Starting with theory </a:t>
            </a:r>
            <a:r>
              <a:rPr lang="en-GB" altLang="en-US" sz="2400" b="1">
                <a:latin typeface="+mn-lt"/>
              </a:rPr>
              <a:t>– a deductive strategy</a:t>
            </a: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 smtClean="0">
                <a:latin typeface="+mn-lt"/>
              </a:rPr>
              <a:t>1</a:t>
            </a:r>
            <a:r>
              <a:rPr lang="en-GB" altLang="en-US" sz="2400">
                <a:latin typeface="+mn-lt"/>
              </a:rPr>
              <a:t>. Develop a hypothesis </a:t>
            </a:r>
            <a:r>
              <a:rPr lang="en-GB" altLang="en-US" sz="2400" smtClean="0">
                <a:latin typeface="+mn-lt"/>
              </a:rPr>
              <a:t>(or hypotheses) from </a:t>
            </a:r>
            <a:r>
              <a:rPr lang="en-GB" altLang="en-US" sz="2400">
                <a:latin typeface="+mn-lt"/>
              </a:rPr>
              <a:t>theory</a:t>
            </a: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>
                <a:latin typeface="+mn-lt"/>
              </a:rPr>
              <a:t>eg </a:t>
            </a:r>
            <a:r>
              <a:rPr lang="en-GB" altLang="en-US" sz="2400" smtClean="0">
                <a:latin typeface="+mn-lt"/>
              </a:rPr>
              <a:t>‘employees with high levels of trust in their supervisor will put more effort into their work'</a:t>
            </a:r>
          </a:p>
          <a:p>
            <a:pPr eaLnBrk="1" hangingPunct="1"/>
            <a:r>
              <a:rPr lang="en-GB" altLang="en-US" sz="2400" smtClean="0">
                <a:latin typeface="+mn-lt"/>
              </a:rPr>
              <a:t>'trust in a supervisor is influenced by employee perceptions of competence, benevolence, integrity and predictability'</a:t>
            </a:r>
            <a:endParaRPr lang="en-GB" altLang="en-US" sz="2400">
              <a:latin typeface="+mn-lt"/>
            </a:endParaRP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>
                <a:latin typeface="+mn-lt"/>
              </a:rPr>
              <a:t>2. Develop </a:t>
            </a:r>
            <a:r>
              <a:rPr lang="en-GB" altLang="en-US" sz="2400" smtClean="0">
                <a:latin typeface="+mn-lt"/>
              </a:rPr>
              <a:t>or adopt definitions </a:t>
            </a:r>
            <a:r>
              <a:rPr lang="en-GB" altLang="en-US" sz="2400">
                <a:latin typeface="+mn-lt"/>
              </a:rPr>
              <a:t>and measurements of the key concepts</a:t>
            </a: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>
                <a:latin typeface="+mn-lt"/>
              </a:rPr>
              <a:t>‘</a:t>
            </a:r>
            <a:r>
              <a:rPr lang="en-GB" altLang="en-US" sz="2400" smtClean="0">
                <a:latin typeface="+mn-lt"/>
              </a:rPr>
              <a:t>trust’ 'competence', 'benevolence', 'integrity' </a:t>
            </a:r>
            <a:r>
              <a:rPr lang="en-GB" altLang="en-US" sz="2400">
                <a:latin typeface="+mn-lt"/>
              </a:rPr>
              <a:t>and </a:t>
            </a:r>
            <a:r>
              <a:rPr lang="en-GB" altLang="en-US" sz="2400" smtClean="0">
                <a:latin typeface="+mn-lt"/>
              </a:rPr>
              <a:t>'predictability</a:t>
            </a:r>
            <a:r>
              <a:rPr lang="en-GB" altLang="en-US" sz="2400">
                <a:latin typeface="+mn-lt"/>
              </a:rPr>
              <a:t>'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3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610"/>
    </mc:Choice>
    <mc:Fallback xmlns="">
      <p:transition spd="slow" advTm="606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3"/>
          <p:cNvSpPr txBox="1">
            <a:spLocks noChangeArrowheads="1"/>
          </p:cNvSpPr>
          <p:nvPr/>
        </p:nvSpPr>
        <p:spPr bwMode="auto">
          <a:xfrm>
            <a:off x="609600" y="533400"/>
            <a:ext cx="8077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+mn-lt"/>
              </a:rPr>
              <a:t>3. Gather and analyse data</a:t>
            </a: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>
                <a:latin typeface="+mn-lt"/>
              </a:rPr>
              <a:t>4. </a:t>
            </a:r>
            <a:r>
              <a:rPr lang="en-GB" altLang="en-US" sz="2400" smtClean="0">
                <a:latin typeface="+mn-lt"/>
              </a:rPr>
              <a:t>Prove or disprove the hypothesis - and so confirm, reject </a:t>
            </a:r>
            <a:r>
              <a:rPr lang="en-GB" altLang="en-US" sz="2400">
                <a:latin typeface="+mn-lt"/>
              </a:rPr>
              <a:t>or amend the theory</a:t>
            </a:r>
          </a:p>
          <a:p>
            <a:pPr eaLnBrk="1" hangingPunct="1"/>
            <a:endParaRPr lang="en-GB" altLang="en-US" sz="2400">
              <a:latin typeface="+mn-lt"/>
            </a:endParaRPr>
          </a:p>
          <a:p>
            <a:pPr eaLnBrk="1" hangingPunct="1"/>
            <a:r>
              <a:rPr lang="en-GB" altLang="en-US" sz="2400">
                <a:latin typeface="+mn-lt"/>
              </a:rPr>
              <a:t>Deductive approaches often </a:t>
            </a:r>
            <a:r>
              <a:rPr lang="en-GB" altLang="en-US" sz="2400" smtClean="0">
                <a:latin typeface="+mn-lt"/>
              </a:rPr>
              <a:t>use </a:t>
            </a:r>
            <a:r>
              <a:rPr lang="en-GB" altLang="en-US" sz="2400">
                <a:latin typeface="+mn-lt"/>
              </a:rPr>
              <a:t>surveys and quantitative data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8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762"/>
    </mc:Choice>
    <mc:Fallback xmlns="">
      <p:transition spd="slow" advTm="51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609600" y="457200"/>
            <a:ext cx="80772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>
                <a:solidFill>
                  <a:srgbClr val="0000FF"/>
                </a:solidFill>
                <a:latin typeface="+mn-lt"/>
              </a:rPr>
              <a:t>What research methods?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Interviews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Questionnaires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Focus groups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Analysing documents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Observation/ethnography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Action research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61"/>
    </mc:Choice>
    <mc:Fallback xmlns="">
      <p:transition spd="slow" advTm="685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A12EFD-ADC2-48AE-A191-C2518FB8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sz="2800" b="1" dirty="0">
                <a:solidFill>
                  <a:srgbClr val="FF0000"/>
                </a:solidFill>
              </a:rPr>
              <a:t>Designing your 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D50685-2B15-4378-96EC-EE89104E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WHAT do you want to find out?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WHY do you want to find this out?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WHO will you gather information from?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HOW will you gather that </a:t>
            </a:r>
            <a:r>
              <a:rPr lang="en-GB" sz="2400"/>
              <a:t>information</a:t>
            </a:r>
            <a:r>
              <a:rPr lang="en-GB" sz="2400" smtClean="0"/>
              <a:t>?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 smtClean="0"/>
              <a:t>WHEN and WHERE will you carry out the research?</a:t>
            </a:r>
            <a:endParaRPr lang="en-GB" sz="24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167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81"/>
    </mc:Choice>
    <mc:Fallback xmlns="">
      <p:transition spd="slow" advTm="312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3.5|7.4|4|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3.4|11.5|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4.5|2.2|5.6|5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3076</TotalTime>
  <Words>351</Words>
  <Application>Microsoft Office PowerPoint</Application>
  <PresentationFormat>On-screen Show (4:3)</PresentationFormat>
  <Paragraphs>97</Paragraphs>
  <Slides>12</Slides>
  <Notes>1</Notes>
  <HiddenSlides>0</HiddenSlides>
  <MMClips>12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Office Theme</vt:lpstr>
      <vt:lpstr>1_Office Theme</vt:lpstr>
      <vt:lpstr>The Dissertation:  Designing your research project</vt:lpstr>
      <vt:lpstr>Designing your research project</vt:lpstr>
      <vt:lpstr>Choosing your topic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your research project</vt:lpstr>
    </vt:vector>
  </TitlesOfParts>
  <Company>University of Hull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</cp:lastModifiedBy>
  <cp:revision>143</cp:revision>
  <cp:lastPrinted>2015-04-12T10:54:10Z</cp:lastPrinted>
  <dcterms:created xsi:type="dcterms:W3CDTF">2005-09-18T18:21:05Z</dcterms:created>
  <dcterms:modified xsi:type="dcterms:W3CDTF">2020-04-15T11:50:10Z</dcterms:modified>
</cp:coreProperties>
</file>