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9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05" r:id="rId10"/>
    <p:sldId id="306" r:id="rId11"/>
    <p:sldId id="307" r:id="rId12"/>
    <p:sldId id="304" r:id="rId13"/>
    <p:sldId id="295" r:id="rId14"/>
    <p:sldId id="30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785C4439-A775-4F5E-B63E-9F58DC09218E}" type="datetimeFigureOut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0CB5970-3319-4980-87A2-C27C79C24CA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219164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7AA7716-C735-4D75-B7F5-BD2399269668}" type="datetimeFigureOut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A0EB216-9B02-43D4-8109-3D43935521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58612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GB" altLang="en-US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9DB1AA-36E0-4643-B816-4154B174A182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3228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E35FD2-FF98-46F9-89D4-8356A20D0CF9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E382F-E9AE-465B-86D4-13AA92505B7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916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55001A-7C3C-42C2-9FC2-4C4A186F1786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FF6AA5-A574-4894-B0EF-B1495EE5D4B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52075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EA40A-4107-4004-A451-75996A86FEDE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F03AE-97C3-4A55-8F24-DC3C91D557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58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1AE29-B20B-456E-9462-DD2713051DB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AF2F1-F7A2-4BC2-8F4F-58822B94CDD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010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891B18-225B-4F00-8471-2119DCFE4301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38706-A8A3-4FF4-A3D3-50C45EE85EF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34523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658C30-FA79-4FD6-B279-D0F9E584FF78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C597D-27A9-41E5-AA61-8819E9876B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6789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E1BF3-E7D6-4D2A-81FB-27D9A25D1A2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47437-F09C-491F-B75E-FACCB595536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0000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1490E1-6293-4C6C-87D0-3A63B1E7FD8B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153BB-520E-4E99-A4FC-695CA326B78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72579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A1C511-AE94-4A00-B882-80E0CA6775A4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A634EF-543A-4BEB-8B45-F50452EFCAD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12470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68A90-1E25-4426-AC15-2F9527E9C05C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24968-1EC0-4AA5-A3F3-3BE5C4D82B2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65536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5E394F-B21A-4125-945C-61A55526DCDB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BA0D47-92AB-4184-B52F-FC0BC3BEB86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7320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94F457-AC52-4F92-9183-473D6012D515}" type="datetime1">
              <a:rPr lang="en-GB"/>
              <a:pPr>
                <a:defRPr/>
              </a:pPr>
              <a:t>28/01/2022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AC80F15-0277-45A9-B943-508FEDF85B6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media4.m4a"/><Relationship Id="rId2" Type="http://schemas.microsoft.com/office/2007/relationships/media" Target="../media/media4.m4a"/><Relationship Id="rId1" Type="http://schemas.openxmlformats.org/officeDocument/2006/relationships/tags" Target="../tags/tag1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media5.m4a"/><Relationship Id="rId2" Type="http://schemas.microsoft.com/office/2007/relationships/media" Target="../media/media5.m4a"/><Relationship Id="rId1" Type="http://schemas.openxmlformats.org/officeDocument/2006/relationships/tags" Target="../tags/tag2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media6.m4a"/><Relationship Id="rId2" Type="http://schemas.microsoft.com/office/2007/relationships/media" Target="../media/media6.m4a"/><Relationship Id="rId1" Type="http://schemas.openxmlformats.org/officeDocument/2006/relationships/tags" Target="../tags/tag3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media10.m4a"/><Relationship Id="rId2" Type="http://schemas.microsoft.com/office/2007/relationships/media" Target="../media/media10.m4a"/><Relationship Id="rId1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Gathering and analysing qualitative data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5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10"/>
    </mc:Choice>
    <mc:Fallback xmlns="">
      <p:transition spd="slow" advTm="67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Gathering and analysing qualitative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‘The interview is probably the most widely employed method in qualitative research’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Bryman and Bell (2015: 479)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The most effective type of interview is the semi-structured interview: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400" dirty="0"/>
              <a:t>- a number of ‘stem questions’, with scope to follow up and probe, depending on what the interviewee says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400" dirty="0"/>
          </a:p>
          <a:p>
            <a:endParaRPr lang="en-GB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061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823"/>
    </mc:Choice>
    <mc:Fallback xmlns="">
      <p:transition spd="slow" advTm="308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Using semi-structured 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These can be face-to-face, by telephone, by video/audio</a:t>
            </a:r>
          </a:p>
          <a:p>
            <a:pPr marL="0" indent="0">
              <a:buNone/>
            </a:pPr>
            <a:r>
              <a:rPr lang="en-GB" sz="2400" dirty="0"/>
              <a:t>There will be a relatively small number of respondents (8-15)</a:t>
            </a:r>
          </a:p>
          <a:p>
            <a:pPr marL="0" indent="0">
              <a:buNone/>
            </a:pPr>
            <a:r>
              <a:rPr lang="en-GB" sz="2400" dirty="0"/>
              <a:t>A small number of questions you will ask everyone</a:t>
            </a:r>
          </a:p>
          <a:p>
            <a:pPr marL="0" indent="0">
              <a:buNone/>
            </a:pPr>
            <a:r>
              <a:rPr lang="en-GB" sz="2400" dirty="0"/>
              <a:t>With follow up questions to probe the responses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1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258"/>
    </mc:Choice>
    <mc:Fallback xmlns="">
      <p:transition spd="slow" advTm="332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 dirty="0">
                <a:solidFill>
                  <a:srgbClr val="FF0000"/>
                </a:solidFill>
              </a:rPr>
              <a:t>Good practice 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Do:</a:t>
            </a:r>
          </a:p>
          <a:p>
            <a:pPr marL="0" indent="0">
              <a:buNone/>
            </a:pPr>
            <a:r>
              <a:rPr lang="en-GB" sz="2400" dirty="0"/>
              <a:t>Use language the interviewee will understand</a:t>
            </a:r>
          </a:p>
          <a:p>
            <a:pPr marL="0" indent="0">
              <a:buNone/>
            </a:pPr>
            <a:r>
              <a:rPr lang="en-GB" sz="2400" dirty="0"/>
              <a:t>Use open questions to encourage people to speak</a:t>
            </a:r>
          </a:p>
          <a:p>
            <a:pPr marL="0" indent="0">
              <a:buNone/>
            </a:pPr>
            <a:r>
              <a:rPr lang="en-GB" sz="2400" dirty="0"/>
              <a:t>Use a small number of main questions</a:t>
            </a:r>
          </a:p>
          <a:p>
            <a:pPr marL="0" indent="0">
              <a:buNone/>
            </a:pPr>
            <a:r>
              <a:rPr lang="en-GB" sz="2400" dirty="0"/>
              <a:t>Get feedback from your supervisor on your questions</a:t>
            </a:r>
          </a:p>
          <a:p>
            <a:pPr marL="0" indent="0">
              <a:buNone/>
            </a:pPr>
            <a:r>
              <a:rPr lang="en-GB" sz="2400" dirty="0"/>
              <a:t>Listen carefully and ask follow up questions</a:t>
            </a:r>
          </a:p>
          <a:p>
            <a:pPr marL="0" indent="0">
              <a:buNone/>
            </a:pPr>
            <a:r>
              <a:rPr lang="en-GB" sz="2400" dirty="0"/>
              <a:t>Pilot the interview</a:t>
            </a:r>
          </a:p>
          <a:p>
            <a:pPr marL="0" indent="0">
              <a:buNone/>
            </a:pPr>
            <a:r>
              <a:rPr lang="en-GB" sz="2400" dirty="0"/>
              <a:t>Record the interview if possible</a:t>
            </a:r>
          </a:p>
          <a:p>
            <a:pPr marL="0" indent="0">
              <a:buNone/>
            </a:pPr>
            <a:r>
              <a:rPr lang="en-GB" sz="2400" dirty="0"/>
              <a:t>Listen to your interviews and learn from them</a:t>
            </a:r>
          </a:p>
        </p:txBody>
      </p:sp>
      <p:pic>
        <p:nvPicPr>
          <p:cNvPr id="6" name="Audio 5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8064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712"/>
    </mc:Choice>
    <mc:Fallback xmlns="">
      <p:transition spd="slow" advTm="1207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Analysing qualitative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See the paper 'Analysing qualitative data' on the Online campus 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When we analyse qualitative data, we are 'organizing the data into meaningful categories' (Coffey and Atkinson, 1996, p. 36). 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We either need to develop categories that we can use for the analysis, or use categories that have been suggested by published theory.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5" name="Audio 4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495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16"/>
    </mc:Choice>
    <mc:Fallback xmlns="">
      <p:transition spd="slow" advTm="355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Categories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dirty="0"/>
              <a:t>Suppose we want to research into how certain people behave when they lead their teams.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We could interview them and ask them how they behave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We could then use categories derived from theories of leadership to analyse what they say, for example from: </a:t>
            </a:r>
          </a:p>
          <a:p>
            <a:r>
              <a:rPr lang="en-GB" sz="2400" dirty="0"/>
              <a:t>participative/directive leadership</a:t>
            </a:r>
          </a:p>
          <a:p>
            <a:r>
              <a:rPr lang="en-GB" sz="2400" dirty="0"/>
              <a:t>transformational/transactional leadership</a:t>
            </a:r>
          </a:p>
          <a:p>
            <a:r>
              <a:rPr lang="en-GB" sz="2400" dirty="0"/>
              <a:t>task-focused/people-focused leadership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0048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699"/>
    </mc:Choice>
    <mc:Fallback xmlns="">
      <p:transition spd="slow" advTm="3669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Categories for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Or we could analyse what they say inductively - making up our own categories and giving them our own names - and then later compare these with categories derived from published theories.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059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69"/>
    </mc:Choice>
    <mc:Fallback xmlns="">
      <p:transition spd="slow" advTm="142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Stages of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The stages of analysing qualitative research data have been described as:</a:t>
            </a:r>
          </a:p>
          <a:p>
            <a:pPr marL="0" indent="0">
              <a:buNone/>
            </a:pPr>
            <a:r>
              <a:rPr lang="en-GB" sz="2400"/>
              <a:t> 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Familiarizing yourself with your data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Generating initial codes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Searching for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Reviewing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Defining and naming themes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400"/>
              <a:t>Producing the report</a:t>
            </a:r>
          </a:p>
          <a:p>
            <a:pPr marL="0" lv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(Braun and Clarke, 2006)</a:t>
            </a:r>
          </a:p>
        </p:txBody>
      </p:sp>
      <p:pic>
        <p:nvPicPr>
          <p:cNvPr id="5" name="Audio 4">
            <a:hlinkClick r:id="" action="ppaction://media"/>
            <a:extLst>
              <a:ext uri="{FF2B5EF4-FFF2-40B4-BE49-F238E27FC236}">
                <a16:creationId xmlns:a16="http://schemas.microsoft.com/office/drawing/2014/main" id="{89191725-E21B-4965-BA3C-6B46EC54937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454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23"/>
    </mc:Choice>
    <mc:Fallback xmlns="">
      <p:transition spd="slow" advTm="9002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By coding, you are picking out parts of the data that are relevant to your research. </a:t>
            </a:r>
          </a:p>
          <a:p>
            <a:pPr marL="0" indent="0">
              <a:buNone/>
            </a:pPr>
            <a:r>
              <a:rPr lang="en-GB" sz="2400"/>
              <a:t>You 'are </a:t>
            </a:r>
            <a:r>
              <a:rPr lang="en-GB" sz="2400" i="1"/>
              <a:t>organising</a:t>
            </a:r>
            <a:r>
              <a:rPr lang="en-GB" sz="2400"/>
              <a:t> your data into meaningful groups’ (Braun and Clarke, 2006, p. 88). </a:t>
            </a:r>
          </a:p>
          <a:p>
            <a:pPr marL="0" indent="0">
              <a:buNone/>
            </a:pPr>
            <a:endParaRPr lang="en-GB" sz="2400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74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680"/>
    </mc:Choice>
    <mc:Fallback xmlns="">
      <p:transition spd="slow" advTm="246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Coding for leadership behaviours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So if we are interested in how people lead their teams we might have codes such as: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Invites team members to contribute to decisions</a:t>
            </a:r>
          </a:p>
          <a:p>
            <a:pPr marL="0" indent="0">
              <a:buNone/>
            </a:pPr>
            <a:r>
              <a:rPr lang="en-GB" sz="2400"/>
              <a:t>Consults team members on plans and proposals</a:t>
            </a:r>
          </a:p>
          <a:p>
            <a:pPr marL="0" indent="0">
              <a:buNone/>
            </a:pPr>
            <a:r>
              <a:rPr lang="en-GB" sz="2400"/>
              <a:t>Amends plans after input from team members</a:t>
            </a:r>
          </a:p>
          <a:p>
            <a:pPr marL="0" indent="0">
              <a:buNone/>
            </a:pPr>
            <a:r>
              <a:rPr lang="en-GB" sz="2400"/>
              <a:t>Shows a personal interest in individual team members</a:t>
            </a:r>
          </a:p>
          <a:p>
            <a:pPr marL="0" indent="0">
              <a:buNone/>
            </a:pPr>
            <a:r>
              <a:rPr lang="en-GB" sz="2400"/>
              <a:t>Helps team members learn and develop</a:t>
            </a:r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3693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824"/>
    </mc:Choice>
    <mc:Fallback xmlns="">
      <p:transition spd="slow" advTm="4482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Read the Leadership case study</a:t>
            </a:r>
          </a:p>
          <a:p>
            <a:pPr marL="0" indent="0">
              <a:buNone/>
            </a:pPr>
            <a:r>
              <a:rPr lang="en-GB" sz="2400"/>
              <a:t>Code what the interviewee has said</a:t>
            </a:r>
          </a:p>
          <a:p>
            <a:pPr marL="0" indent="0">
              <a:buNone/>
            </a:pPr>
            <a:r>
              <a:rPr lang="en-GB" sz="2400"/>
              <a:t>What behaviours, skills and attitudes does the interviewee indicate she possesses, in her account of how she works with her team?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To discuss in tomorrow's session.</a:t>
            </a:r>
          </a:p>
          <a:p>
            <a:pPr marL="0" indent="0">
              <a:buNone/>
            </a:pPr>
            <a:endParaRPr lang="en-GB"/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67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786"/>
    </mc:Choice>
    <mc:Fallback xmlns="">
      <p:transition spd="slow" advTm="317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b="1">
                <a:solidFill>
                  <a:srgbClr val="FF0000"/>
                </a:solidFill>
              </a:rPr>
              <a:t>What are open questions?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/>
              <a:t>Open questions are questions that can not be answered 'yes' or 'no'. They encourage interviewees to speak.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/>
              <a:t>There is an English rhyme, by Rudyard Kipling, that identifies the words that start open questions:</a:t>
            </a:r>
          </a:p>
          <a:p>
            <a:pPr marL="0" indent="0">
              <a:buNone/>
            </a:pPr>
            <a:endParaRPr lang="en-GB" sz="2400"/>
          </a:p>
          <a:p>
            <a:pPr marL="0" indent="0">
              <a:buNone/>
            </a:pPr>
            <a:r>
              <a:rPr lang="en-GB" sz="2400" i="1"/>
              <a:t>I keep six honest serving men </a:t>
            </a:r>
          </a:p>
          <a:p>
            <a:pPr marL="0" indent="0">
              <a:buNone/>
            </a:pPr>
            <a:r>
              <a:rPr lang="en-GB" sz="2400" i="1"/>
              <a:t>They taught me all I knew</a:t>
            </a:r>
          </a:p>
          <a:p>
            <a:pPr marL="0" indent="0">
              <a:buNone/>
            </a:pPr>
            <a:r>
              <a:rPr lang="en-GB" sz="2400" i="1"/>
              <a:t>Their names are What and Why and When</a:t>
            </a:r>
          </a:p>
          <a:p>
            <a:pPr marL="0" indent="0">
              <a:buNone/>
            </a:pPr>
            <a:r>
              <a:rPr lang="en-GB" sz="2400" i="1"/>
              <a:t>And How and Where and Who</a:t>
            </a:r>
          </a:p>
          <a:p>
            <a:pPr marL="0" indent="0">
              <a:buNone/>
            </a:pPr>
            <a:endParaRPr lang="en-GB"/>
          </a:p>
        </p:txBody>
      </p:sp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82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90"/>
    </mc:Choice>
    <mc:Fallback xmlns="">
      <p:transition spd="slow" advTm="4899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1"/>
          <p:cNvSpPr txBox="1">
            <a:spLocks noChangeArrowheads="1"/>
          </p:cNvSpPr>
          <p:nvPr/>
        </p:nvSpPr>
        <p:spPr bwMode="auto">
          <a:xfrm>
            <a:off x="468313" y="404813"/>
            <a:ext cx="8135937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b="1">
                <a:latin typeface="+mn-lt"/>
              </a:rPr>
              <a:t>Reading resources on interviewing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>
                <a:latin typeface="+mn-lt"/>
              </a:rPr>
              <a:t>Jennifer </a:t>
            </a:r>
            <a:r>
              <a:rPr lang="en-GB" altLang="en-US" sz="2200" dirty="0">
                <a:latin typeface="+mn-lt"/>
              </a:rPr>
              <a:t>Rowley, 2012,"Conducting research interviews", </a:t>
            </a:r>
            <a:r>
              <a:rPr lang="en-GB" altLang="en-US" sz="2200" i="1" dirty="0">
                <a:latin typeface="+mn-lt"/>
              </a:rPr>
              <a:t>Management Research Review </a:t>
            </a:r>
            <a:r>
              <a:rPr lang="en-GB" altLang="en-US" sz="2200" dirty="0">
                <a:latin typeface="+mn-lt"/>
              </a:rPr>
              <a:t>, Vol. 35 Iss3-4 pp. 260 - 271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b="1" i="1" dirty="0">
                <a:latin typeface="+mn-lt"/>
              </a:rPr>
              <a:t>Dissertation resources include: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Alan </a:t>
            </a:r>
            <a:r>
              <a:rPr lang="en-GB" altLang="en-US" sz="2200">
                <a:latin typeface="+mn-lt"/>
              </a:rPr>
              <a:t>Bryman and </a:t>
            </a:r>
            <a:r>
              <a:rPr lang="en-GB" altLang="en-US" sz="2200" dirty="0">
                <a:latin typeface="+mn-lt"/>
              </a:rPr>
              <a:t>Emma Bell 2015 </a:t>
            </a:r>
            <a:r>
              <a:rPr lang="en-GB" altLang="en-US" sz="2200" i="1" dirty="0">
                <a:latin typeface="+mn-lt"/>
              </a:rPr>
              <a:t>Business Research Methods</a:t>
            </a:r>
            <a:r>
              <a:rPr lang="en-GB" altLang="en-US" sz="2200" dirty="0">
                <a:latin typeface="+mn-lt"/>
              </a:rPr>
              <a:t>, Oxford University:  Press; Oxford. Ch. 20 'Interviewing in Qualitative Research' pp. 478-510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Zina O’Leary 2017 </a:t>
            </a:r>
            <a:r>
              <a:rPr lang="en-GB" altLang="en-US" sz="2200" i="1" dirty="0">
                <a:latin typeface="+mn-lt"/>
              </a:rPr>
              <a:t>The Essential Guide to Doing Your Research Project,</a:t>
            </a:r>
            <a:r>
              <a:rPr lang="en-GB" altLang="en-US" sz="2200" dirty="0">
                <a:latin typeface="+mn-lt"/>
              </a:rPr>
              <a:t> Sage: London </a:t>
            </a:r>
            <a:r>
              <a:rPr lang="en-GB" altLang="en-US" sz="2200" dirty="0" err="1">
                <a:latin typeface="+mn-lt"/>
              </a:rPr>
              <a:t>ch.</a:t>
            </a:r>
            <a:r>
              <a:rPr lang="en-GB" altLang="en-US" sz="2200" dirty="0">
                <a:latin typeface="+mn-lt"/>
              </a:rPr>
              <a:t> 12  ‘Primary Data: Surveys, Interviews and Observation' pp. 223-262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2200" dirty="0">
              <a:latin typeface="+mn-lt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GB" altLang="en-US" sz="2200" dirty="0">
                <a:latin typeface="+mn-lt"/>
              </a:rPr>
              <a:t>Pervez </a:t>
            </a:r>
            <a:r>
              <a:rPr lang="en-GB" altLang="en-US" sz="2200" dirty="0" err="1">
                <a:latin typeface="+mn-lt"/>
              </a:rPr>
              <a:t>Ghauri</a:t>
            </a:r>
            <a:r>
              <a:rPr lang="en-GB" altLang="en-US" sz="2200" dirty="0">
                <a:latin typeface="+mn-lt"/>
              </a:rPr>
              <a:t> and </a:t>
            </a:r>
            <a:r>
              <a:rPr lang="en-GB" altLang="en-US" sz="2200" dirty="0" err="1">
                <a:latin typeface="+mn-lt"/>
              </a:rPr>
              <a:t>Kjell</a:t>
            </a:r>
            <a:r>
              <a:rPr lang="en-GB" altLang="en-US" sz="2200" dirty="0">
                <a:latin typeface="+mn-lt"/>
              </a:rPr>
              <a:t> </a:t>
            </a:r>
            <a:r>
              <a:rPr lang="en-GB" altLang="en-US" sz="2200" dirty="0" err="1">
                <a:latin typeface="+mn-lt"/>
              </a:rPr>
              <a:t>Gronhaug</a:t>
            </a:r>
            <a:r>
              <a:rPr lang="en-GB" altLang="en-US" sz="2200" dirty="0">
                <a:latin typeface="+mn-lt"/>
              </a:rPr>
              <a:t> 2010 </a:t>
            </a:r>
            <a:r>
              <a:rPr lang="en-GB" altLang="en-US" sz="2200" i="1" dirty="0">
                <a:latin typeface="+mn-lt"/>
              </a:rPr>
              <a:t>Research Methods in Business Studies</a:t>
            </a:r>
            <a:r>
              <a:rPr lang="en-GB" altLang="en-US" sz="2200" dirty="0">
                <a:latin typeface="+mn-lt"/>
              </a:rPr>
              <a:t> FT Prentice Hall: Harlow ‘Data collection</a:t>
            </a:r>
            <a:r>
              <a:rPr lang="en-GB" altLang="en-US" sz="2200">
                <a:latin typeface="+mn-lt"/>
              </a:rPr>
              <a:t>’ pp. 103-137</a:t>
            </a:r>
            <a:endParaRPr lang="en-GB" altLang="en-US" sz="1800" dirty="0">
              <a:latin typeface="Arial" panose="020B06040202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574"/>
    </mc:Choice>
    <mc:Fallback xmlns="">
      <p:transition spd="slow" advTm="1957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55576" y="404664"/>
            <a:ext cx="7632848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>
                <a:latin typeface="+mn-lt"/>
              </a:rPr>
              <a:t>Reading resources for analysing qualitative data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George Boak 'Analysing Qualitative Data' - handout</a:t>
            </a:r>
          </a:p>
          <a:p>
            <a:r>
              <a:rPr lang="en-GB" sz="2000">
                <a:latin typeface="+mn-lt"/>
              </a:rPr>
              <a:t>Virginia Braun and Victoria Clarke 2006 ‘Using thematic analysis in psychology’ </a:t>
            </a:r>
            <a:r>
              <a:rPr lang="en-GB" sz="2000" i="1">
                <a:latin typeface="+mn-lt"/>
              </a:rPr>
              <a:t>Qualitative Research in Psychology,</a:t>
            </a:r>
            <a:r>
              <a:rPr lang="en-GB" sz="2000">
                <a:latin typeface="+mn-lt"/>
              </a:rPr>
              <a:t> 3:2, 77-101</a:t>
            </a:r>
          </a:p>
          <a:p>
            <a:r>
              <a:rPr lang="en-GB" sz="2000">
                <a:latin typeface="+mn-lt"/>
              </a:rPr>
              <a:t>S Janes 2015 </a:t>
            </a:r>
            <a:r>
              <a:rPr lang="en-GB" sz="2000" i="1">
                <a:latin typeface="+mn-lt"/>
              </a:rPr>
              <a:t>Exploring resistance to change: Case study of a German sporting-goods company. </a:t>
            </a:r>
            <a:r>
              <a:rPr lang="en-GB" sz="2000">
                <a:latin typeface="+mn-lt"/>
              </a:rPr>
              <a:t>MALIC Dissertation: York St John University one of the 'Great Dissertations', see this for an excellent example. </a:t>
            </a:r>
          </a:p>
          <a:p>
            <a:endParaRPr lang="en-GB" sz="2000">
              <a:latin typeface="+mn-lt"/>
            </a:endParaRPr>
          </a:p>
          <a:p>
            <a:r>
              <a:rPr lang="en-GB" altLang="en-US" sz="2000" b="1" i="1">
                <a:latin typeface="+mn-lt"/>
              </a:rPr>
              <a:t>Dissertation resources include:</a:t>
            </a:r>
          </a:p>
          <a:p>
            <a:endParaRPr lang="en-GB" sz="2000">
              <a:latin typeface="+mn-lt"/>
            </a:endParaRPr>
          </a:p>
          <a:p>
            <a:r>
              <a:rPr lang="en-GB" sz="2000">
                <a:latin typeface="+mn-lt"/>
              </a:rPr>
              <a:t>V Braun and V Clarke 2013 </a:t>
            </a:r>
            <a:r>
              <a:rPr lang="en-GB" sz="2000" i="1">
                <a:latin typeface="+mn-lt"/>
              </a:rPr>
              <a:t>Successful Qualitative Research,</a:t>
            </a:r>
            <a:r>
              <a:rPr lang="en-GB" sz="2000">
                <a:latin typeface="+mn-lt"/>
              </a:rPr>
              <a:t> Sage: London, see ch 10 ‘Identifying patterns across data’, pp. 223-247</a:t>
            </a:r>
          </a:p>
          <a:p>
            <a:r>
              <a:rPr lang="en-GB" sz="2000">
                <a:latin typeface="+mn-lt"/>
              </a:rPr>
              <a:t>Amanda Coffey and Paul Atkinson 1996 </a:t>
            </a:r>
            <a:r>
              <a:rPr lang="en-GB" sz="2000" i="1">
                <a:latin typeface="+mn-lt"/>
              </a:rPr>
              <a:t>Making Sense of Qualitative Data,</a:t>
            </a:r>
            <a:r>
              <a:rPr lang="en-GB" sz="2000">
                <a:latin typeface="+mn-lt"/>
              </a:rPr>
              <a:t> Sage: London ch 2 'Concepts and Coding' pp. 26-53 </a:t>
            </a:r>
          </a:p>
          <a:p>
            <a:r>
              <a:rPr lang="en-GB" sz="2000">
                <a:latin typeface="+mn-lt"/>
              </a:rPr>
              <a:t>C Marshall and G B Rossman 2011 </a:t>
            </a:r>
            <a:r>
              <a:rPr lang="en-GB" sz="2000" i="1">
                <a:latin typeface="+mn-lt"/>
              </a:rPr>
              <a:t>Designing Qualitative Research</a:t>
            </a:r>
            <a:r>
              <a:rPr lang="en-GB" sz="2000">
                <a:latin typeface="+mn-lt"/>
              </a:rPr>
              <a:t> Sage: London, see ch 8 ‘Managing, Analyzing and Interpreting Data’ pp. 205-227</a:t>
            </a:r>
          </a:p>
          <a:p>
            <a:r>
              <a:rPr lang="en-GB" sz="2000">
                <a:latin typeface="+mn-lt"/>
              </a:rPr>
              <a:t>C Robson and K McCartan 2016 </a:t>
            </a:r>
            <a:r>
              <a:rPr lang="en-GB" sz="2000" i="1">
                <a:latin typeface="+mn-lt"/>
              </a:rPr>
              <a:t>Real World Research,</a:t>
            </a:r>
            <a:r>
              <a:rPr lang="en-GB" sz="2000">
                <a:latin typeface="+mn-lt"/>
              </a:rPr>
              <a:t> Wiley, see ch 18 ‘The analysis and interpretation of qualitative data’ pp. 459-486</a:t>
            </a:r>
          </a:p>
        </p:txBody>
      </p:sp>
      <p:pic>
        <p:nvPicPr>
          <p:cNvPr id="3" name="Audio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107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465"/>
    </mc:Choice>
    <mc:Fallback xmlns="">
      <p:transition spd="slow" advTm="40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2|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872</Words>
  <Application>Microsoft Office PowerPoint</Application>
  <PresentationFormat>On-screen Show (4:3)</PresentationFormat>
  <Paragraphs>102</Paragraphs>
  <Slides>14</Slides>
  <Notes>1</Notes>
  <HiddenSlides>0</HiddenSlides>
  <MMClips>14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Gathering and analysing qualitative data</vt:lpstr>
      <vt:lpstr>Gathering and analysing qualitative data</vt:lpstr>
      <vt:lpstr>Using semi-structured interviews</vt:lpstr>
      <vt:lpstr>Good practice interviewing</vt:lpstr>
      <vt:lpstr>Analysing qualitative data</vt:lpstr>
      <vt:lpstr>Categories for analysis</vt:lpstr>
      <vt:lpstr>Categories for analysis</vt:lpstr>
      <vt:lpstr>Stages of analysis</vt:lpstr>
      <vt:lpstr>Coding</vt:lpstr>
      <vt:lpstr>Coding for leadership behaviours</vt:lpstr>
      <vt:lpstr>Exercise</vt:lpstr>
      <vt:lpstr>What are open questions?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George</dc:creator>
  <cp:lastModifiedBy>George Boak</cp:lastModifiedBy>
  <cp:revision>64</cp:revision>
  <cp:lastPrinted>2013-07-16T16:09:25Z</cp:lastPrinted>
  <dcterms:created xsi:type="dcterms:W3CDTF">2011-06-06T11:50:16Z</dcterms:created>
  <dcterms:modified xsi:type="dcterms:W3CDTF">2022-01-28T16:25:06Z</dcterms:modified>
</cp:coreProperties>
</file>