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handoutMasterIdLst>
    <p:handoutMasterId r:id="rId19"/>
  </p:handoutMasterIdLst>
  <p:sldIdLst>
    <p:sldId id="256" r:id="rId2"/>
    <p:sldId id="257" r:id="rId3"/>
    <p:sldId id="258" r:id="rId4"/>
    <p:sldId id="271" r:id="rId5"/>
    <p:sldId id="259" r:id="rId6"/>
    <p:sldId id="273" r:id="rId7"/>
    <p:sldId id="261" r:id="rId8"/>
    <p:sldId id="270" r:id="rId9"/>
    <p:sldId id="262" r:id="rId10"/>
    <p:sldId id="263" r:id="rId11"/>
    <p:sldId id="264" r:id="rId12"/>
    <p:sldId id="265" r:id="rId13"/>
    <p:sldId id="269" r:id="rId14"/>
    <p:sldId id="275" r:id="rId15"/>
    <p:sldId id="274" r:id="rId16"/>
    <p:sldId id="266"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10" d="100"/>
          <a:sy n="110" d="100"/>
        </p:scale>
        <p:origin x="-1644" y="-90"/>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4384899-3209-432C-AE8F-1DBB30B67D91}" type="datetimeFigureOut">
              <a:rPr lang="en-GB" smtClean="0"/>
              <a:pPr/>
              <a:t>11/08/2013</a:t>
            </a:fld>
            <a:endParaRPr lang="en-GB"/>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BB540882-06B9-42E3-8E7B-9A5E84BB2165}" type="slidenum">
              <a:rPr lang="en-GB" smtClean="0"/>
              <a:pPr/>
              <a:t>‹#›</a:t>
            </a:fld>
            <a:endParaRPr lang="en-GB"/>
          </a:p>
        </p:txBody>
      </p:sp>
    </p:spTree>
    <p:extLst>
      <p:ext uri="{BB962C8B-B14F-4D97-AF65-F5344CB8AC3E}">
        <p14:creationId xmlns="" xmlns:p14="http://schemas.microsoft.com/office/powerpoint/2010/main" val="418781938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FD5BDF0-B132-4826-ACAB-A3EEAD44CB09}" type="datetimeFigureOut">
              <a:rPr lang="en-GB" smtClean="0"/>
              <a:pPr/>
              <a:t>11/08/2013</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4462A30-931B-44F4-B77C-FC80F5D22B5B}" type="slidenum">
              <a:rPr lang="en-GB" smtClean="0"/>
              <a:pPr/>
              <a:t>‹#›</a:t>
            </a:fld>
            <a:endParaRPr lang="en-GB"/>
          </a:p>
        </p:txBody>
      </p:sp>
    </p:spTree>
    <p:extLst>
      <p:ext uri="{BB962C8B-B14F-4D97-AF65-F5344CB8AC3E}">
        <p14:creationId xmlns="" xmlns:p14="http://schemas.microsoft.com/office/powerpoint/2010/main" val="14222494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342265">
              <a:spcAft>
                <a:spcPts val="0"/>
              </a:spcAft>
            </a:pPr>
            <a:r>
              <a:rPr lang="en-GB" sz="1200" smtClean="0">
                <a:latin typeface="Arial" pitchFamily="34" charset="0"/>
                <a:ea typeface="Times New Roman"/>
                <a:cs typeface="Arial" pitchFamily="34" charset="0"/>
              </a:rPr>
              <a:t> </a:t>
            </a:r>
            <a:endParaRPr lang="en-GB"/>
          </a:p>
        </p:txBody>
      </p:sp>
      <p:sp>
        <p:nvSpPr>
          <p:cNvPr id="4" name="Slide Number Placeholder 3"/>
          <p:cNvSpPr>
            <a:spLocks noGrp="1"/>
          </p:cNvSpPr>
          <p:nvPr>
            <p:ph type="sldNum" sz="quarter" idx="10"/>
          </p:nvPr>
        </p:nvSpPr>
        <p:spPr/>
        <p:txBody>
          <a:bodyPr/>
          <a:lstStyle/>
          <a:p>
            <a:fld id="{D4462A30-931B-44F4-B77C-FC80F5D22B5B}" type="slidenum">
              <a:rPr lang="en-GB" smtClean="0"/>
              <a:pPr/>
              <a:t>3</a:t>
            </a:fld>
            <a:endParaRPr lang="en-GB"/>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342265">
              <a:spcAft>
                <a:spcPts val="0"/>
              </a:spcAft>
            </a:pPr>
            <a:r>
              <a:rPr lang="en-GB" sz="1200" smtClean="0">
                <a:latin typeface="Arial" pitchFamily="34" charset="0"/>
                <a:ea typeface="Times New Roman"/>
                <a:cs typeface="Arial" pitchFamily="34" charset="0"/>
              </a:rPr>
              <a:t> One of the first studies carried out by the APP was the analysis of the specific reasons for failure in learning to fly that were reported for 1,000 pilot candidates eliminated from flight training schools in the summer and early fall of 1941. This highlighted the need for specific, detailed factual reports on behaviour and performance. </a:t>
            </a:r>
          </a:p>
          <a:p>
            <a:endParaRPr lang="en-GB" sz="1200" smtClean="0">
              <a:latin typeface="Arial" pitchFamily="34" charset="0"/>
              <a:cs typeface="Arial" pitchFamily="34" charset="0"/>
            </a:endParaRPr>
          </a:p>
          <a:p>
            <a:endParaRPr lang="en-GB"/>
          </a:p>
        </p:txBody>
      </p:sp>
      <p:sp>
        <p:nvSpPr>
          <p:cNvPr id="4" name="Slide Number Placeholder 3"/>
          <p:cNvSpPr>
            <a:spLocks noGrp="1"/>
          </p:cNvSpPr>
          <p:nvPr>
            <p:ph type="sldNum" sz="quarter" idx="10"/>
          </p:nvPr>
        </p:nvSpPr>
        <p:spPr/>
        <p:txBody>
          <a:bodyPr/>
          <a:lstStyle/>
          <a:p>
            <a:fld id="{D4462A30-931B-44F4-B77C-FC80F5D22B5B}" type="slidenum">
              <a:rPr lang="en-GB" smtClean="0"/>
              <a:pPr/>
              <a:t>4</a:t>
            </a:fld>
            <a:endParaRPr lang="en-GB"/>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D4462A30-931B-44F4-B77C-FC80F5D22B5B}" type="slidenum">
              <a:rPr lang="en-GB" smtClean="0"/>
              <a:pPr/>
              <a:t>7</a:t>
            </a:fld>
            <a:endParaRPr lang="en-GB"/>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AD470C81-E022-4E83-BC96-6AC4C950A4C1}" type="datetime1">
              <a:rPr lang="en-GB" smtClean="0"/>
              <a:pPr/>
              <a:t>11/08/2013</a:t>
            </a:fld>
            <a:endParaRPr lang="en-GB"/>
          </a:p>
        </p:txBody>
      </p:sp>
      <p:sp>
        <p:nvSpPr>
          <p:cNvPr id="5" name="Footer Placeholder 4"/>
          <p:cNvSpPr>
            <a:spLocks noGrp="1"/>
          </p:cNvSpPr>
          <p:nvPr>
            <p:ph type="ftr" sz="quarter" idx="11"/>
          </p:nvPr>
        </p:nvSpPr>
        <p:spPr/>
        <p:txBody>
          <a:bodyPr/>
          <a:lstStyle/>
          <a:p>
            <a:r>
              <a:rPr lang="en-GB" smtClean="0"/>
              <a:t>George Boak 2013</a:t>
            </a:r>
            <a:endParaRPr lang="en-GB"/>
          </a:p>
        </p:txBody>
      </p:sp>
      <p:sp>
        <p:nvSpPr>
          <p:cNvPr id="6" name="Slide Number Placeholder 5"/>
          <p:cNvSpPr>
            <a:spLocks noGrp="1"/>
          </p:cNvSpPr>
          <p:nvPr>
            <p:ph type="sldNum" sz="quarter" idx="12"/>
          </p:nvPr>
        </p:nvSpPr>
        <p:spPr/>
        <p:txBody>
          <a:bodyPr/>
          <a:lstStyle/>
          <a:p>
            <a:fld id="{AC595C3F-9C3F-4E5D-A5E2-CAA490C09A98}" type="slidenum">
              <a:rPr lang="en-GB" smtClean="0"/>
              <a:pPr/>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B3F1B1DB-8EE9-4585-BF61-BB204BA6BBBC}" type="datetime1">
              <a:rPr lang="en-GB" smtClean="0"/>
              <a:pPr/>
              <a:t>11/08/2013</a:t>
            </a:fld>
            <a:endParaRPr lang="en-GB"/>
          </a:p>
        </p:txBody>
      </p:sp>
      <p:sp>
        <p:nvSpPr>
          <p:cNvPr id="5" name="Footer Placeholder 4"/>
          <p:cNvSpPr>
            <a:spLocks noGrp="1"/>
          </p:cNvSpPr>
          <p:nvPr>
            <p:ph type="ftr" sz="quarter" idx="11"/>
          </p:nvPr>
        </p:nvSpPr>
        <p:spPr/>
        <p:txBody>
          <a:bodyPr/>
          <a:lstStyle/>
          <a:p>
            <a:r>
              <a:rPr lang="en-GB" smtClean="0"/>
              <a:t>George Boak 2013</a:t>
            </a:r>
            <a:endParaRPr lang="en-GB"/>
          </a:p>
        </p:txBody>
      </p:sp>
      <p:sp>
        <p:nvSpPr>
          <p:cNvPr id="6" name="Slide Number Placeholder 5"/>
          <p:cNvSpPr>
            <a:spLocks noGrp="1"/>
          </p:cNvSpPr>
          <p:nvPr>
            <p:ph type="sldNum" sz="quarter" idx="12"/>
          </p:nvPr>
        </p:nvSpPr>
        <p:spPr/>
        <p:txBody>
          <a:bodyPr/>
          <a:lstStyle/>
          <a:p>
            <a:fld id="{AC595C3F-9C3F-4E5D-A5E2-CAA490C09A98}" type="slidenum">
              <a:rPr lang="en-GB" smtClean="0"/>
              <a:pPr/>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BD24FDF-119D-430D-B60A-F802CB3DE4DD}" type="datetime1">
              <a:rPr lang="en-GB" smtClean="0"/>
              <a:pPr/>
              <a:t>11/08/2013</a:t>
            </a:fld>
            <a:endParaRPr lang="en-GB"/>
          </a:p>
        </p:txBody>
      </p:sp>
      <p:sp>
        <p:nvSpPr>
          <p:cNvPr id="5" name="Footer Placeholder 4"/>
          <p:cNvSpPr>
            <a:spLocks noGrp="1"/>
          </p:cNvSpPr>
          <p:nvPr>
            <p:ph type="ftr" sz="quarter" idx="11"/>
          </p:nvPr>
        </p:nvSpPr>
        <p:spPr/>
        <p:txBody>
          <a:bodyPr/>
          <a:lstStyle/>
          <a:p>
            <a:r>
              <a:rPr lang="en-GB" smtClean="0"/>
              <a:t>George Boak 2013</a:t>
            </a:r>
            <a:endParaRPr lang="en-GB"/>
          </a:p>
        </p:txBody>
      </p:sp>
      <p:sp>
        <p:nvSpPr>
          <p:cNvPr id="6" name="Slide Number Placeholder 5"/>
          <p:cNvSpPr>
            <a:spLocks noGrp="1"/>
          </p:cNvSpPr>
          <p:nvPr>
            <p:ph type="sldNum" sz="quarter" idx="12"/>
          </p:nvPr>
        </p:nvSpPr>
        <p:spPr/>
        <p:txBody>
          <a:bodyPr/>
          <a:lstStyle/>
          <a:p>
            <a:fld id="{AC595C3F-9C3F-4E5D-A5E2-CAA490C09A98}" type="slidenum">
              <a:rPr lang="en-GB" smtClean="0"/>
              <a:pPr/>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D7075843-482A-4056-B040-33C61AF7B77E}" type="datetime1">
              <a:rPr lang="en-GB" smtClean="0"/>
              <a:pPr/>
              <a:t>11/08/2013</a:t>
            </a:fld>
            <a:endParaRPr lang="en-GB"/>
          </a:p>
        </p:txBody>
      </p:sp>
      <p:sp>
        <p:nvSpPr>
          <p:cNvPr id="6" name="Footer Placeholder 5"/>
          <p:cNvSpPr>
            <a:spLocks noGrp="1"/>
          </p:cNvSpPr>
          <p:nvPr>
            <p:ph type="ftr" sz="quarter" idx="11"/>
          </p:nvPr>
        </p:nvSpPr>
        <p:spPr/>
        <p:txBody>
          <a:bodyPr/>
          <a:lstStyle/>
          <a:p>
            <a:r>
              <a:rPr lang="en-GB" smtClean="0"/>
              <a:t>George Boak 2013</a:t>
            </a:r>
            <a:endParaRPr lang="en-GB"/>
          </a:p>
        </p:txBody>
      </p:sp>
      <p:sp>
        <p:nvSpPr>
          <p:cNvPr id="7" name="Slide Number Placeholder 6"/>
          <p:cNvSpPr>
            <a:spLocks noGrp="1"/>
          </p:cNvSpPr>
          <p:nvPr>
            <p:ph type="sldNum" sz="quarter" idx="12"/>
          </p:nvPr>
        </p:nvSpPr>
        <p:spPr/>
        <p:txBody>
          <a:bodyPr/>
          <a:lstStyle/>
          <a:p>
            <a:fld id="{AC595C3F-9C3F-4E5D-A5E2-CAA490C09A98}" type="slidenum">
              <a:rPr lang="en-GB" smtClean="0"/>
              <a:pPr/>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045D6186-94B7-4AD1-AAF1-39D7DF20B924}" type="datetime1">
              <a:rPr lang="en-GB" smtClean="0"/>
              <a:pPr/>
              <a:t>11/08/2013</a:t>
            </a:fld>
            <a:endParaRPr lang="en-GB"/>
          </a:p>
        </p:txBody>
      </p:sp>
      <p:sp>
        <p:nvSpPr>
          <p:cNvPr id="8" name="Footer Placeholder 7"/>
          <p:cNvSpPr>
            <a:spLocks noGrp="1"/>
          </p:cNvSpPr>
          <p:nvPr>
            <p:ph type="ftr" sz="quarter" idx="11"/>
          </p:nvPr>
        </p:nvSpPr>
        <p:spPr/>
        <p:txBody>
          <a:bodyPr/>
          <a:lstStyle/>
          <a:p>
            <a:r>
              <a:rPr lang="en-GB" smtClean="0"/>
              <a:t>George Boak 2013</a:t>
            </a:r>
            <a:endParaRPr lang="en-GB"/>
          </a:p>
        </p:txBody>
      </p:sp>
      <p:sp>
        <p:nvSpPr>
          <p:cNvPr id="9" name="Slide Number Placeholder 8"/>
          <p:cNvSpPr>
            <a:spLocks noGrp="1"/>
          </p:cNvSpPr>
          <p:nvPr>
            <p:ph type="sldNum" sz="quarter" idx="12"/>
          </p:nvPr>
        </p:nvSpPr>
        <p:spPr/>
        <p:txBody>
          <a:bodyPr/>
          <a:lstStyle/>
          <a:p>
            <a:fld id="{AC595C3F-9C3F-4E5D-A5E2-CAA490C09A98}" type="slidenum">
              <a:rPr lang="en-GB" smtClean="0"/>
              <a:pPr/>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B7E244D4-2188-4788-A21B-01DD542535C1}" type="datetime1">
              <a:rPr lang="en-GB" smtClean="0"/>
              <a:pPr/>
              <a:t>11/08/2013</a:t>
            </a:fld>
            <a:endParaRPr lang="en-GB"/>
          </a:p>
        </p:txBody>
      </p:sp>
      <p:sp>
        <p:nvSpPr>
          <p:cNvPr id="4" name="Footer Placeholder 3"/>
          <p:cNvSpPr>
            <a:spLocks noGrp="1"/>
          </p:cNvSpPr>
          <p:nvPr>
            <p:ph type="ftr" sz="quarter" idx="11"/>
          </p:nvPr>
        </p:nvSpPr>
        <p:spPr/>
        <p:txBody>
          <a:bodyPr/>
          <a:lstStyle/>
          <a:p>
            <a:r>
              <a:rPr lang="en-GB" smtClean="0"/>
              <a:t>George Boak 2013</a:t>
            </a:r>
            <a:endParaRPr lang="en-GB"/>
          </a:p>
        </p:txBody>
      </p:sp>
      <p:sp>
        <p:nvSpPr>
          <p:cNvPr id="5" name="Slide Number Placeholder 4"/>
          <p:cNvSpPr>
            <a:spLocks noGrp="1"/>
          </p:cNvSpPr>
          <p:nvPr>
            <p:ph type="sldNum" sz="quarter" idx="12"/>
          </p:nvPr>
        </p:nvSpPr>
        <p:spPr/>
        <p:txBody>
          <a:bodyPr/>
          <a:lstStyle/>
          <a:p>
            <a:fld id="{AC595C3F-9C3F-4E5D-A5E2-CAA490C09A98}" type="slidenum">
              <a:rPr lang="en-GB" smtClean="0"/>
              <a:pPr/>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E061FCF-DB59-4B60-AF96-0F5EA8804318}" type="datetime1">
              <a:rPr lang="en-GB" smtClean="0"/>
              <a:pPr/>
              <a:t>11/08/2013</a:t>
            </a:fld>
            <a:endParaRPr lang="en-GB"/>
          </a:p>
        </p:txBody>
      </p:sp>
      <p:sp>
        <p:nvSpPr>
          <p:cNvPr id="3" name="Footer Placeholder 2"/>
          <p:cNvSpPr>
            <a:spLocks noGrp="1"/>
          </p:cNvSpPr>
          <p:nvPr>
            <p:ph type="ftr" sz="quarter" idx="11"/>
          </p:nvPr>
        </p:nvSpPr>
        <p:spPr/>
        <p:txBody>
          <a:bodyPr/>
          <a:lstStyle/>
          <a:p>
            <a:r>
              <a:rPr lang="en-GB" smtClean="0"/>
              <a:t>George Boak 2013</a:t>
            </a:r>
            <a:endParaRPr lang="en-GB"/>
          </a:p>
        </p:txBody>
      </p:sp>
      <p:sp>
        <p:nvSpPr>
          <p:cNvPr id="4" name="Slide Number Placeholder 3"/>
          <p:cNvSpPr>
            <a:spLocks noGrp="1"/>
          </p:cNvSpPr>
          <p:nvPr>
            <p:ph type="sldNum" sz="quarter" idx="12"/>
          </p:nvPr>
        </p:nvSpPr>
        <p:spPr/>
        <p:txBody>
          <a:bodyPr/>
          <a:lstStyle/>
          <a:p>
            <a:fld id="{AC595C3F-9C3F-4E5D-A5E2-CAA490C09A98}" type="slidenum">
              <a:rPr lang="en-GB" smtClean="0"/>
              <a:pPr/>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82CD931-60A0-4B55-90E6-44BCEBFB1CD3}" type="datetime1">
              <a:rPr lang="en-GB" smtClean="0"/>
              <a:pPr/>
              <a:t>11/08/2013</a:t>
            </a:fld>
            <a:endParaRPr lang="en-GB"/>
          </a:p>
        </p:txBody>
      </p:sp>
      <p:sp>
        <p:nvSpPr>
          <p:cNvPr id="6" name="Footer Placeholder 5"/>
          <p:cNvSpPr>
            <a:spLocks noGrp="1"/>
          </p:cNvSpPr>
          <p:nvPr>
            <p:ph type="ftr" sz="quarter" idx="11"/>
          </p:nvPr>
        </p:nvSpPr>
        <p:spPr/>
        <p:txBody>
          <a:bodyPr/>
          <a:lstStyle/>
          <a:p>
            <a:r>
              <a:rPr lang="en-GB" smtClean="0"/>
              <a:t>George Boak 2013</a:t>
            </a:r>
            <a:endParaRPr lang="en-GB"/>
          </a:p>
        </p:txBody>
      </p:sp>
      <p:sp>
        <p:nvSpPr>
          <p:cNvPr id="7" name="Slide Number Placeholder 6"/>
          <p:cNvSpPr>
            <a:spLocks noGrp="1"/>
          </p:cNvSpPr>
          <p:nvPr>
            <p:ph type="sldNum" sz="quarter" idx="12"/>
          </p:nvPr>
        </p:nvSpPr>
        <p:spPr/>
        <p:txBody>
          <a:bodyPr/>
          <a:lstStyle/>
          <a:p>
            <a:fld id="{AC595C3F-9C3F-4E5D-A5E2-CAA490C09A98}" type="slidenum">
              <a:rPr lang="en-GB" smtClean="0"/>
              <a:pPr/>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933662A-746B-48DC-8A9F-DFEBFD7818DF}" type="datetime1">
              <a:rPr lang="en-GB" smtClean="0"/>
              <a:pPr/>
              <a:t>11/08/2013</a:t>
            </a:fld>
            <a:endParaRPr lang="en-GB"/>
          </a:p>
        </p:txBody>
      </p:sp>
      <p:sp>
        <p:nvSpPr>
          <p:cNvPr id="6" name="Footer Placeholder 5"/>
          <p:cNvSpPr>
            <a:spLocks noGrp="1"/>
          </p:cNvSpPr>
          <p:nvPr>
            <p:ph type="ftr" sz="quarter" idx="11"/>
          </p:nvPr>
        </p:nvSpPr>
        <p:spPr/>
        <p:txBody>
          <a:bodyPr/>
          <a:lstStyle/>
          <a:p>
            <a:r>
              <a:rPr lang="en-GB" smtClean="0"/>
              <a:t>George Boak 2013</a:t>
            </a:r>
            <a:endParaRPr lang="en-GB"/>
          </a:p>
        </p:txBody>
      </p:sp>
      <p:sp>
        <p:nvSpPr>
          <p:cNvPr id="7" name="Slide Number Placeholder 6"/>
          <p:cNvSpPr>
            <a:spLocks noGrp="1"/>
          </p:cNvSpPr>
          <p:nvPr>
            <p:ph type="sldNum" sz="quarter" idx="12"/>
          </p:nvPr>
        </p:nvSpPr>
        <p:spPr/>
        <p:txBody>
          <a:bodyPr/>
          <a:lstStyle/>
          <a:p>
            <a:fld id="{AC595C3F-9C3F-4E5D-A5E2-CAA490C09A98}" type="slidenum">
              <a:rPr lang="en-GB" smtClean="0"/>
              <a:pPr/>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11AF1FA3-52A7-4B4F-8F3D-E6178A88D8AA}" type="datetime1">
              <a:rPr lang="en-GB" smtClean="0"/>
              <a:pPr/>
              <a:t>11/08/2013</a:t>
            </a:fld>
            <a:endParaRPr lang="en-GB"/>
          </a:p>
        </p:txBody>
      </p:sp>
      <p:sp>
        <p:nvSpPr>
          <p:cNvPr id="5" name="Footer Placeholder 4"/>
          <p:cNvSpPr>
            <a:spLocks noGrp="1"/>
          </p:cNvSpPr>
          <p:nvPr>
            <p:ph type="ftr" sz="quarter" idx="11"/>
          </p:nvPr>
        </p:nvSpPr>
        <p:spPr/>
        <p:txBody>
          <a:bodyPr/>
          <a:lstStyle/>
          <a:p>
            <a:r>
              <a:rPr lang="en-GB" smtClean="0"/>
              <a:t>George Boak 2013</a:t>
            </a:r>
            <a:endParaRPr lang="en-GB"/>
          </a:p>
        </p:txBody>
      </p:sp>
      <p:sp>
        <p:nvSpPr>
          <p:cNvPr id="6" name="Slide Number Placeholder 5"/>
          <p:cNvSpPr>
            <a:spLocks noGrp="1"/>
          </p:cNvSpPr>
          <p:nvPr>
            <p:ph type="sldNum" sz="quarter" idx="12"/>
          </p:nvPr>
        </p:nvSpPr>
        <p:spPr/>
        <p:txBody>
          <a:bodyPr/>
          <a:lstStyle/>
          <a:p>
            <a:fld id="{AC595C3F-9C3F-4E5D-A5E2-CAA490C09A98}" type="slidenum">
              <a:rPr lang="en-GB" smtClean="0"/>
              <a:pPr/>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0607B627-64BC-4BD6-9830-8D2D6334A596}" type="datetime1">
              <a:rPr lang="en-GB" smtClean="0"/>
              <a:pPr/>
              <a:t>11/08/2013</a:t>
            </a:fld>
            <a:endParaRPr lang="en-GB"/>
          </a:p>
        </p:txBody>
      </p:sp>
      <p:sp>
        <p:nvSpPr>
          <p:cNvPr id="5" name="Footer Placeholder 4"/>
          <p:cNvSpPr>
            <a:spLocks noGrp="1"/>
          </p:cNvSpPr>
          <p:nvPr>
            <p:ph type="ftr" sz="quarter" idx="11"/>
          </p:nvPr>
        </p:nvSpPr>
        <p:spPr/>
        <p:txBody>
          <a:bodyPr/>
          <a:lstStyle/>
          <a:p>
            <a:r>
              <a:rPr lang="en-GB" smtClean="0"/>
              <a:t>George Boak 2013</a:t>
            </a:r>
            <a:endParaRPr lang="en-GB"/>
          </a:p>
        </p:txBody>
      </p:sp>
      <p:sp>
        <p:nvSpPr>
          <p:cNvPr id="6" name="Slide Number Placeholder 5"/>
          <p:cNvSpPr>
            <a:spLocks noGrp="1"/>
          </p:cNvSpPr>
          <p:nvPr>
            <p:ph type="sldNum" sz="quarter" idx="12"/>
          </p:nvPr>
        </p:nvSpPr>
        <p:spPr/>
        <p:txBody>
          <a:bodyPr/>
          <a:lstStyle/>
          <a:p>
            <a:fld id="{AC595C3F-9C3F-4E5D-A5E2-CAA490C09A98}" type="slidenum">
              <a:rPr lang="en-GB" smtClean="0"/>
              <a:pPr/>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5DF2B8E-65E7-4727-B0BA-27C172D3CCBE}" type="datetime1">
              <a:rPr lang="en-GB" smtClean="0"/>
              <a:pPr/>
              <a:t>11/08/2013</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GB" smtClean="0"/>
              <a:t>George Boak 2013</a:t>
            </a:r>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C595C3F-9C3F-4E5D-A5E2-CAA490C09A98}" type="slidenum">
              <a:rPr lang="en-GB" smtClean="0"/>
              <a:pPr/>
              <a:t>‹#›</a:t>
            </a:fld>
            <a:endParaRPr lang="en-GB"/>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043608" y="1340768"/>
            <a:ext cx="8100392" cy="1384995"/>
          </a:xfrm>
          <a:prstGeom prst="rect">
            <a:avLst/>
          </a:prstGeom>
          <a:noFill/>
        </p:spPr>
        <p:txBody>
          <a:bodyPr wrap="square" rtlCol="0">
            <a:spAutoFit/>
          </a:bodyPr>
          <a:lstStyle/>
          <a:p>
            <a:r>
              <a:rPr lang="en-GB" sz="2800" b="1" smtClean="0">
                <a:latin typeface="Arial" pitchFamily="34" charset="0"/>
                <a:cs typeface="Arial" pitchFamily="34" charset="0"/>
              </a:rPr>
              <a:t>Behavioural Interviewing</a:t>
            </a:r>
          </a:p>
          <a:p>
            <a:endParaRPr lang="en-GB" sz="2800">
              <a:latin typeface="Arial" pitchFamily="34" charset="0"/>
              <a:cs typeface="Arial" pitchFamily="34" charset="0"/>
            </a:endParaRPr>
          </a:p>
          <a:p>
            <a:endParaRPr lang="en-GB" sz="2800" smtClean="0">
              <a:latin typeface="Arial" pitchFamily="34" charset="0"/>
              <a:cs typeface="Arial" pitchFamily="34" charset="0"/>
            </a:endParaRPr>
          </a:p>
        </p:txBody>
      </p:sp>
      <p:sp>
        <p:nvSpPr>
          <p:cNvPr id="5" name="Footer Placeholder 4"/>
          <p:cNvSpPr>
            <a:spLocks noGrp="1"/>
          </p:cNvSpPr>
          <p:nvPr>
            <p:ph type="ftr" sz="quarter" idx="11"/>
          </p:nvPr>
        </p:nvSpPr>
        <p:spPr/>
        <p:txBody>
          <a:bodyPr/>
          <a:lstStyle/>
          <a:p>
            <a:r>
              <a:rPr lang="en-GB" smtClean="0"/>
              <a:t>George Boak 2013</a:t>
            </a:r>
            <a:endParaRPr lang="en-GB"/>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83568" y="764704"/>
            <a:ext cx="7776864" cy="3046988"/>
          </a:xfrm>
          <a:prstGeom prst="rect">
            <a:avLst/>
          </a:prstGeom>
          <a:noFill/>
        </p:spPr>
        <p:txBody>
          <a:bodyPr wrap="square" rtlCol="0">
            <a:spAutoFit/>
          </a:bodyPr>
          <a:lstStyle/>
          <a:p>
            <a:r>
              <a:rPr lang="en-GB" sz="2400" smtClean="0">
                <a:latin typeface="Arial" pitchFamily="34" charset="0"/>
                <a:cs typeface="Arial" pitchFamily="34" charset="0"/>
              </a:rPr>
              <a:t>What is it and how has it developed?</a:t>
            </a:r>
          </a:p>
          <a:p>
            <a:endParaRPr lang="en-GB" sz="2400" smtClean="0">
              <a:latin typeface="Arial" pitchFamily="34" charset="0"/>
              <a:cs typeface="Arial" pitchFamily="34" charset="0"/>
            </a:endParaRPr>
          </a:p>
          <a:p>
            <a:r>
              <a:rPr lang="en-GB" sz="2400" smtClean="0">
                <a:latin typeface="Arial" pitchFamily="34" charset="0"/>
                <a:cs typeface="Arial" pitchFamily="34" charset="0"/>
              </a:rPr>
              <a:t>What are its strengths?</a:t>
            </a:r>
          </a:p>
          <a:p>
            <a:endParaRPr lang="en-GB" sz="2400" smtClean="0">
              <a:latin typeface="Arial" pitchFamily="34" charset="0"/>
              <a:cs typeface="Arial" pitchFamily="34" charset="0"/>
            </a:endParaRPr>
          </a:p>
          <a:p>
            <a:r>
              <a:rPr lang="en-GB" sz="2400" smtClean="0">
                <a:latin typeface="Arial" pitchFamily="34" charset="0"/>
                <a:cs typeface="Arial" pitchFamily="34" charset="0"/>
              </a:rPr>
              <a:t>How do you do it?</a:t>
            </a:r>
          </a:p>
          <a:p>
            <a:endParaRPr lang="en-GB" sz="2400" smtClean="0">
              <a:latin typeface="Arial" pitchFamily="34" charset="0"/>
              <a:cs typeface="Arial" pitchFamily="34" charset="0"/>
            </a:endParaRPr>
          </a:p>
          <a:p>
            <a:r>
              <a:rPr lang="en-GB" sz="2400" smtClean="0">
                <a:latin typeface="Arial" pitchFamily="34" charset="0"/>
                <a:cs typeface="Arial" pitchFamily="34" charset="0"/>
              </a:rPr>
              <a:t>What are its limitations?</a:t>
            </a:r>
          </a:p>
          <a:p>
            <a:endParaRPr lang="en-GB" sz="2400" smtClean="0">
              <a:latin typeface="Arial" pitchFamily="34" charset="0"/>
              <a:cs typeface="Arial" pitchFamily="34" charset="0"/>
            </a:endParaRPr>
          </a:p>
        </p:txBody>
      </p:sp>
      <p:sp>
        <p:nvSpPr>
          <p:cNvPr id="5" name="Footer Placeholder 4"/>
          <p:cNvSpPr>
            <a:spLocks noGrp="1"/>
          </p:cNvSpPr>
          <p:nvPr>
            <p:ph type="ftr" sz="quarter" idx="11"/>
          </p:nvPr>
        </p:nvSpPr>
        <p:spPr/>
        <p:txBody>
          <a:bodyPr/>
          <a:lstStyle/>
          <a:p>
            <a:r>
              <a:rPr lang="en-GB" smtClean="0"/>
              <a:t>George Boak 2013</a:t>
            </a:r>
            <a:endParaRPr lang="en-GB"/>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27584" y="836712"/>
            <a:ext cx="7704856" cy="2677656"/>
          </a:xfrm>
          <a:prstGeom prst="rect">
            <a:avLst/>
          </a:prstGeom>
          <a:noFill/>
        </p:spPr>
        <p:txBody>
          <a:bodyPr wrap="square" rtlCol="0">
            <a:spAutoFit/>
          </a:bodyPr>
          <a:lstStyle/>
          <a:p>
            <a:pPr marL="342265">
              <a:spcAft>
                <a:spcPts val="0"/>
              </a:spcAft>
            </a:pPr>
            <a:r>
              <a:rPr lang="en-GB" sz="2400" smtClean="0">
                <a:latin typeface="Arial" pitchFamily="34" charset="0"/>
                <a:ea typeface="Times New Roman"/>
                <a:cs typeface="Arial" pitchFamily="34" charset="0"/>
              </a:rPr>
              <a:t>Behavioural Interviews</a:t>
            </a:r>
          </a:p>
          <a:p>
            <a:pPr marL="342265">
              <a:spcAft>
                <a:spcPts val="0"/>
              </a:spcAft>
            </a:pPr>
            <a:r>
              <a:rPr lang="en-GB" sz="2400" smtClean="0">
                <a:latin typeface="Arial" pitchFamily="34" charset="0"/>
                <a:ea typeface="Times New Roman"/>
                <a:cs typeface="Arial" pitchFamily="34" charset="0"/>
              </a:rPr>
              <a:t>also known as behavioural event interviews (BEI)</a:t>
            </a:r>
          </a:p>
          <a:p>
            <a:pPr marL="342265">
              <a:spcAft>
                <a:spcPts val="0"/>
              </a:spcAft>
            </a:pPr>
            <a:r>
              <a:rPr lang="en-GB" sz="2400">
                <a:latin typeface="Arial" pitchFamily="34" charset="0"/>
                <a:ea typeface="Times New Roman"/>
                <a:cs typeface="Arial" pitchFamily="34" charset="0"/>
              </a:rPr>
              <a:t>a</a:t>
            </a:r>
            <a:r>
              <a:rPr lang="en-GB" sz="2400" smtClean="0">
                <a:latin typeface="Arial" pitchFamily="34" charset="0"/>
                <a:ea typeface="Times New Roman"/>
                <a:cs typeface="Arial" pitchFamily="34" charset="0"/>
              </a:rPr>
              <a:t>lso known as critical incident interviews</a:t>
            </a:r>
          </a:p>
          <a:p>
            <a:pPr marL="342265">
              <a:spcAft>
                <a:spcPts val="0"/>
              </a:spcAft>
            </a:pPr>
            <a:endParaRPr lang="en-GB" sz="2400">
              <a:latin typeface="Arial" pitchFamily="34" charset="0"/>
              <a:ea typeface="Times New Roman"/>
              <a:cs typeface="Arial" pitchFamily="34" charset="0"/>
            </a:endParaRPr>
          </a:p>
          <a:p>
            <a:pPr marL="342265">
              <a:spcAft>
                <a:spcPts val="0"/>
              </a:spcAft>
            </a:pPr>
            <a:r>
              <a:rPr lang="en-GB" sz="2400" smtClean="0">
                <a:latin typeface="Arial" pitchFamily="34" charset="0"/>
                <a:ea typeface="Times New Roman"/>
                <a:cs typeface="Arial" pitchFamily="34" charset="0"/>
              </a:rPr>
              <a:t>Are based on critical incident technique (CIT). </a:t>
            </a:r>
          </a:p>
          <a:p>
            <a:pPr marL="342265">
              <a:spcAft>
                <a:spcPts val="0"/>
              </a:spcAft>
            </a:pPr>
            <a:endParaRPr lang="en-GB" sz="2400">
              <a:latin typeface="Arial" pitchFamily="34" charset="0"/>
              <a:ea typeface="Times New Roman"/>
              <a:cs typeface="Arial" pitchFamily="34" charset="0"/>
            </a:endParaRPr>
          </a:p>
          <a:p>
            <a:pPr marL="342265">
              <a:spcAft>
                <a:spcPts val="0"/>
              </a:spcAft>
            </a:pPr>
            <a:endParaRPr lang="en-GB" sz="2400">
              <a:latin typeface="Arial" pitchFamily="34" charset="0"/>
              <a:ea typeface="Times New Roman"/>
              <a:cs typeface="Arial" pitchFamily="34" charset="0"/>
            </a:endParaRPr>
          </a:p>
        </p:txBody>
      </p:sp>
      <p:sp>
        <p:nvSpPr>
          <p:cNvPr id="5" name="Footer Placeholder 4"/>
          <p:cNvSpPr>
            <a:spLocks noGrp="1"/>
          </p:cNvSpPr>
          <p:nvPr>
            <p:ph type="ftr" sz="quarter" idx="11"/>
          </p:nvPr>
        </p:nvSpPr>
        <p:spPr/>
        <p:txBody>
          <a:bodyPr/>
          <a:lstStyle/>
          <a:p>
            <a:r>
              <a:rPr lang="en-GB" smtClean="0"/>
              <a:t>George Boak 2013</a:t>
            </a:r>
            <a:endParaRPr lang="en-GB"/>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27584" y="836712"/>
            <a:ext cx="7704856" cy="4524315"/>
          </a:xfrm>
          <a:prstGeom prst="rect">
            <a:avLst/>
          </a:prstGeom>
          <a:noFill/>
        </p:spPr>
        <p:txBody>
          <a:bodyPr wrap="square" rtlCol="0">
            <a:spAutoFit/>
          </a:bodyPr>
          <a:lstStyle/>
          <a:p>
            <a:pPr marL="342265">
              <a:spcAft>
                <a:spcPts val="0"/>
              </a:spcAft>
            </a:pPr>
            <a:r>
              <a:rPr lang="en-GB" sz="2400" smtClean="0">
                <a:latin typeface="Arial" pitchFamily="34" charset="0"/>
                <a:ea typeface="Times New Roman"/>
                <a:cs typeface="Arial" pitchFamily="34" charset="0"/>
              </a:rPr>
              <a:t>Behavioural Interviews</a:t>
            </a:r>
          </a:p>
          <a:p>
            <a:pPr marL="342265">
              <a:spcAft>
                <a:spcPts val="0"/>
              </a:spcAft>
            </a:pPr>
            <a:r>
              <a:rPr lang="en-GB" sz="2400" smtClean="0">
                <a:latin typeface="Arial" pitchFamily="34" charset="0"/>
                <a:ea typeface="Times New Roman"/>
                <a:cs typeface="Arial" pitchFamily="34" charset="0"/>
              </a:rPr>
              <a:t>also known as behavioural event interviews (BEI)</a:t>
            </a:r>
          </a:p>
          <a:p>
            <a:pPr marL="342265">
              <a:spcAft>
                <a:spcPts val="0"/>
              </a:spcAft>
            </a:pPr>
            <a:r>
              <a:rPr lang="en-GB" sz="2400">
                <a:latin typeface="Arial" pitchFamily="34" charset="0"/>
                <a:ea typeface="Times New Roman"/>
                <a:cs typeface="Arial" pitchFamily="34" charset="0"/>
              </a:rPr>
              <a:t>a</a:t>
            </a:r>
            <a:r>
              <a:rPr lang="en-GB" sz="2400" smtClean="0">
                <a:latin typeface="Arial" pitchFamily="34" charset="0"/>
                <a:ea typeface="Times New Roman"/>
                <a:cs typeface="Arial" pitchFamily="34" charset="0"/>
              </a:rPr>
              <a:t>lso known as critical incident interviews</a:t>
            </a:r>
          </a:p>
          <a:p>
            <a:pPr marL="342265">
              <a:spcAft>
                <a:spcPts val="0"/>
              </a:spcAft>
            </a:pPr>
            <a:endParaRPr lang="en-GB" sz="2400">
              <a:latin typeface="Arial" pitchFamily="34" charset="0"/>
              <a:ea typeface="Times New Roman"/>
              <a:cs typeface="Arial" pitchFamily="34" charset="0"/>
            </a:endParaRPr>
          </a:p>
          <a:p>
            <a:pPr marL="342265">
              <a:spcAft>
                <a:spcPts val="0"/>
              </a:spcAft>
            </a:pPr>
            <a:r>
              <a:rPr lang="en-GB" sz="2400" smtClean="0">
                <a:latin typeface="Arial" pitchFamily="34" charset="0"/>
                <a:ea typeface="Times New Roman"/>
                <a:cs typeface="Arial" pitchFamily="34" charset="0"/>
              </a:rPr>
              <a:t>Are based on critical incident technique (CIT). </a:t>
            </a:r>
          </a:p>
          <a:p>
            <a:pPr marL="342265">
              <a:spcAft>
                <a:spcPts val="0"/>
              </a:spcAft>
            </a:pPr>
            <a:endParaRPr lang="en-GB" sz="2400">
              <a:latin typeface="Arial" pitchFamily="34" charset="0"/>
              <a:ea typeface="Times New Roman"/>
              <a:cs typeface="Arial" pitchFamily="34" charset="0"/>
            </a:endParaRPr>
          </a:p>
          <a:p>
            <a:pPr marL="342265">
              <a:spcAft>
                <a:spcPts val="0"/>
              </a:spcAft>
            </a:pPr>
            <a:r>
              <a:rPr lang="en-GB" sz="2400" smtClean="0">
                <a:latin typeface="Arial" pitchFamily="34" charset="0"/>
                <a:ea typeface="Times New Roman"/>
                <a:cs typeface="Arial" pitchFamily="34" charset="0"/>
              </a:rPr>
              <a:t>CIT first used by John Flanagan and colleagues in the 1940s.</a:t>
            </a:r>
            <a:endParaRPr lang="en-GB" sz="2400">
              <a:latin typeface="Arial" pitchFamily="34" charset="0"/>
              <a:ea typeface="Times New Roman"/>
              <a:cs typeface="Arial" pitchFamily="34" charset="0"/>
            </a:endParaRPr>
          </a:p>
          <a:p>
            <a:pPr marL="342265">
              <a:spcAft>
                <a:spcPts val="0"/>
              </a:spcAft>
            </a:pPr>
            <a:endParaRPr lang="en-GB" sz="2400" smtClean="0">
              <a:latin typeface="Arial" pitchFamily="34" charset="0"/>
              <a:ea typeface="Times New Roman"/>
              <a:cs typeface="Arial" pitchFamily="34" charset="0"/>
            </a:endParaRPr>
          </a:p>
          <a:p>
            <a:pPr marL="342265">
              <a:spcAft>
                <a:spcPts val="0"/>
              </a:spcAft>
            </a:pPr>
            <a:r>
              <a:rPr lang="en-GB" sz="2400" smtClean="0">
                <a:latin typeface="Arial" pitchFamily="34" charset="0"/>
                <a:ea typeface="Times New Roman"/>
                <a:cs typeface="Arial" pitchFamily="34" charset="0"/>
              </a:rPr>
              <a:t>Aviation Psychology Program of the US Army Air Forces in World War II</a:t>
            </a:r>
          </a:p>
          <a:p>
            <a:pPr marL="342265">
              <a:spcAft>
                <a:spcPts val="0"/>
              </a:spcAft>
            </a:pPr>
            <a:endParaRPr lang="en-GB" sz="2400">
              <a:latin typeface="Arial" pitchFamily="34" charset="0"/>
              <a:ea typeface="Times New Roman"/>
              <a:cs typeface="Arial" pitchFamily="34" charset="0"/>
            </a:endParaRPr>
          </a:p>
        </p:txBody>
      </p:sp>
      <p:sp>
        <p:nvSpPr>
          <p:cNvPr id="5" name="Footer Placeholder 4"/>
          <p:cNvSpPr>
            <a:spLocks noGrp="1"/>
          </p:cNvSpPr>
          <p:nvPr>
            <p:ph type="ftr" sz="quarter" idx="11"/>
          </p:nvPr>
        </p:nvSpPr>
        <p:spPr/>
        <p:txBody>
          <a:bodyPr/>
          <a:lstStyle/>
          <a:p>
            <a:r>
              <a:rPr lang="en-GB" smtClean="0"/>
              <a:t>George Boak 2013</a:t>
            </a:r>
            <a:endParaRPr lang="en-GB"/>
          </a:p>
        </p:txBody>
      </p:sp>
    </p:spTree>
    <p:extLst>
      <p:ext uri="{BB962C8B-B14F-4D97-AF65-F5344CB8AC3E}">
        <p14:creationId xmlns="" xmlns:p14="http://schemas.microsoft.com/office/powerpoint/2010/main" val="25534830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8" end="8"/>
                                            </p:txEl>
                                          </p:spTgt>
                                        </p:tgtEl>
                                        <p:attrNameLst>
                                          <p:attrName>style.visibility</p:attrName>
                                        </p:attrNameLst>
                                      </p:cBhvr>
                                      <p:to>
                                        <p:strVal val="visible"/>
                                      </p:to>
                                    </p:set>
                                    <p:animEffect transition="in" filter="fade">
                                      <p:cBhvr>
                                        <p:cTn id="7" dur="2000"/>
                                        <p:tgtEl>
                                          <p:spTgt spid="4">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39552" y="548680"/>
            <a:ext cx="8064896" cy="2215991"/>
          </a:xfrm>
          <a:prstGeom prst="rect">
            <a:avLst/>
          </a:prstGeom>
          <a:noFill/>
        </p:spPr>
        <p:txBody>
          <a:bodyPr wrap="square" rtlCol="0">
            <a:spAutoFit/>
          </a:bodyPr>
          <a:lstStyle/>
          <a:p>
            <a:r>
              <a:rPr lang="en-GB" sz="2400" smtClean="0">
                <a:latin typeface="Arial" pitchFamily="34" charset="0"/>
                <a:cs typeface="Arial" pitchFamily="34" charset="0"/>
              </a:rPr>
              <a:t>‘The </a:t>
            </a:r>
            <a:r>
              <a:rPr lang="en-GB" sz="2400">
                <a:latin typeface="Arial" pitchFamily="34" charset="0"/>
                <a:cs typeface="Arial" pitchFamily="34" charset="0"/>
              </a:rPr>
              <a:t>critical incident technique outlines procedures for collecting observed incidents having special </a:t>
            </a:r>
            <a:r>
              <a:rPr lang="en-GB" sz="2400" smtClean="0">
                <a:latin typeface="Arial" pitchFamily="34" charset="0"/>
                <a:cs typeface="Arial" pitchFamily="34" charset="0"/>
              </a:rPr>
              <a:t>significance…. ' </a:t>
            </a:r>
          </a:p>
          <a:p>
            <a:endParaRPr lang="en-GB" sz="2400">
              <a:latin typeface="Arial" pitchFamily="34" charset="0"/>
              <a:cs typeface="Arial" pitchFamily="34" charset="0"/>
            </a:endParaRPr>
          </a:p>
          <a:p>
            <a:r>
              <a:rPr lang="en-GB" sz="2400" smtClean="0">
                <a:latin typeface="Arial" pitchFamily="34" charset="0"/>
                <a:cs typeface="Arial" pitchFamily="34" charset="0"/>
              </a:rPr>
              <a:t>(</a:t>
            </a:r>
            <a:r>
              <a:rPr lang="en-GB" sz="2400">
                <a:latin typeface="Arial" pitchFamily="34" charset="0"/>
                <a:cs typeface="Arial" pitchFamily="34" charset="0"/>
              </a:rPr>
              <a:t>Flanagan, 1954: 327)</a:t>
            </a:r>
          </a:p>
          <a:p>
            <a:endParaRPr lang="en-GB"/>
          </a:p>
        </p:txBody>
      </p:sp>
      <p:sp>
        <p:nvSpPr>
          <p:cNvPr id="5" name="Footer Placeholder 4"/>
          <p:cNvSpPr>
            <a:spLocks noGrp="1"/>
          </p:cNvSpPr>
          <p:nvPr>
            <p:ph type="ftr" sz="quarter" idx="11"/>
          </p:nvPr>
        </p:nvSpPr>
        <p:spPr/>
        <p:txBody>
          <a:bodyPr/>
          <a:lstStyle/>
          <a:p>
            <a:r>
              <a:rPr lang="en-GB" smtClean="0"/>
              <a:t>George Boak 2013</a:t>
            </a:r>
            <a:endParaRPr lang="en-GB"/>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11560" y="404664"/>
            <a:ext cx="8136904" cy="5539978"/>
          </a:xfrm>
          <a:prstGeom prst="rect">
            <a:avLst/>
          </a:prstGeom>
          <a:noFill/>
        </p:spPr>
        <p:txBody>
          <a:bodyPr wrap="square" rtlCol="0">
            <a:spAutoFit/>
          </a:bodyPr>
          <a:lstStyle/>
          <a:p>
            <a:r>
              <a:rPr lang="en-GB" sz="2400" smtClean="0">
                <a:latin typeface="Arial" pitchFamily="34" charset="0"/>
                <a:cs typeface="Arial" pitchFamily="34" charset="0"/>
              </a:rPr>
              <a:t>Although </a:t>
            </a:r>
            <a:r>
              <a:rPr lang="en-GB" sz="2400">
                <a:latin typeface="Arial" pitchFamily="34" charset="0"/>
                <a:cs typeface="Arial" pitchFamily="34" charset="0"/>
              </a:rPr>
              <a:t>Flanagan laid emphasis on the direct observation of behaviour by trained expert observers, </a:t>
            </a:r>
            <a:r>
              <a:rPr lang="en-GB" sz="2400" smtClean="0">
                <a:latin typeface="Arial" pitchFamily="34" charset="0"/>
                <a:cs typeface="Arial" pitchFamily="34" charset="0"/>
              </a:rPr>
              <a:t>most </a:t>
            </a:r>
            <a:r>
              <a:rPr lang="en-GB" sz="2400">
                <a:latin typeface="Arial" pitchFamily="34" charset="0"/>
                <a:cs typeface="Arial" pitchFamily="34" charset="0"/>
              </a:rPr>
              <a:t>studies since 1987 have been conducted through self-report by interview</a:t>
            </a:r>
            <a:r>
              <a:rPr lang="en-GB" sz="2400" smtClean="0">
                <a:latin typeface="Arial" pitchFamily="34" charset="0"/>
                <a:cs typeface="Arial" pitchFamily="34" charset="0"/>
              </a:rPr>
              <a:t>.</a:t>
            </a:r>
          </a:p>
          <a:p>
            <a:endParaRPr lang="en-GB" sz="2400" smtClean="0">
              <a:latin typeface="Arial" pitchFamily="34" charset="0"/>
              <a:cs typeface="Arial" pitchFamily="34" charset="0"/>
            </a:endParaRPr>
          </a:p>
          <a:p>
            <a:r>
              <a:rPr lang="en-GB" sz="2400" smtClean="0">
                <a:latin typeface="Arial" pitchFamily="34" charset="0"/>
                <a:cs typeface="Arial" pitchFamily="34" charset="0"/>
              </a:rPr>
              <a:t>(Butterfield et al, 2004)</a:t>
            </a:r>
            <a:endParaRPr lang="en-GB" sz="2400">
              <a:latin typeface="Arial" pitchFamily="34" charset="0"/>
              <a:cs typeface="Arial" pitchFamily="34" charset="0"/>
            </a:endParaRPr>
          </a:p>
          <a:p>
            <a:r>
              <a:rPr lang="en-GB" sz="2400">
                <a:latin typeface="Arial" pitchFamily="34" charset="0"/>
                <a:cs typeface="Arial" pitchFamily="34" charset="0"/>
              </a:rPr>
              <a:t> </a:t>
            </a:r>
            <a:endParaRPr lang="en-GB" sz="2400" smtClean="0">
              <a:latin typeface="Arial" pitchFamily="34" charset="0"/>
              <a:cs typeface="Arial" pitchFamily="34" charset="0"/>
            </a:endParaRPr>
          </a:p>
          <a:p>
            <a:endParaRPr lang="en-GB" sz="2400">
              <a:latin typeface="Arial" pitchFamily="34" charset="0"/>
              <a:cs typeface="Arial" pitchFamily="34" charset="0"/>
            </a:endParaRPr>
          </a:p>
          <a:p>
            <a:r>
              <a:rPr lang="en-GB" sz="2400">
                <a:latin typeface="Arial" pitchFamily="34" charset="0"/>
                <a:cs typeface="Arial" pitchFamily="34" charset="0"/>
              </a:rPr>
              <a:t>CIT used by Herzberg, and helped to develop the Two Factor Theory of Motivation</a:t>
            </a:r>
            <a:r>
              <a:rPr lang="en-GB" sz="2400" smtClean="0">
                <a:latin typeface="Arial" pitchFamily="34" charset="0"/>
                <a:cs typeface="Arial" pitchFamily="34" charset="0"/>
              </a:rPr>
              <a:t>.</a:t>
            </a:r>
          </a:p>
          <a:p>
            <a:endParaRPr lang="en-GB" sz="2400">
              <a:latin typeface="Arial" pitchFamily="34" charset="0"/>
              <a:cs typeface="Arial" pitchFamily="34" charset="0"/>
            </a:endParaRPr>
          </a:p>
          <a:p>
            <a:r>
              <a:rPr lang="en-GB" sz="2400" smtClean="0">
                <a:latin typeface="Arial" pitchFamily="34" charset="0"/>
                <a:cs typeface="Arial" pitchFamily="34" charset="0"/>
              </a:rPr>
              <a:t>Behavioural interviews used by Hay Group to develop competency frameworks.</a:t>
            </a:r>
          </a:p>
          <a:p>
            <a:endParaRPr lang="en-GB" sz="2400">
              <a:latin typeface="Arial" pitchFamily="34" charset="0"/>
              <a:cs typeface="Arial" pitchFamily="34" charset="0"/>
            </a:endParaRPr>
          </a:p>
          <a:p>
            <a:endParaRPr lang="en-GB"/>
          </a:p>
        </p:txBody>
      </p:sp>
      <p:sp>
        <p:nvSpPr>
          <p:cNvPr id="5" name="Footer Placeholder 4"/>
          <p:cNvSpPr>
            <a:spLocks noGrp="1"/>
          </p:cNvSpPr>
          <p:nvPr>
            <p:ph type="ftr" sz="quarter" idx="11"/>
          </p:nvPr>
        </p:nvSpPr>
        <p:spPr/>
        <p:txBody>
          <a:bodyPr/>
          <a:lstStyle/>
          <a:p>
            <a:r>
              <a:rPr lang="en-GB" smtClean="0"/>
              <a:t>George Boak 2013</a:t>
            </a:r>
            <a:endParaRPr lang="en-GB"/>
          </a:p>
        </p:txBody>
      </p:sp>
    </p:spTree>
    <p:extLst>
      <p:ext uri="{BB962C8B-B14F-4D97-AF65-F5344CB8AC3E}">
        <p14:creationId xmlns="" xmlns:p14="http://schemas.microsoft.com/office/powerpoint/2010/main" val="38987640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5" end="5"/>
                                            </p:txEl>
                                          </p:spTgt>
                                        </p:tgtEl>
                                        <p:attrNameLst>
                                          <p:attrName>style.visibility</p:attrName>
                                        </p:attrNameLst>
                                      </p:cBhvr>
                                      <p:to>
                                        <p:strVal val="visible"/>
                                      </p:to>
                                    </p:set>
                                    <p:animEffect transition="in" filter="fade">
                                      <p:cBhvr>
                                        <p:cTn id="7" dur="2000"/>
                                        <p:tgtEl>
                                          <p:spTgt spid="4">
                                            <p:txEl>
                                              <p:pRg st="5" end="5"/>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7" end="7"/>
                                            </p:txEl>
                                          </p:spTgt>
                                        </p:tgtEl>
                                        <p:attrNameLst>
                                          <p:attrName>style.visibility</p:attrName>
                                        </p:attrNameLst>
                                      </p:cBhvr>
                                      <p:to>
                                        <p:strVal val="visible"/>
                                      </p:to>
                                    </p:set>
                                    <p:animEffect transition="in" filter="fade">
                                      <p:cBhvr>
                                        <p:cTn id="12" dur="2000"/>
                                        <p:tgtEl>
                                          <p:spTgt spid="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83568" y="476672"/>
            <a:ext cx="8064896" cy="4370427"/>
          </a:xfrm>
          <a:prstGeom prst="rect">
            <a:avLst/>
          </a:prstGeom>
          <a:noFill/>
        </p:spPr>
        <p:txBody>
          <a:bodyPr wrap="square" rtlCol="0">
            <a:spAutoFit/>
          </a:bodyPr>
          <a:lstStyle/>
          <a:p>
            <a:r>
              <a:rPr lang="en-GB" sz="2400" smtClean="0">
                <a:latin typeface="Arial" pitchFamily="34" charset="0"/>
                <a:cs typeface="Arial" pitchFamily="34" charset="0"/>
              </a:rPr>
              <a:t>The behavioural interview tries </a:t>
            </a:r>
            <a:r>
              <a:rPr lang="en-GB" sz="2400">
                <a:latin typeface="Arial" pitchFamily="34" charset="0"/>
                <a:cs typeface="Arial" pitchFamily="34" charset="0"/>
              </a:rPr>
              <a:t>to: </a:t>
            </a:r>
            <a:endParaRPr lang="en-GB" sz="2400" smtClean="0">
              <a:latin typeface="Arial" pitchFamily="34" charset="0"/>
              <a:cs typeface="Arial" pitchFamily="34" charset="0"/>
            </a:endParaRPr>
          </a:p>
          <a:p>
            <a:endParaRPr lang="en-GB" sz="2400">
              <a:latin typeface="Arial" pitchFamily="34" charset="0"/>
              <a:cs typeface="Arial" pitchFamily="34" charset="0"/>
            </a:endParaRPr>
          </a:p>
          <a:p>
            <a:r>
              <a:rPr lang="en-GB" sz="2400" i="1">
                <a:latin typeface="Arial" pitchFamily="34" charset="0"/>
                <a:cs typeface="Arial" pitchFamily="34" charset="0"/>
              </a:rPr>
              <a:t>get a full report of a specific past occurrence, with a beginning, a middle and an end, and with characters who wanted certain things, thought in certain ways, and acted in certain ways. </a:t>
            </a:r>
            <a:endParaRPr lang="en-GB" sz="2400" i="1" smtClean="0">
              <a:latin typeface="Arial" pitchFamily="34" charset="0"/>
              <a:cs typeface="Arial" pitchFamily="34" charset="0"/>
            </a:endParaRPr>
          </a:p>
          <a:p>
            <a:endParaRPr lang="en-GB" sz="2400" i="1">
              <a:latin typeface="Arial" pitchFamily="34" charset="0"/>
              <a:cs typeface="Arial" pitchFamily="34" charset="0"/>
            </a:endParaRPr>
          </a:p>
          <a:p>
            <a:endParaRPr lang="en-GB" sz="2400" i="1" smtClean="0">
              <a:latin typeface="Arial" pitchFamily="34" charset="0"/>
              <a:cs typeface="Arial" pitchFamily="34" charset="0"/>
            </a:endParaRPr>
          </a:p>
          <a:p>
            <a:r>
              <a:rPr lang="en-GB" sz="2400">
                <a:latin typeface="Arial" pitchFamily="34" charset="0"/>
                <a:cs typeface="Arial" pitchFamily="34" charset="0"/>
              </a:rPr>
              <a:t>Klemp and McClelland (1986: 36)</a:t>
            </a:r>
          </a:p>
          <a:p>
            <a:endParaRPr lang="en-GB" sz="2400" i="1" smtClean="0">
              <a:latin typeface="Arial" pitchFamily="34" charset="0"/>
              <a:cs typeface="Arial" pitchFamily="34" charset="0"/>
            </a:endParaRPr>
          </a:p>
          <a:p>
            <a:endParaRPr lang="en-GB" sz="2000" i="1">
              <a:latin typeface="Arial" pitchFamily="34" charset="0"/>
              <a:cs typeface="Arial" pitchFamily="34" charset="0"/>
            </a:endParaRPr>
          </a:p>
          <a:p>
            <a:endParaRPr lang="en-GB"/>
          </a:p>
        </p:txBody>
      </p:sp>
      <p:sp>
        <p:nvSpPr>
          <p:cNvPr id="5" name="Footer Placeholder 4"/>
          <p:cNvSpPr>
            <a:spLocks noGrp="1"/>
          </p:cNvSpPr>
          <p:nvPr>
            <p:ph type="ftr" sz="quarter" idx="11"/>
          </p:nvPr>
        </p:nvSpPr>
        <p:spPr/>
        <p:txBody>
          <a:bodyPr/>
          <a:lstStyle/>
          <a:p>
            <a:r>
              <a:rPr lang="en-GB" smtClean="0"/>
              <a:t>George Boak 2013</a:t>
            </a:r>
            <a:endParaRPr lang="en-GB"/>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GB" smtClean="0"/>
              <a:t>George Boak 2013</a:t>
            </a:r>
            <a:endParaRPr lang="en-GB"/>
          </a:p>
        </p:txBody>
      </p:sp>
      <p:sp>
        <p:nvSpPr>
          <p:cNvPr id="5" name="TextBox 4"/>
          <p:cNvSpPr txBox="1"/>
          <p:nvPr/>
        </p:nvSpPr>
        <p:spPr>
          <a:xfrm>
            <a:off x="539552" y="476672"/>
            <a:ext cx="8064896" cy="5262979"/>
          </a:xfrm>
          <a:prstGeom prst="rect">
            <a:avLst/>
          </a:prstGeom>
          <a:noFill/>
        </p:spPr>
        <p:txBody>
          <a:bodyPr wrap="square" rtlCol="0">
            <a:spAutoFit/>
          </a:bodyPr>
          <a:lstStyle/>
          <a:p>
            <a:r>
              <a:rPr lang="en-GB" sz="2400">
                <a:latin typeface="Arial" pitchFamily="34" charset="0"/>
                <a:cs typeface="Arial" pitchFamily="34" charset="0"/>
              </a:rPr>
              <a:t>It aims to avoid</a:t>
            </a:r>
          </a:p>
          <a:p>
            <a:endParaRPr lang="en-GB" sz="2400" i="1">
              <a:latin typeface="Arial" pitchFamily="34" charset="0"/>
              <a:cs typeface="Arial" pitchFamily="34" charset="0"/>
            </a:endParaRPr>
          </a:p>
          <a:p>
            <a:r>
              <a:rPr lang="en-GB" sz="2400" i="1">
                <a:latin typeface="Arial" pitchFamily="34" charset="0"/>
                <a:cs typeface="Arial" pitchFamily="34" charset="0"/>
              </a:rPr>
              <a:t>getting generalisations about what the person usually does in typical situations. The reason is that everyone has ideas about what he or she does, and when and why, but these ideas are based partly on theories about the job, so they do not tell much about the person's actual behaviour. By obtaining raw data on the person's behaviour, the behavioural interview [allows] us to get beneath the theories to the specific thoughts and actions that contribute to on-the-job success.</a:t>
            </a:r>
          </a:p>
          <a:p>
            <a:endParaRPr lang="en-GB" sz="2400" i="1">
              <a:latin typeface="Arial" pitchFamily="34" charset="0"/>
              <a:cs typeface="Arial" pitchFamily="34" charset="0"/>
            </a:endParaRPr>
          </a:p>
          <a:p>
            <a:r>
              <a:rPr lang="en-GB" sz="2400">
                <a:latin typeface="Arial" pitchFamily="34" charset="0"/>
                <a:cs typeface="Arial" pitchFamily="34" charset="0"/>
              </a:rPr>
              <a:t>Klemp and McClelland (1986: 36)</a:t>
            </a:r>
          </a:p>
          <a:p>
            <a:endParaRPr lang="en-GB" sz="2400"/>
          </a:p>
        </p:txBody>
      </p:sp>
    </p:spTree>
    <p:extLst>
      <p:ext uri="{BB962C8B-B14F-4D97-AF65-F5344CB8AC3E}">
        <p14:creationId xmlns="" xmlns:p14="http://schemas.microsoft.com/office/powerpoint/2010/main" val="38348861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83568" y="548680"/>
            <a:ext cx="8136904" cy="4185761"/>
          </a:xfrm>
          <a:prstGeom prst="rect">
            <a:avLst/>
          </a:prstGeom>
          <a:noFill/>
        </p:spPr>
        <p:txBody>
          <a:bodyPr wrap="square" rtlCol="0">
            <a:spAutoFit/>
          </a:bodyPr>
          <a:lstStyle/>
          <a:p>
            <a:r>
              <a:rPr lang="en-GB" smtClean="0"/>
              <a:t> </a:t>
            </a:r>
            <a:endParaRPr lang="en-GB"/>
          </a:p>
          <a:p>
            <a:endParaRPr lang="en-GB" sz="2000" i="1" smtClean="0">
              <a:latin typeface="Arial" pitchFamily="34" charset="0"/>
              <a:cs typeface="Arial" pitchFamily="34" charset="0"/>
            </a:endParaRPr>
          </a:p>
          <a:p>
            <a:r>
              <a:rPr lang="en-GB" sz="2400" i="1" smtClean="0">
                <a:latin typeface="Arial" pitchFamily="34" charset="0"/>
                <a:cs typeface="Arial" pitchFamily="34" charset="0"/>
              </a:rPr>
              <a:t>Done </a:t>
            </a:r>
            <a:r>
              <a:rPr lang="en-GB" sz="2400" i="1">
                <a:latin typeface="Arial" pitchFamily="34" charset="0"/>
                <a:cs typeface="Arial" pitchFamily="34" charset="0"/>
              </a:rPr>
              <a:t>correctly, the BEI method gathers critical incident information equivalent to direct observation data, but much more efficiently. A 60 – 90-minute interview can produce almost as much usable data as a week of intensive observation... </a:t>
            </a:r>
            <a:endParaRPr lang="en-GB" sz="2400" i="1" smtClean="0">
              <a:latin typeface="Arial" pitchFamily="34" charset="0"/>
              <a:cs typeface="Arial" pitchFamily="34" charset="0"/>
            </a:endParaRPr>
          </a:p>
          <a:p>
            <a:endParaRPr lang="en-GB" sz="2400" i="1">
              <a:latin typeface="Arial" pitchFamily="34" charset="0"/>
              <a:cs typeface="Arial" pitchFamily="34" charset="0"/>
            </a:endParaRPr>
          </a:p>
          <a:p>
            <a:r>
              <a:rPr lang="en-GB" sz="2400" smtClean="0">
                <a:latin typeface="Arial" pitchFamily="34" charset="0"/>
                <a:cs typeface="Arial" pitchFamily="34" charset="0"/>
              </a:rPr>
              <a:t>Spencer and Spencer (1993:104)</a:t>
            </a:r>
          </a:p>
          <a:p>
            <a:endParaRPr lang="en-GB" sz="2000">
              <a:latin typeface="Arial" pitchFamily="34" charset="0"/>
              <a:cs typeface="Arial" pitchFamily="34" charset="0"/>
            </a:endParaRPr>
          </a:p>
          <a:p>
            <a:endParaRPr lang="en-GB" sz="2000">
              <a:latin typeface="Arial" pitchFamily="34" charset="0"/>
              <a:cs typeface="Arial" pitchFamily="34" charset="0"/>
            </a:endParaRPr>
          </a:p>
          <a:p>
            <a:endParaRPr lang="en-GB" sz="2000">
              <a:latin typeface="Arial" pitchFamily="34" charset="0"/>
              <a:cs typeface="Arial" pitchFamily="34" charset="0"/>
            </a:endParaRPr>
          </a:p>
        </p:txBody>
      </p:sp>
      <p:sp>
        <p:nvSpPr>
          <p:cNvPr id="5" name="Footer Placeholder 4"/>
          <p:cNvSpPr>
            <a:spLocks noGrp="1"/>
          </p:cNvSpPr>
          <p:nvPr>
            <p:ph type="ftr" sz="quarter" idx="11"/>
          </p:nvPr>
        </p:nvSpPr>
        <p:spPr/>
        <p:txBody>
          <a:bodyPr/>
          <a:lstStyle/>
          <a:p>
            <a:r>
              <a:rPr lang="en-GB" smtClean="0"/>
              <a:t>George Boak 2013</a:t>
            </a:r>
            <a:endParaRPr lang="en-GB"/>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83568" y="476672"/>
            <a:ext cx="8136904" cy="5324535"/>
          </a:xfrm>
          <a:prstGeom prst="rect">
            <a:avLst/>
          </a:prstGeom>
          <a:noFill/>
        </p:spPr>
        <p:txBody>
          <a:bodyPr wrap="square" rtlCol="0">
            <a:spAutoFit/>
          </a:bodyPr>
          <a:lstStyle/>
          <a:p>
            <a:r>
              <a:rPr lang="en-GB" sz="2000" b="1" smtClean="0">
                <a:latin typeface="Arial" pitchFamily="34" charset="0"/>
                <a:cs typeface="Arial" pitchFamily="34" charset="0"/>
              </a:rPr>
              <a:t>Strengths</a:t>
            </a:r>
          </a:p>
          <a:p>
            <a:endParaRPr lang="en-GB" sz="2000">
              <a:latin typeface="Arial" pitchFamily="34" charset="0"/>
              <a:cs typeface="Arial" pitchFamily="34" charset="0"/>
            </a:endParaRPr>
          </a:p>
          <a:p>
            <a:pPr marL="457200" lvl="0" indent="-457200">
              <a:buFont typeface="+mj-lt"/>
              <a:buAutoNum type="arabicPeriod"/>
            </a:pPr>
            <a:r>
              <a:rPr lang="en-GB" sz="2000">
                <a:latin typeface="Arial" pitchFamily="34" charset="0"/>
                <a:cs typeface="Arial" pitchFamily="34" charset="0"/>
              </a:rPr>
              <a:t>the interview focuses on accounts of actual </a:t>
            </a:r>
            <a:r>
              <a:rPr lang="en-GB" sz="2000" smtClean="0">
                <a:latin typeface="Arial" pitchFamily="34" charset="0"/>
                <a:cs typeface="Arial" pitchFamily="34" charset="0"/>
              </a:rPr>
              <a:t>events - examines </a:t>
            </a:r>
            <a:r>
              <a:rPr lang="en-GB" sz="2000">
                <a:latin typeface="Arial" pitchFamily="34" charset="0"/>
                <a:cs typeface="Arial" pitchFamily="34" charset="0"/>
              </a:rPr>
              <a:t>behaviours of the interviewee rather than accepting their </a:t>
            </a:r>
            <a:r>
              <a:rPr lang="en-GB" sz="2000" smtClean="0">
                <a:latin typeface="Arial" pitchFamily="34" charset="0"/>
                <a:cs typeface="Arial" pitchFamily="34" charset="0"/>
              </a:rPr>
              <a:t>generalisations</a:t>
            </a:r>
          </a:p>
          <a:p>
            <a:pPr marL="457200" lvl="0" indent="-457200">
              <a:buFont typeface="+mj-lt"/>
              <a:buAutoNum type="arabicPeriod"/>
            </a:pPr>
            <a:endParaRPr lang="en-GB" sz="2000">
              <a:latin typeface="Arial" pitchFamily="34" charset="0"/>
              <a:cs typeface="Arial" pitchFamily="34" charset="0"/>
            </a:endParaRPr>
          </a:p>
          <a:p>
            <a:pPr marL="457200" lvl="0" indent="-457200">
              <a:buFont typeface="+mj-lt"/>
              <a:buAutoNum type="arabicPeriod"/>
            </a:pPr>
            <a:r>
              <a:rPr lang="en-GB" sz="2000">
                <a:latin typeface="Arial" pitchFamily="34" charset="0"/>
                <a:cs typeface="Arial" pitchFamily="34" charset="0"/>
              </a:rPr>
              <a:t>detail of behaviour can be </a:t>
            </a:r>
            <a:r>
              <a:rPr lang="en-GB" sz="2000" smtClean="0">
                <a:latin typeface="Arial" pitchFamily="34" charset="0"/>
                <a:cs typeface="Arial" pitchFamily="34" charset="0"/>
              </a:rPr>
              <a:t>gathered – you can get a much </a:t>
            </a:r>
            <a:r>
              <a:rPr lang="en-GB" sz="2000">
                <a:latin typeface="Arial" pitchFamily="34" charset="0"/>
                <a:cs typeface="Arial" pitchFamily="34" charset="0"/>
              </a:rPr>
              <a:t>richer picture than can be obtained from generalised rules about how an interviewee ‘usually’ </a:t>
            </a:r>
            <a:r>
              <a:rPr lang="en-GB" sz="2000" smtClean="0">
                <a:latin typeface="Arial" pitchFamily="34" charset="0"/>
                <a:cs typeface="Arial" pitchFamily="34" charset="0"/>
              </a:rPr>
              <a:t>behaves</a:t>
            </a:r>
          </a:p>
          <a:p>
            <a:pPr marL="457200" lvl="0" indent="-457200">
              <a:buFont typeface="+mj-lt"/>
              <a:buAutoNum type="arabicPeriod"/>
            </a:pPr>
            <a:endParaRPr lang="en-GB" sz="2000">
              <a:latin typeface="Arial" pitchFamily="34" charset="0"/>
              <a:cs typeface="Arial" pitchFamily="34" charset="0"/>
            </a:endParaRPr>
          </a:p>
          <a:p>
            <a:pPr marL="457200" lvl="0" indent="-457200">
              <a:buFont typeface="+mj-lt"/>
              <a:buAutoNum type="arabicPeriod"/>
            </a:pPr>
            <a:r>
              <a:rPr lang="en-GB" sz="2000">
                <a:latin typeface="Arial" pitchFamily="34" charset="0"/>
                <a:cs typeface="Arial" pitchFamily="34" charset="0"/>
              </a:rPr>
              <a:t>interviewees are less likely to provide what they consider to be ‘socially desirable’ answers to questions (Spencer and Spencer 1993: 115</a:t>
            </a:r>
            <a:r>
              <a:rPr lang="en-GB" sz="2000" smtClean="0">
                <a:latin typeface="Arial" pitchFamily="34" charset="0"/>
                <a:cs typeface="Arial" pitchFamily="34" charset="0"/>
              </a:rPr>
              <a:t>) </a:t>
            </a:r>
            <a:endParaRPr lang="en-GB" sz="2000">
              <a:latin typeface="Arial" pitchFamily="34" charset="0"/>
              <a:cs typeface="Arial" pitchFamily="34" charset="0"/>
            </a:endParaRPr>
          </a:p>
          <a:p>
            <a:pPr marL="457200" indent="-457200">
              <a:buFont typeface="+mj-lt"/>
              <a:buAutoNum type="arabicPeriod"/>
            </a:pPr>
            <a:endParaRPr lang="en-GB" sz="2000" smtClean="0">
              <a:latin typeface="Arial" pitchFamily="34" charset="0"/>
              <a:cs typeface="Arial" pitchFamily="34" charset="0"/>
            </a:endParaRPr>
          </a:p>
          <a:p>
            <a:pPr marL="457200" indent="-457200">
              <a:buFont typeface="+mj-lt"/>
              <a:buAutoNum type="arabicPeriod"/>
            </a:pPr>
            <a:r>
              <a:rPr lang="en-GB" sz="2000" smtClean="0">
                <a:latin typeface="Arial" pitchFamily="34" charset="0"/>
                <a:cs typeface="Arial" pitchFamily="34" charset="0"/>
              </a:rPr>
              <a:t>information </a:t>
            </a:r>
            <a:r>
              <a:rPr lang="en-GB" sz="2000">
                <a:latin typeface="Arial" pitchFamily="34" charset="0"/>
                <a:cs typeface="Arial" pitchFamily="34" charset="0"/>
              </a:rPr>
              <a:t>about behaviour can be gathered more completely, quickly and efficiently </a:t>
            </a:r>
            <a:r>
              <a:rPr lang="en-GB" sz="2000" smtClean="0">
                <a:latin typeface="Arial" pitchFamily="34" charset="0"/>
                <a:cs typeface="Arial" pitchFamily="34" charset="0"/>
              </a:rPr>
              <a:t>than </a:t>
            </a:r>
            <a:r>
              <a:rPr lang="en-GB" sz="2000">
                <a:latin typeface="Arial" pitchFamily="34" charset="0"/>
                <a:cs typeface="Arial" pitchFamily="34" charset="0"/>
              </a:rPr>
              <a:t>by ‘shadowing’ an individual over a period of </a:t>
            </a:r>
            <a:r>
              <a:rPr lang="en-GB" sz="2000" smtClean="0">
                <a:latin typeface="Arial" pitchFamily="34" charset="0"/>
                <a:cs typeface="Arial" pitchFamily="34" charset="0"/>
              </a:rPr>
              <a:t>time</a:t>
            </a:r>
            <a:endParaRPr lang="en-GB" sz="2000">
              <a:latin typeface="Arial" pitchFamily="34" charset="0"/>
              <a:cs typeface="Arial" pitchFamily="34" charset="0"/>
            </a:endParaRPr>
          </a:p>
        </p:txBody>
      </p:sp>
      <p:sp>
        <p:nvSpPr>
          <p:cNvPr id="5" name="Footer Placeholder 4"/>
          <p:cNvSpPr>
            <a:spLocks noGrp="1"/>
          </p:cNvSpPr>
          <p:nvPr>
            <p:ph type="ftr" sz="quarter" idx="11"/>
          </p:nvPr>
        </p:nvSpPr>
        <p:spPr/>
        <p:txBody>
          <a:bodyPr/>
          <a:lstStyle/>
          <a:p>
            <a:r>
              <a:rPr lang="en-GB" smtClean="0"/>
              <a:t>George Boak 2013</a:t>
            </a:r>
            <a:endParaRPr lang="en-GB"/>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4" end="4"/>
                                            </p:txEl>
                                          </p:spTgt>
                                        </p:tgtEl>
                                        <p:attrNameLst>
                                          <p:attrName>style.visibility</p:attrName>
                                        </p:attrNameLst>
                                      </p:cBhvr>
                                      <p:to>
                                        <p:strVal val="visible"/>
                                      </p:to>
                                    </p:set>
                                    <p:animEffect transition="in" filter="fade">
                                      <p:cBhvr>
                                        <p:cTn id="7" dur="2000"/>
                                        <p:tgtEl>
                                          <p:spTgt spid="4">
                                            <p:txEl>
                                              <p:pRg st="4"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6" end="6"/>
                                            </p:txEl>
                                          </p:spTgt>
                                        </p:tgtEl>
                                        <p:attrNameLst>
                                          <p:attrName>style.visibility</p:attrName>
                                        </p:attrNameLst>
                                      </p:cBhvr>
                                      <p:to>
                                        <p:strVal val="visible"/>
                                      </p:to>
                                    </p:set>
                                    <p:animEffect transition="in" filter="fade">
                                      <p:cBhvr>
                                        <p:cTn id="12" dur="2000"/>
                                        <p:tgtEl>
                                          <p:spTgt spid="4">
                                            <p:txEl>
                                              <p:pRg st="6" end="6"/>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8" end="8"/>
                                            </p:txEl>
                                          </p:spTgt>
                                        </p:tgtEl>
                                        <p:attrNameLst>
                                          <p:attrName>style.visibility</p:attrName>
                                        </p:attrNameLst>
                                      </p:cBhvr>
                                      <p:to>
                                        <p:strVal val="visible"/>
                                      </p:to>
                                    </p:set>
                                    <p:animEffect transition="in" filter="fade">
                                      <p:cBhvr>
                                        <p:cTn id="17" dur="2000"/>
                                        <p:tgtEl>
                                          <p:spTgt spid="4">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67544" y="404664"/>
            <a:ext cx="8280920" cy="4893647"/>
          </a:xfrm>
          <a:prstGeom prst="rect">
            <a:avLst/>
          </a:prstGeom>
          <a:noFill/>
        </p:spPr>
        <p:txBody>
          <a:bodyPr wrap="square" rtlCol="0">
            <a:spAutoFit/>
          </a:bodyPr>
          <a:lstStyle/>
          <a:p>
            <a:r>
              <a:rPr lang="en-GB" sz="2400" b="1">
                <a:latin typeface="Arial" pitchFamily="34" charset="0"/>
                <a:cs typeface="Arial" pitchFamily="34" charset="0"/>
              </a:rPr>
              <a:t>How to do </a:t>
            </a:r>
            <a:r>
              <a:rPr lang="en-GB" sz="2400" b="1" smtClean="0">
                <a:latin typeface="Arial" pitchFamily="34" charset="0"/>
                <a:cs typeface="Arial" pitchFamily="34" charset="0"/>
              </a:rPr>
              <a:t>it</a:t>
            </a:r>
            <a:endParaRPr lang="en-GB" sz="2400" b="1">
              <a:latin typeface="Arial" pitchFamily="34" charset="0"/>
              <a:cs typeface="Arial" pitchFamily="34" charset="0"/>
            </a:endParaRPr>
          </a:p>
          <a:p>
            <a:r>
              <a:rPr lang="en-GB" sz="2400">
                <a:latin typeface="Arial" pitchFamily="34" charset="0"/>
                <a:cs typeface="Arial" pitchFamily="34" charset="0"/>
              </a:rPr>
              <a:t> </a:t>
            </a:r>
          </a:p>
          <a:p>
            <a:r>
              <a:rPr lang="en-GB" sz="2400">
                <a:latin typeface="Arial" pitchFamily="34" charset="0"/>
                <a:cs typeface="Arial" pitchFamily="34" charset="0"/>
              </a:rPr>
              <a:t>Ask for specific </a:t>
            </a:r>
            <a:r>
              <a:rPr lang="en-GB" sz="2400" smtClean="0">
                <a:latin typeface="Arial" pitchFamily="34" charset="0"/>
                <a:cs typeface="Arial" pitchFamily="34" charset="0"/>
              </a:rPr>
              <a:t>examples</a:t>
            </a:r>
          </a:p>
          <a:p>
            <a:endParaRPr lang="en-GB" sz="2400">
              <a:latin typeface="Arial" pitchFamily="34" charset="0"/>
              <a:cs typeface="Arial" pitchFamily="34" charset="0"/>
            </a:endParaRPr>
          </a:p>
          <a:p>
            <a:r>
              <a:rPr lang="en-GB" sz="2400">
                <a:latin typeface="Arial" pitchFamily="34" charset="0"/>
                <a:cs typeface="Arial" pitchFamily="34" charset="0"/>
              </a:rPr>
              <a:t>Ask not: how do you do x</a:t>
            </a:r>
            <a:r>
              <a:rPr lang="en-GB" sz="2400" smtClean="0">
                <a:latin typeface="Arial" pitchFamily="34" charset="0"/>
                <a:cs typeface="Arial" pitchFamily="34" charset="0"/>
              </a:rPr>
              <a:t>?</a:t>
            </a:r>
          </a:p>
          <a:p>
            <a:endParaRPr lang="en-GB" sz="2400">
              <a:latin typeface="Arial" pitchFamily="34" charset="0"/>
              <a:cs typeface="Arial" pitchFamily="34" charset="0"/>
            </a:endParaRPr>
          </a:p>
          <a:p>
            <a:r>
              <a:rPr lang="en-GB" sz="2400">
                <a:latin typeface="Arial" pitchFamily="34" charset="0"/>
                <a:cs typeface="Arial" pitchFamily="34" charset="0"/>
              </a:rPr>
              <a:t>Ask not: how would you do x</a:t>
            </a:r>
            <a:r>
              <a:rPr lang="en-GB" sz="2400" smtClean="0">
                <a:latin typeface="Arial" pitchFamily="34" charset="0"/>
                <a:cs typeface="Arial" pitchFamily="34" charset="0"/>
              </a:rPr>
              <a:t>?</a:t>
            </a:r>
          </a:p>
          <a:p>
            <a:endParaRPr lang="en-GB" sz="2400">
              <a:latin typeface="Arial" pitchFamily="34" charset="0"/>
              <a:cs typeface="Arial" pitchFamily="34" charset="0"/>
            </a:endParaRPr>
          </a:p>
          <a:p>
            <a:r>
              <a:rPr lang="en-GB" sz="2400">
                <a:latin typeface="Arial" pitchFamily="34" charset="0"/>
                <a:cs typeface="Arial" pitchFamily="34" charset="0"/>
              </a:rPr>
              <a:t>Ask: how did you do x?</a:t>
            </a:r>
          </a:p>
          <a:p>
            <a:r>
              <a:rPr lang="en-GB" sz="2400">
                <a:latin typeface="Arial" pitchFamily="34" charset="0"/>
                <a:cs typeface="Arial" pitchFamily="34" charset="0"/>
              </a:rPr>
              <a:t> </a:t>
            </a:r>
          </a:p>
          <a:p>
            <a:r>
              <a:rPr lang="en-GB" sz="2400" smtClean="0">
                <a:latin typeface="Arial" pitchFamily="34" charset="0"/>
                <a:cs typeface="Arial" pitchFamily="34" charset="0"/>
              </a:rPr>
              <a:t>(A </a:t>
            </a:r>
            <a:r>
              <a:rPr lang="en-GB" sz="2400">
                <a:latin typeface="Arial" pitchFamily="34" charset="0"/>
                <a:cs typeface="Arial" pitchFamily="34" charset="0"/>
              </a:rPr>
              <a:t>variant of this is used for competency-based selection interviewing</a:t>
            </a:r>
            <a:r>
              <a:rPr lang="en-GB" sz="2400" smtClean="0">
                <a:latin typeface="Arial" pitchFamily="34" charset="0"/>
                <a:cs typeface="Arial" pitchFamily="34" charset="0"/>
              </a:rPr>
              <a:t>.)</a:t>
            </a:r>
            <a:endParaRPr lang="en-GB" sz="2400">
              <a:latin typeface="Arial" pitchFamily="34" charset="0"/>
              <a:cs typeface="Arial" pitchFamily="34" charset="0"/>
            </a:endParaRPr>
          </a:p>
          <a:p>
            <a:endParaRPr lang="en-GB" sz="2400">
              <a:latin typeface="Arial" pitchFamily="34" charset="0"/>
              <a:cs typeface="Arial" pitchFamily="34" charset="0"/>
            </a:endParaRPr>
          </a:p>
        </p:txBody>
      </p:sp>
      <p:sp>
        <p:nvSpPr>
          <p:cNvPr id="5" name="Footer Placeholder 4"/>
          <p:cNvSpPr>
            <a:spLocks noGrp="1"/>
          </p:cNvSpPr>
          <p:nvPr>
            <p:ph type="ftr" sz="quarter" idx="11"/>
          </p:nvPr>
        </p:nvSpPr>
        <p:spPr/>
        <p:txBody>
          <a:bodyPr/>
          <a:lstStyle/>
          <a:p>
            <a:r>
              <a:rPr lang="en-GB" smtClean="0"/>
              <a:t>George Boak 2013</a:t>
            </a:r>
            <a:endParaRPr lang="en-GB"/>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4" end="4"/>
                                            </p:txEl>
                                          </p:spTgt>
                                        </p:tgtEl>
                                        <p:attrNameLst>
                                          <p:attrName>style.visibility</p:attrName>
                                        </p:attrNameLst>
                                      </p:cBhvr>
                                      <p:to>
                                        <p:strVal val="visible"/>
                                      </p:to>
                                    </p:set>
                                    <p:animEffect transition="in" filter="fade">
                                      <p:cBhvr>
                                        <p:cTn id="7" dur="2000"/>
                                        <p:tgtEl>
                                          <p:spTgt spid="4">
                                            <p:txEl>
                                              <p:pRg st="4"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6" end="6"/>
                                            </p:txEl>
                                          </p:spTgt>
                                        </p:tgtEl>
                                        <p:attrNameLst>
                                          <p:attrName>style.visibility</p:attrName>
                                        </p:attrNameLst>
                                      </p:cBhvr>
                                      <p:to>
                                        <p:strVal val="visible"/>
                                      </p:to>
                                    </p:set>
                                    <p:animEffect transition="in" filter="fade">
                                      <p:cBhvr>
                                        <p:cTn id="12" dur="2000"/>
                                        <p:tgtEl>
                                          <p:spTgt spid="4">
                                            <p:txEl>
                                              <p:pRg st="6" end="6"/>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8" end="8"/>
                                            </p:txEl>
                                          </p:spTgt>
                                        </p:tgtEl>
                                        <p:attrNameLst>
                                          <p:attrName>style.visibility</p:attrName>
                                        </p:attrNameLst>
                                      </p:cBhvr>
                                      <p:to>
                                        <p:strVal val="visible"/>
                                      </p:to>
                                    </p:set>
                                    <p:animEffect transition="in" filter="fade">
                                      <p:cBhvr>
                                        <p:cTn id="17" dur="2000"/>
                                        <p:tgtEl>
                                          <p:spTgt spid="4">
                                            <p:txEl>
                                              <p:pRg st="8" end="8"/>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10" end="10"/>
                                            </p:txEl>
                                          </p:spTgt>
                                        </p:tgtEl>
                                        <p:attrNameLst>
                                          <p:attrName>style.visibility</p:attrName>
                                        </p:attrNameLst>
                                      </p:cBhvr>
                                      <p:to>
                                        <p:strVal val="visible"/>
                                      </p:to>
                                    </p:set>
                                    <p:animEffect transition="in" filter="fade">
                                      <p:cBhvr>
                                        <p:cTn id="22" dur="2000"/>
                                        <p:tgtEl>
                                          <p:spTgt spid="4">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55576" y="620688"/>
            <a:ext cx="7776864" cy="2677656"/>
          </a:xfrm>
          <a:prstGeom prst="rect">
            <a:avLst/>
          </a:prstGeom>
          <a:noFill/>
        </p:spPr>
        <p:txBody>
          <a:bodyPr wrap="square" rtlCol="0">
            <a:spAutoFit/>
          </a:bodyPr>
          <a:lstStyle/>
          <a:p>
            <a:r>
              <a:rPr lang="en-GB" sz="2400" b="1" smtClean="0">
                <a:latin typeface="Arial" pitchFamily="34" charset="0"/>
                <a:cs typeface="Arial" pitchFamily="34" charset="0"/>
              </a:rPr>
              <a:t>Preparation</a:t>
            </a:r>
          </a:p>
          <a:p>
            <a:endParaRPr lang="en-GB" sz="2400">
              <a:latin typeface="Arial" pitchFamily="34" charset="0"/>
              <a:cs typeface="Arial" pitchFamily="34" charset="0"/>
            </a:endParaRPr>
          </a:p>
          <a:p>
            <a:r>
              <a:rPr lang="en-GB" sz="2400">
                <a:latin typeface="Arial" pitchFamily="34" charset="0"/>
                <a:cs typeface="Arial" pitchFamily="34" charset="0"/>
              </a:rPr>
              <a:t>Give some </a:t>
            </a:r>
            <a:r>
              <a:rPr lang="en-GB" sz="2400" smtClean="0">
                <a:latin typeface="Arial" pitchFamily="34" charset="0"/>
                <a:cs typeface="Arial" pitchFamily="34" charset="0"/>
              </a:rPr>
              <a:t>briefing</a:t>
            </a:r>
          </a:p>
          <a:p>
            <a:endParaRPr lang="en-GB" sz="2400">
              <a:latin typeface="Arial" pitchFamily="34" charset="0"/>
              <a:cs typeface="Arial" pitchFamily="34" charset="0"/>
            </a:endParaRPr>
          </a:p>
          <a:p>
            <a:r>
              <a:rPr lang="en-GB" sz="2400">
                <a:latin typeface="Arial" pitchFamily="34" charset="0"/>
                <a:cs typeface="Arial" pitchFamily="34" charset="0"/>
              </a:rPr>
              <a:t>May need some explanation about why you are taking this approach</a:t>
            </a:r>
          </a:p>
          <a:p>
            <a:endParaRPr lang="en-GB" sz="2400">
              <a:latin typeface="Arial" pitchFamily="34" charset="0"/>
              <a:cs typeface="Arial" pitchFamily="34" charset="0"/>
            </a:endParaRPr>
          </a:p>
        </p:txBody>
      </p:sp>
      <p:sp>
        <p:nvSpPr>
          <p:cNvPr id="5" name="Footer Placeholder 4"/>
          <p:cNvSpPr>
            <a:spLocks noGrp="1"/>
          </p:cNvSpPr>
          <p:nvPr>
            <p:ph type="ftr" sz="quarter" idx="11"/>
          </p:nvPr>
        </p:nvSpPr>
        <p:spPr/>
        <p:txBody>
          <a:bodyPr/>
          <a:lstStyle/>
          <a:p>
            <a:r>
              <a:rPr lang="en-GB" smtClean="0"/>
              <a:t>George Boak 2013</a:t>
            </a:r>
            <a:endParaRPr lang="en-GB"/>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4" end="4"/>
                                            </p:txEl>
                                          </p:spTgt>
                                        </p:tgtEl>
                                        <p:attrNameLst>
                                          <p:attrName>style.visibility</p:attrName>
                                        </p:attrNameLst>
                                      </p:cBhvr>
                                      <p:to>
                                        <p:strVal val="visible"/>
                                      </p:to>
                                    </p:set>
                                    <p:animEffect transition="in" filter="fade">
                                      <p:cBhvr>
                                        <p:cTn id="7" dur="20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GB" smtClean="0"/>
              <a:t>George Boak 2013</a:t>
            </a:r>
            <a:endParaRPr lang="en-GB"/>
          </a:p>
        </p:txBody>
      </p:sp>
      <p:sp>
        <p:nvSpPr>
          <p:cNvPr id="5" name="TextBox 4"/>
          <p:cNvSpPr txBox="1"/>
          <p:nvPr/>
        </p:nvSpPr>
        <p:spPr>
          <a:xfrm>
            <a:off x="611560" y="476672"/>
            <a:ext cx="7920880" cy="4154984"/>
          </a:xfrm>
          <a:prstGeom prst="rect">
            <a:avLst/>
          </a:prstGeom>
          <a:noFill/>
        </p:spPr>
        <p:txBody>
          <a:bodyPr wrap="square" rtlCol="0">
            <a:spAutoFit/>
          </a:bodyPr>
          <a:lstStyle/>
          <a:p>
            <a:r>
              <a:rPr lang="en-GB" sz="2400" b="1" smtClean="0">
                <a:latin typeface="Arial" pitchFamily="34" charset="0"/>
                <a:cs typeface="Arial" pitchFamily="34" charset="0"/>
              </a:rPr>
              <a:t>Interviewing</a:t>
            </a:r>
          </a:p>
          <a:p>
            <a:endParaRPr lang="en-GB" sz="2400">
              <a:latin typeface="Arial" pitchFamily="34" charset="0"/>
              <a:cs typeface="Arial" pitchFamily="34" charset="0"/>
            </a:endParaRPr>
          </a:p>
          <a:p>
            <a:r>
              <a:rPr lang="en-GB" sz="2400" smtClean="0">
                <a:latin typeface="Arial" pitchFamily="34" charset="0"/>
                <a:cs typeface="Arial" pitchFamily="34" charset="0"/>
              </a:rPr>
              <a:t>Ask for an overview of the event</a:t>
            </a:r>
          </a:p>
          <a:p>
            <a:endParaRPr lang="en-GB" sz="2400" smtClean="0">
              <a:latin typeface="Arial" pitchFamily="34" charset="0"/>
              <a:cs typeface="Arial" pitchFamily="34" charset="0"/>
            </a:endParaRPr>
          </a:p>
          <a:p>
            <a:r>
              <a:rPr lang="en-GB" sz="2400" smtClean="0">
                <a:latin typeface="Arial" pitchFamily="34" charset="0"/>
                <a:cs typeface="Arial" pitchFamily="34" charset="0"/>
              </a:rPr>
              <a:t>Ask the interviewee to give a detailed account of behaviours, thoughts and feelings</a:t>
            </a:r>
          </a:p>
          <a:p>
            <a:endParaRPr lang="en-GB" sz="2400" smtClean="0">
              <a:latin typeface="Arial" pitchFamily="34" charset="0"/>
              <a:cs typeface="Arial" pitchFamily="34" charset="0"/>
            </a:endParaRPr>
          </a:p>
          <a:p>
            <a:r>
              <a:rPr lang="en-GB" sz="2400" smtClean="0">
                <a:latin typeface="Arial" pitchFamily="34" charset="0"/>
                <a:cs typeface="Arial" pitchFamily="34" charset="0"/>
              </a:rPr>
              <a:t>Try to get the interviewee into the past, where the event happened</a:t>
            </a:r>
          </a:p>
          <a:p>
            <a:endParaRPr lang="en-GB" sz="2400" smtClean="0">
              <a:latin typeface="Arial" pitchFamily="34" charset="0"/>
              <a:cs typeface="Arial" pitchFamily="34" charset="0"/>
            </a:endParaRPr>
          </a:p>
          <a:p>
            <a:r>
              <a:rPr lang="en-GB" sz="2400" smtClean="0">
                <a:latin typeface="Arial" pitchFamily="34" charset="0"/>
                <a:cs typeface="Arial" pitchFamily="34" charset="0"/>
              </a:rPr>
              <a:t>Use neutral questions - avoid leading the interviewee</a:t>
            </a:r>
            <a:endParaRPr lang="en-GB" sz="2400">
              <a:latin typeface="Arial" pitchFamily="34" charset="0"/>
              <a:cs typeface="Arial" pitchFamily="34" charset="0"/>
            </a:endParaRPr>
          </a:p>
        </p:txBody>
      </p:sp>
    </p:spTree>
    <p:extLst>
      <p:ext uri="{BB962C8B-B14F-4D97-AF65-F5344CB8AC3E}">
        <p14:creationId xmlns="" xmlns:p14="http://schemas.microsoft.com/office/powerpoint/2010/main" val="35834102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GB" smtClean="0"/>
              <a:t>George Boak 2013</a:t>
            </a:r>
            <a:endParaRPr lang="en-GB"/>
          </a:p>
        </p:txBody>
      </p:sp>
      <p:sp>
        <p:nvSpPr>
          <p:cNvPr id="5" name="TextBox 4"/>
          <p:cNvSpPr txBox="1"/>
          <p:nvPr/>
        </p:nvSpPr>
        <p:spPr>
          <a:xfrm>
            <a:off x="827584" y="620688"/>
            <a:ext cx="7632848" cy="3416320"/>
          </a:xfrm>
          <a:prstGeom prst="rect">
            <a:avLst/>
          </a:prstGeom>
          <a:noFill/>
        </p:spPr>
        <p:txBody>
          <a:bodyPr wrap="square" rtlCol="0">
            <a:spAutoFit/>
          </a:bodyPr>
          <a:lstStyle/>
          <a:p>
            <a:r>
              <a:rPr lang="en-GB" sz="2400" smtClean="0">
                <a:latin typeface="Arial" pitchFamily="34" charset="0"/>
                <a:cs typeface="Arial" pitchFamily="34" charset="0"/>
              </a:rPr>
              <a:t>What did you do next?</a:t>
            </a:r>
          </a:p>
          <a:p>
            <a:endParaRPr lang="en-GB" sz="2400" smtClean="0">
              <a:latin typeface="Arial" pitchFamily="34" charset="0"/>
              <a:cs typeface="Arial" pitchFamily="34" charset="0"/>
            </a:endParaRPr>
          </a:p>
          <a:p>
            <a:r>
              <a:rPr lang="en-GB" sz="2400" smtClean="0">
                <a:latin typeface="Arial" pitchFamily="34" charset="0"/>
                <a:cs typeface="Arial" pitchFamily="34" charset="0"/>
              </a:rPr>
              <a:t>What happened next?</a:t>
            </a:r>
          </a:p>
          <a:p>
            <a:endParaRPr lang="en-GB" sz="2400" smtClean="0">
              <a:latin typeface="Arial" pitchFamily="34" charset="0"/>
              <a:cs typeface="Arial" pitchFamily="34" charset="0"/>
            </a:endParaRPr>
          </a:p>
          <a:p>
            <a:r>
              <a:rPr lang="en-GB" sz="2400" smtClean="0">
                <a:latin typeface="Arial" pitchFamily="34" charset="0"/>
                <a:cs typeface="Arial" pitchFamily="34" charset="0"/>
              </a:rPr>
              <a:t>What was the next thing to take place?</a:t>
            </a:r>
          </a:p>
          <a:p>
            <a:endParaRPr lang="en-GB" sz="2400" smtClean="0">
              <a:latin typeface="Arial" pitchFamily="34" charset="0"/>
              <a:cs typeface="Arial" pitchFamily="34" charset="0"/>
            </a:endParaRPr>
          </a:p>
          <a:p>
            <a:r>
              <a:rPr lang="en-GB" sz="2400" smtClean="0">
                <a:latin typeface="Arial" pitchFamily="34" charset="0"/>
                <a:cs typeface="Arial" pitchFamily="34" charset="0"/>
              </a:rPr>
              <a:t>What were you thinking at that point?</a:t>
            </a:r>
          </a:p>
          <a:p>
            <a:endParaRPr lang="en-GB" sz="2400" smtClean="0">
              <a:latin typeface="Arial" pitchFamily="34" charset="0"/>
              <a:cs typeface="Arial" pitchFamily="34" charset="0"/>
            </a:endParaRPr>
          </a:p>
          <a:p>
            <a:r>
              <a:rPr lang="en-GB" sz="2400" smtClean="0">
                <a:latin typeface="Arial" pitchFamily="34" charset="0"/>
                <a:cs typeface="Arial" pitchFamily="34" charset="0"/>
              </a:rPr>
              <a:t>What were you feeling about that?</a:t>
            </a:r>
            <a:endParaRPr lang="en-GB" sz="2400">
              <a:latin typeface="Arial" pitchFamily="34" charset="0"/>
              <a:cs typeface="Arial"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GB" smtClean="0"/>
              <a:t>George Boak 2013</a:t>
            </a:r>
            <a:endParaRPr lang="en-GB"/>
          </a:p>
        </p:txBody>
      </p:sp>
      <p:sp>
        <p:nvSpPr>
          <p:cNvPr id="5" name="TextBox 4"/>
          <p:cNvSpPr txBox="1"/>
          <p:nvPr/>
        </p:nvSpPr>
        <p:spPr>
          <a:xfrm>
            <a:off x="683568" y="476672"/>
            <a:ext cx="7992888" cy="2677656"/>
          </a:xfrm>
          <a:prstGeom prst="rect">
            <a:avLst/>
          </a:prstGeom>
          <a:noFill/>
        </p:spPr>
        <p:txBody>
          <a:bodyPr wrap="square" rtlCol="0">
            <a:spAutoFit/>
          </a:bodyPr>
          <a:lstStyle/>
          <a:p>
            <a:r>
              <a:rPr lang="en-GB" sz="2400" b="1" smtClean="0">
                <a:latin typeface="Arial" pitchFamily="34" charset="0"/>
                <a:cs typeface="Arial" pitchFamily="34" charset="0"/>
              </a:rPr>
              <a:t>Other data</a:t>
            </a:r>
          </a:p>
          <a:p>
            <a:endParaRPr lang="en-GB" sz="2400">
              <a:latin typeface="Arial" pitchFamily="34" charset="0"/>
              <a:cs typeface="Arial" pitchFamily="34" charset="0"/>
            </a:endParaRPr>
          </a:p>
          <a:p>
            <a:r>
              <a:rPr lang="en-GB" sz="2400" smtClean="0">
                <a:latin typeface="Arial" pitchFamily="34" charset="0"/>
                <a:cs typeface="Arial" pitchFamily="34" charset="0"/>
              </a:rPr>
              <a:t>You may be able to get information from other sources to confirm at least part of what the interviewee says – ie provide triangulation</a:t>
            </a:r>
          </a:p>
          <a:p>
            <a:endParaRPr lang="en-GB" sz="2400">
              <a:latin typeface="Arial" pitchFamily="34" charset="0"/>
              <a:cs typeface="Arial" pitchFamily="34" charset="0"/>
            </a:endParaRPr>
          </a:p>
          <a:p>
            <a:r>
              <a:rPr lang="en-GB" sz="2400" smtClean="0">
                <a:latin typeface="Arial" pitchFamily="34" charset="0"/>
                <a:cs typeface="Arial" pitchFamily="34" charset="0"/>
              </a:rPr>
              <a:t>This would strengthen your field data</a:t>
            </a:r>
            <a:endParaRPr lang="en-GB" sz="2400">
              <a:latin typeface="Arial" pitchFamily="34" charset="0"/>
              <a:cs typeface="Arial" pitchFamily="34" charset="0"/>
            </a:endParaRPr>
          </a:p>
        </p:txBody>
      </p:sp>
    </p:spTree>
    <p:extLst>
      <p:ext uri="{BB962C8B-B14F-4D97-AF65-F5344CB8AC3E}">
        <p14:creationId xmlns="" xmlns:p14="http://schemas.microsoft.com/office/powerpoint/2010/main" val="37724417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11560" y="404664"/>
            <a:ext cx="7704856" cy="5262979"/>
          </a:xfrm>
          <a:prstGeom prst="rect">
            <a:avLst/>
          </a:prstGeom>
          <a:noFill/>
        </p:spPr>
        <p:txBody>
          <a:bodyPr wrap="square" rtlCol="0">
            <a:spAutoFit/>
          </a:bodyPr>
          <a:lstStyle/>
          <a:p>
            <a:r>
              <a:rPr lang="en-GB" sz="2400" b="1" smtClean="0">
                <a:latin typeface="Arial" pitchFamily="34" charset="0"/>
                <a:cs typeface="Arial" pitchFamily="34" charset="0"/>
              </a:rPr>
              <a:t>Limitations</a:t>
            </a:r>
          </a:p>
          <a:p>
            <a:endParaRPr lang="en-GB" sz="2400">
              <a:latin typeface="Arial" pitchFamily="34" charset="0"/>
              <a:cs typeface="Arial" pitchFamily="34" charset="0"/>
            </a:endParaRPr>
          </a:p>
          <a:p>
            <a:r>
              <a:rPr lang="en-GB" sz="2400">
                <a:latin typeface="Arial" pitchFamily="34" charset="0"/>
                <a:cs typeface="Arial" pitchFamily="34" charset="0"/>
              </a:rPr>
              <a:t>Interviewee </a:t>
            </a:r>
            <a:r>
              <a:rPr lang="en-GB" sz="2400" smtClean="0">
                <a:latin typeface="Arial" pitchFamily="34" charset="0"/>
                <a:cs typeface="Arial" pitchFamily="34" charset="0"/>
              </a:rPr>
              <a:t>memory</a:t>
            </a:r>
          </a:p>
          <a:p>
            <a:endParaRPr lang="en-GB" sz="2400">
              <a:latin typeface="Arial" pitchFamily="34" charset="0"/>
              <a:cs typeface="Arial" pitchFamily="34" charset="0"/>
            </a:endParaRPr>
          </a:p>
          <a:p>
            <a:r>
              <a:rPr lang="en-GB" sz="2400" smtClean="0">
                <a:latin typeface="Arial" pitchFamily="34" charset="0"/>
                <a:cs typeface="Arial" pitchFamily="34" charset="0"/>
              </a:rPr>
              <a:t>Reticent interviewees</a:t>
            </a:r>
          </a:p>
          <a:p>
            <a:endParaRPr lang="en-GB" sz="2400">
              <a:latin typeface="Arial" pitchFamily="34" charset="0"/>
              <a:cs typeface="Arial" pitchFamily="34" charset="0"/>
            </a:endParaRPr>
          </a:p>
          <a:p>
            <a:r>
              <a:rPr lang="en-GB" sz="2400" smtClean="0">
                <a:latin typeface="Arial" pitchFamily="34" charset="0"/>
                <a:cs typeface="Arial" pitchFamily="34" charset="0"/>
              </a:rPr>
              <a:t>May </a:t>
            </a:r>
            <a:r>
              <a:rPr lang="en-GB" sz="2400">
                <a:latin typeface="Arial" pitchFamily="34" charset="0"/>
                <a:cs typeface="Arial" pitchFamily="34" charset="0"/>
              </a:rPr>
              <a:t>favour certain types of </a:t>
            </a:r>
            <a:r>
              <a:rPr lang="en-GB" sz="2400" smtClean="0">
                <a:latin typeface="Arial" pitchFamily="34" charset="0"/>
                <a:cs typeface="Arial" pitchFamily="34" charset="0"/>
              </a:rPr>
              <a:t>event/incident</a:t>
            </a:r>
          </a:p>
          <a:p>
            <a:endParaRPr lang="en-GB" sz="2400">
              <a:latin typeface="Arial" pitchFamily="34" charset="0"/>
              <a:cs typeface="Arial" pitchFamily="34" charset="0"/>
            </a:endParaRPr>
          </a:p>
          <a:p>
            <a:r>
              <a:rPr lang="en-GB" sz="2400" smtClean="0">
                <a:latin typeface="Arial" pitchFamily="34" charset="0"/>
                <a:cs typeface="Arial" pitchFamily="34" charset="0"/>
              </a:rPr>
              <a:t>May under-represent </a:t>
            </a:r>
            <a:r>
              <a:rPr lang="en-GB" sz="2400">
                <a:latin typeface="Arial" pitchFamily="34" charset="0"/>
                <a:cs typeface="Arial" pitchFamily="34" charset="0"/>
              </a:rPr>
              <a:t>certain </a:t>
            </a:r>
            <a:r>
              <a:rPr lang="en-GB" sz="2400" smtClean="0">
                <a:latin typeface="Arial" pitchFamily="34" charset="0"/>
                <a:cs typeface="Arial" pitchFamily="34" charset="0"/>
              </a:rPr>
              <a:t>behaviours</a:t>
            </a:r>
          </a:p>
          <a:p>
            <a:endParaRPr lang="en-GB" sz="2400">
              <a:latin typeface="Arial" pitchFamily="34" charset="0"/>
              <a:cs typeface="Arial" pitchFamily="34" charset="0"/>
            </a:endParaRPr>
          </a:p>
          <a:p>
            <a:r>
              <a:rPr lang="en-GB" sz="2400" smtClean="0">
                <a:latin typeface="Arial" pitchFamily="34" charset="0"/>
                <a:cs typeface="Arial" pitchFamily="34" charset="0"/>
              </a:rPr>
              <a:t>The </a:t>
            </a:r>
            <a:r>
              <a:rPr lang="en-GB" sz="2400">
                <a:latin typeface="Arial" pitchFamily="34" charset="0"/>
                <a:cs typeface="Arial" pitchFamily="34" charset="0"/>
              </a:rPr>
              <a:t>re-told </a:t>
            </a:r>
            <a:r>
              <a:rPr lang="en-GB" sz="2400" smtClean="0">
                <a:latin typeface="Arial" pitchFamily="34" charset="0"/>
                <a:cs typeface="Arial" pitchFamily="34" charset="0"/>
              </a:rPr>
              <a:t>story</a:t>
            </a:r>
          </a:p>
          <a:p>
            <a:endParaRPr lang="en-GB" sz="2400">
              <a:latin typeface="Arial" pitchFamily="34" charset="0"/>
              <a:cs typeface="Arial" pitchFamily="34" charset="0"/>
            </a:endParaRPr>
          </a:p>
          <a:p>
            <a:r>
              <a:rPr lang="en-GB" sz="2400" smtClean="0">
                <a:latin typeface="Arial" pitchFamily="34" charset="0"/>
                <a:cs typeface="Arial" pitchFamily="34" charset="0"/>
              </a:rPr>
              <a:t>Interviewees may be deliberately selective</a:t>
            </a:r>
          </a:p>
          <a:p>
            <a:endParaRPr lang="en-GB" sz="2400">
              <a:latin typeface="Arial" pitchFamily="34" charset="0"/>
              <a:cs typeface="Arial" pitchFamily="34" charset="0"/>
            </a:endParaRPr>
          </a:p>
        </p:txBody>
      </p:sp>
      <p:sp>
        <p:nvSpPr>
          <p:cNvPr id="5" name="Footer Placeholder 4"/>
          <p:cNvSpPr>
            <a:spLocks noGrp="1"/>
          </p:cNvSpPr>
          <p:nvPr>
            <p:ph type="ftr" sz="quarter" idx="11"/>
          </p:nvPr>
        </p:nvSpPr>
        <p:spPr/>
        <p:txBody>
          <a:bodyPr/>
          <a:lstStyle/>
          <a:p>
            <a:r>
              <a:rPr lang="en-GB" smtClean="0"/>
              <a:t>George Boak 2013</a:t>
            </a:r>
            <a:endParaRPr lang="en-GB"/>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Effect transition="in" filter="fade">
                                      <p:cBhvr>
                                        <p:cTn id="7" dur="2000"/>
                                        <p:tgtEl>
                                          <p:spTgt spid="4">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4" end="4"/>
                                            </p:txEl>
                                          </p:spTgt>
                                        </p:tgtEl>
                                        <p:attrNameLst>
                                          <p:attrName>style.visibility</p:attrName>
                                        </p:attrNameLst>
                                      </p:cBhvr>
                                      <p:to>
                                        <p:strVal val="visible"/>
                                      </p:to>
                                    </p:set>
                                    <p:animEffect transition="in" filter="fade">
                                      <p:cBhvr>
                                        <p:cTn id="12" dur="2000"/>
                                        <p:tgtEl>
                                          <p:spTgt spid="4">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6" end="6"/>
                                            </p:txEl>
                                          </p:spTgt>
                                        </p:tgtEl>
                                        <p:attrNameLst>
                                          <p:attrName>style.visibility</p:attrName>
                                        </p:attrNameLst>
                                      </p:cBhvr>
                                      <p:to>
                                        <p:strVal val="visible"/>
                                      </p:to>
                                    </p:set>
                                    <p:animEffect transition="in" filter="fade">
                                      <p:cBhvr>
                                        <p:cTn id="17" dur="2000"/>
                                        <p:tgtEl>
                                          <p:spTgt spid="4">
                                            <p:txEl>
                                              <p:pRg st="6" end="6"/>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8" end="8"/>
                                            </p:txEl>
                                          </p:spTgt>
                                        </p:tgtEl>
                                        <p:attrNameLst>
                                          <p:attrName>style.visibility</p:attrName>
                                        </p:attrNameLst>
                                      </p:cBhvr>
                                      <p:to>
                                        <p:strVal val="visible"/>
                                      </p:to>
                                    </p:set>
                                    <p:animEffect transition="in" filter="fade">
                                      <p:cBhvr>
                                        <p:cTn id="22" dur="2000"/>
                                        <p:tgtEl>
                                          <p:spTgt spid="4">
                                            <p:txEl>
                                              <p:pRg st="8" end="8"/>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
                                            <p:txEl>
                                              <p:pRg st="10" end="10"/>
                                            </p:txEl>
                                          </p:spTgt>
                                        </p:tgtEl>
                                        <p:attrNameLst>
                                          <p:attrName>style.visibility</p:attrName>
                                        </p:attrNameLst>
                                      </p:cBhvr>
                                      <p:to>
                                        <p:strVal val="visible"/>
                                      </p:to>
                                    </p:set>
                                    <p:animEffect transition="in" filter="fade">
                                      <p:cBhvr>
                                        <p:cTn id="27" dur="2000"/>
                                        <p:tgtEl>
                                          <p:spTgt spid="4">
                                            <p:txEl>
                                              <p:pRg st="10" end="1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
                                            <p:txEl>
                                              <p:pRg st="12" end="12"/>
                                            </p:txEl>
                                          </p:spTgt>
                                        </p:tgtEl>
                                        <p:attrNameLst>
                                          <p:attrName>style.visibility</p:attrName>
                                        </p:attrNameLst>
                                      </p:cBhvr>
                                      <p:to>
                                        <p:strVal val="visible"/>
                                      </p:to>
                                    </p:set>
                                    <p:animEffect transition="in" filter="fade">
                                      <p:cBhvr>
                                        <p:cTn id="32" dur="2000"/>
                                        <p:tgtEl>
                                          <p:spTgt spid="4">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94</TotalTime>
  <Words>723</Words>
  <Application>Microsoft Office PowerPoint</Application>
  <PresentationFormat>On-screen Show (4:3)</PresentationFormat>
  <Paragraphs>133</Paragraphs>
  <Slides>16</Slides>
  <Notes>3</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Hewlett-Packard Company</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George</dc:creator>
  <cp:lastModifiedBy>George</cp:lastModifiedBy>
  <cp:revision>10</cp:revision>
  <cp:lastPrinted>2013-07-18T11:29:31Z</cp:lastPrinted>
  <dcterms:created xsi:type="dcterms:W3CDTF">2013-07-15T17:13:53Z</dcterms:created>
  <dcterms:modified xsi:type="dcterms:W3CDTF">2013-08-11T16:45:50Z</dcterms:modified>
</cp:coreProperties>
</file>