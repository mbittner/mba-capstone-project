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838" r:id="rId2"/>
  </p:sldMasterIdLst>
  <p:notesMasterIdLst>
    <p:notesMasterId r:id="rId10"/>
  </p:notesMasterIdLst>
  <p:handoutMasterIdLst>
    <p:handoutMasterId r:id="rId11"/>
  </p:handoutMasterIdLst>
  <p:sldIdLst>
    <p:sldId id="256" r:id="rId3"/>
    <p:sldId id="382" r:id="rId4"/>
    <p:sldId id="368" r:id="rId5"/>
    <p:sldId id="383" r:id="rId6"/>
    <p:sldId id="384" r:id="rId7"/>
    <p:sldId id="385" r:id="rId8"/>
    <p:sldId id="386" r:id="rId9"/>
  </p:sldIdLst>
  <p:sldSz cx="9144000" cy="6858000" type="screen4x3"/>
  <p:notesSz cx="6669088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616"/>
    <a:srgbClr val="FF9900"/>
    <a:srgbClr val="080300"/>
    <a:srgbClr val="070008"/>
    <a:srgbClr val="070107"/>
    <a:srgbClr val="070401"/>
    <a:srgbClr val="0005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>
      <p:cViewPr varScale="1">
        <p:scale>
          <a:sx n="114" d="100"/>
          <a:sy n="114" d="100"/>
        </p:scale>
        <p:origin x="96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1908" y="-78"/>
      </p:cViewPr>
      <p:guideLst>
        <p:guide orient="horz" pos="3128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42975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/>
            </a:lvl1pPr>
          </a:lstStyle>
          <a:p>
            <a:pPr>
              <a:defRPr/>
            </a:pPr>
            <a:fld id="{58E9270E-8C09-49A4-B283-C014A9AFAB5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0415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663" y="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F81D1A9-7D7E-4A84-BE6C-B1750DE62939}" type="datetimeFigureOut">
              <a:rPr lang="en-GB"/>
              <a:pPr>
                <a:defRPr/>
              </a:pPr>
              <a:t>17/03/2022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16463"/>
            <a:ext cx="5335588" cy="44672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663" y="942975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B63C051-0E79-4E4E-8469-4694D55C3CE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0053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A64DC-C9C3-4D81-BED6-70813614292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1283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F44E4-0749-4776-858C-97B8C2912D4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3383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A6944-F261-4D5C-A076-17F4676AE86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566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D504E-3709-4E4D-B737-7C89FCEBD54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8985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8FCE4-922A-4DD0-A3A4-37254D55D9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251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90625-679F-4FB2-B9D7-AA98A27B7B8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685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2E777-4434-4784-B126-823819E7E9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155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08DB4-9542-44BE-AFFE-5DC6CC9B636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362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1298B-2002-4A14-8CC8-A969F146113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86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2E822-2C45-4849-9AC7-ADB592D4E37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666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8EC10-1760-470C-8EF6-608B752F0E6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1236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D85F5-3009-4838-9925-A1745C6994B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4938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33255-B8DE-469E-B4CC-F2D6A488C95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05432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5C86F-3376-42AD-91EE-C688EA551E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371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1293B-76E3-40D4-98F9-F9DAD31340C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6569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67871-540A-4304-8592-244B7E9317D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8913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C902E-D8F0-4613-A1CD-20A24A37CDA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5533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72F35-0591-47BC-8F98-FE1500F9519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3286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E7473-26EF-49C4-83D4-CF934C106F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8976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2E4DD-04F4-4BE5-AD7F-FDF93CC43EC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5220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CD5C5-8120-4B2F-99FA-C5980E8F460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47350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CB130-CABC-4C67-BA71-A2CE8274CFC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579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FE3ECE-E4A5-41D6-9C3F-B9BE4D0993E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DF988CA-E93D-435D-A8EE-DC64CFB5B02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6764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The Dissertation: </a:t>
            </a:r>
            <a:br>
              <a:rPr lang="en-US" altLang="en-US" b="1">
                <a:solidFill>
                  <a:srgbClr val="FF0000"/>
                </a:solidFill>
              </a:rPr>
            </a:br>
            <a:r>
              <a:rPr lang="en-US" altLang="en-US" b="1">
                <a:solidFill>
                  <a:srgbClr val="FF0000"/>
                </a:solidFill>
              </a:rPr>
              <a:t>Focusing your research</a:t>
            </a:r>
            <a:endParaRPr lang="en-GB" altLang="en-US" b="1">
              <a:solidFill>
                <a:srgbClr val="FF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16"/>
    </mc:Choice>
    <mc:Fallback xmlns="">
      <p:transition spd="slow" advTm="48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007425"/>
              </p:ext>
            </p:extLst>
          </p:nvPr>
        </p:nvGraphicFramePr>
        <p:xfrm>
          <a:off x="685797" y="761999"/>
          <a:ext cx="7772402" cy="47632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86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Degree</a:t>
                      </a:r>
                      <a:endParaRPr lang="en-GB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Relevant topics for a dissertation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MA or MBA Leading Innovation and Change</a:t>
                      </a:r>
                      <a:endParaRPr lang="en-GB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Leadership, innovation, change, strategy, culture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MBA Leadership and Management</a:t>
                      </a:r>
                      <a:endParaRPr lang="en-GB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Leadership, management, coaching,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strategy 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MBA Entrepreneurship and Innovation</a:t>
                      </a:r>
                      <a:endParaRPr lang="en-GB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Innovation, change, entrepreneur-ship, strategy, culture 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MBA Coaching, Mentoring, Leadership</a:t>
                      </a:r>
                      <a:endParaRPr lang="en-GB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Coaching/mentoring, leadership, innovation, change, culture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MBA Innovation, Leadership and Consulting</a:t>
                      </a:r>
                      <a:endParaRPr lang="en-GB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Innovation, change, leadership, consulting, strategy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MBA Management Consulting</a:t>
                      </a:r>
                      <a:endParaRPr lang="en-GB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Consulting, innovation, change, strategy, culture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33A78898-F175-49B0-BBA1-75B8705757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1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69"/>
    </mc:Choice>
    <mc:Fallback xmlns="">
      <p:transition spd="slow" advTm="155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ChangeArrowheads="1"/>
          </p:cNvSpPr>
          <p:nvPr/>
        </p:nvSpPr>
        <p:spPr bwMode="auto">
          <a:xfrm>
            <a:off x="1979712" y="1556792"/>
            <a:ext cx="5293568" cy="367240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15365" name="TextBox 2"/>
          <p:cNvSpPr txBox="1">
            <a:spLocks noChangeArrowheads="1"/>
          </p:cNvSpPr>
          <p:nvPr/>
        </p:nvSpPr>
        <p:spPr bwMode="auto">
          <a:xfrm>
            <a:off x="1042988" y="549275"/>
            <a:ext cx="7345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800">
                <a:latin typeface="+mn-lt"/>
                <a:cs typeface="Arial" panose="020B0604020202020204" pitchFamily="34" charset="0"/>
              </a:rPr>
              <a:t>Broad area of interest</a:t>
            </a:r>
          </a:p>
        </p:txBody>
      </p:sp>
      <p:sp>
        <p:nvSpPr>
          <p:cNvPr id="4" name="Down Arrow 3"/>
          <p:cNvSpPr/>
          <p:nvPr/>
        </p:nvSpPr>
        <p:spPr>
          <a:xfrm>
            <a:off x="4139952" y="1268760"/>
            <a:ext cx="720080" cy="2016224"/>
          </a:xfrm>
          <a:prstGeom prst="downArrow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5369" name="TextBox 4"/>
          <p:cNvSpPr txBox="1">
            <a:spLocks noChangeArrowheads="1"/>
          </p:cNvSpPr>
          <p:nvPr/>
        </p:nvSpPr>
        <p:spPr bwMode="auto">
          <a:xfrm>
            <a:off x="2555875" y="3357563"/>
            <a:ext cx="4103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>
                <a:latin typeface="+mn-lt"/>
                <a:cs typeface="Arial" panose="020B0604020202020204" pitchFamily="34" charset="0"/>
              </a:rPr>
              <a:t>Particular focus</a:t>
            </a:r>
          </a:p>
        </p:txBody>
      </p:sp>
      <p:sp>
        <p:nvSpPr>
          <p:cNvPr id="6" name="Down Arrow 5"/>
          <p:cNvSpPr/>
          <p:nvPr/>
        </p:nvSpPr>
        <p:spPr>
          <a:xfrm>
            <a:off x="4067944" y="4005064"/>
            <a:ext cx="720080" cy="1584176"/>
          </a:xfrm>
          <a:prstGeom prst="downArrow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5373" name="TextBox 6"/>
          <p:cNvSpPr txBox="1">
            <a:spLocks noChangeArrowheads="1"/>
          </p:cNvSpPr>
          <p:nvPr/>
        </p:nvSpPr>
        <p:spPr bwMode="auto">
          <a:xfrm>
            <a:off x="2195513" y="5589588"/>
            <a:ext cx="55451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800">
                <a:latin typeface="+mn-lt"/>
                <a:cs typeface="Arial" panose="020B0604020202020204" pitchFamily="34" charset="0"/>
              </a:rPr>
              <a:t>Clear question and specific objectives</a:t>
            </a: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901"/>
    </mc:Choice>
    <mc:Fallback xmlns="">
      <p:transition spd="slow" advTm="389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544412"/>
              </p:ext>
            </p:extLst>
          </p:nvPr>
        </p:nvGraphicFramePr>
        <p:xfrm>
          <a:off x="685797" y="761999"/>
          <a:ext cx="7772402" cy="47632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86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Degree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Relevant topics for a dissertation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MA or MBA Leading Innovation and Change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Leadership, innovation, change, strategy, culture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Leadership and Management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Leadership, management, coaching,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strategy 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Entrepreneurship and Innovation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Innovation, change, entrepreneur-ship, strategy, culture 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Coaching, Mentoring, Leadership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Coaching/mentoring, leadership, innovation</a:t>
                      </a: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, change, culture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Innovation, Leadership and Consulting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Innovation, change, leadership, consulting, strategy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Management Consulting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Consulting, innovation, change, strategy, culture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4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74"/>
    </mc:Choice>
    <mc:Fallback xmlns="">
      <p:transition spd="slow" advTm="157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533400"/>
            <a:ext cx="7620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+mn-lt"/>
              </a:rPr>
              <a:t>The most common topic areas are…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Innovation</a:t>
            </a:r>
          </a:p>
          <a:p>
            <a:r>
              <a:rPr lang="en-GB" sz="2400" dirty="0">
                <a:latin typeface="+mn-lt"/>
              </a:rPr>
              <a:t>Change</a:t>
            </a:r>
          </a:p>
          <a:p>
            <a:r>
              <a:rPr lang="en-GB" sz="2400" dirty="0">
                <a:latin typeface="+mn-lt"/>
              </a:rPr>
              <a:t>Strategy 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So you might be tempted to phrase your research question in rather broad terms, such as: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What factors enable innovation in the financial services industry?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What factors enable innovation in the banking industry?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Not an easy question to answer convincingly, because it is so broad.</a:t>
            </a:r>
          </a:p>
          <a:p>
            <a:endParaRPr lang="en-GB" sz="2400" dirty="0">
              <a:latin typeface="+mn-lt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1C165C72-2D90-4ADC-B964-0DCFA6756D42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54059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782"/>
    </mc:Choice>
    <mc:Fallback>
      <p:transition spd="slow" advTm="417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81000"/>
            <a:ext cx="78486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400">
                <a:solidFill>
                  <a:prstClr val="black"/>
                </a:solidFill>
                <a:latin typeface="Calibri"/>
              </a:rPr>
              <a:t>You might narrow it down by thinking about: </a:t>
            </a:r>
          </a:p>
          <a:p>
            <a:pPr lvl="0"/>
            <a:endParaRPr lang="en-GB" sz="2400">
              <a:solidFill>
                <a:prstClr val="black"/>
              </a:solidFill>
              <a:latin typeface="Calibri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>
                <a:solidFill>
                  <a:prstClr val="black"/>
                </a:solidFill>
                <a:latin typeface="Calibri"/>
              </a:rPr>
              <a:t>what specific things you </a:t>
            </a:r>
            <a:r>
              <a:rPr lang="en-GB" sz="2400" u="sng">
                <a:solidFill>
                  <a:prstClr val="black"/>
                </a:solidFill>
                <a:latin typeface="Calibri"/>
              </a:rPr>
              <a:t>really</a:t>
            </a:r>
            <a:r>
              <a:rPr lang="en-GB" sz="2400">
                <a:solidFill>
                  <a:prstClr val="black"/>
                </a:solidFill>
                <a:latin typeface="Calibri"/>
              </a:rPr>
              <a:t> want to know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>
                <a:solidFill>
                  <a:prstClr val="black"/>
                </a:solidFill>
                <a:latin typeface="Calibri"/>
              </a:rPr>
              <a:t>what people and information you can access</a:t>
            </a:r>
          </a:p>
          <a:p>
            <a:pPr lvl="0"/>
            <a:endParaRPr lang="en-GB" sz="2400">
              <a:solidFill>
                <a:prstClr val="black"/>
              </a:solidFill>
              <a:latin typeface="Calibri"/>
            </a:endParaRPr>
          </a:p>
          <a:p>
            <a:pPr lvl="0"/>
            <a:r>
              <a:rPr lang="en-GB" sz="2400">
                <a:solidFill>
                  <a:prstClr val="black"/>
                </a:solidFill>
                <a:latin typeface="Calibri"/>
              </a:rPr>
              <a:t>So it might narrow down to:</a:t>
            </a:r>
          </a:p>
          <a:p>
            <a:pPr lvl="0"/>
            <a:endParaRPr lang="en-GB" sz="2400">
              <a:solidFill>
                <a:prstClr val="black"/>
              </a:solidFill>
              <a:latin typeface="Calibri"/>
            </a:endParaRPr>
          </a:p>
          <a:p>
            <a:pPr lvl="0"/>
            <a:r>
              <a:rPr lang="en-GB" sz="2400">
                <a:solidFill>
                  <a:prstClr val="black"/>
                </a:solidFill>
                <a:latin typeface="Calibri"/>
              </a:rPr>
              <a:t>What factors encouraged innovation in XYZ retail bank branches in 2016-2020?</a:t>
            </a:r>
          </a:p>
          <a:p>
            <a:pPr lvl="0"/>
            <a:endParaRPr lang="en-GB" sz="2400">
              <a:solidFill>
                <a:prstClr val="black"/>
              </a:solidFill>
              <a:latin typeface="Calibri"/>
            </a:endParaRPr>
          </a:p>
          <a:p>
            <a:pPr lvl="0"/>
            <a:r>
              <a:rPr lang="en-GB" sz="2400">
                <a:solidFill>
                  <a:prstClr val="black"/>
                </a:solidFill>
                <a:latin typeface="Calibri"/>
              </a:rPr>
              <a:t>What factors are encouraging creative thinking in XYZ retail branches in 2020?</a:t>
            </a:r>
          </a:p>
          <a:p>
            <a:pPr lvl="0"/>
            <a:endParaRPr lang="en-GB" sz="2400">
              <a:solidFill>
                <a:prstClr val="black"/>
              </a:solidFill>
              <a:latin typeface="Calibri"/>
            </a:endParaRPr>
          </a:p>
          <a:p>
            <a:pPr lvl="0"/>
            <a:r>
              <a:rPr lang="en-GB" sz="2400">
                <a:solidFill>
                  <a:prstClr val="black"/>
                </a:solidFill>
                <a:latin typeface="Calibri"/>
              </a:rPr>
              <a:t>What is the effect of scenario planning on innovation in XYZ bank headquarters? </a:t>
            </a:r>
          </a:p>
          <a:p>
            <a:pPr lvl="0"/>
            <a:endParaRPr lang="en-GB">
              <a:solidFill>
                <a:prstClr val="black"/>
              </a:solidFill>
            </a:endParaRPr>
          </a:p>
          <a:p>
            <a:pPr lvl="0"/>
            <a:r>
              <a:rPr lang="en-GB">
                <a:solidFill>
                  <a:prstClr val="black"/>
                </a:solidFill>
              </a:rPr>
              <a:t> </a:t>
            </a:r>
          </a:p>
          <a:p>
            <a:endParaRPr lang="en-GB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9231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097"/>
    </mc:Choice>
    <mc:Fallback xmlns="">
      <p:transition spd="slow" advTm="1090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ChangeArrowheads="1"/>
          </p:cNvSpPr>
          <p:nvPr/>
        </p:nvSpPr>
        <p:spPr bwMode="auto">
          <a:xfrm>
            <a:off x="1979712" y="1556792"/>
            <a:ext cx="5293568" cy="367240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15365" name="TextBox 2"/>
          <p:cNvSpPr txBox="1">
            <a:spLocks noChangeArrowheads="1"/>
          </p:cNvSpPr>
          <p:nvPr/>
        </p:nvSpPr>
        <p:spPr bwMode="auto">
          <a:xfrm>
            <a:off x="1042988" y="549275"/>
            <a:ext cx="7345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800">
                <a:latin typeface="+mn-lt"/>
                <a:cs typeface="Arial" panose="020B0604020202020204" pitchFamily="34" charset="0"/>
              </a:rPr>
              <a:t>Broad area of interest</a:t>
            </a:r>
          </a:p>
        </p:txBody>
      </p:sp>
      <p:sp>
        <p:nvSpPr>
          <p:cNvPr id="4" name="Down Arrow 3"/>
          <p:cNvSpPr/>
          <p:nvPr/>
        </p:nvSpPr>
        <p:spPr>
          <a:xfrm>
            <a:off x="4139952" y="1268760"/>
            <a:ext cx="720080" cy="2016224"/>
          </a:xfrm>
          <a:prstGeom prst="downArrow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5369" name="TextBox 4"/>
          <p:cNvSpPr txBox="1">
            <a:spLocks noChangeArrowheads="1"/>
          </p:cNvSpPr>
          <p:nvPr/>
        </p:nvSpPr>
        <p:spPr bwMode="auto">
          <a:xfrm>
            <a:off x="2555875" y="3357563"/>
            <a:ext cx="4103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>
                <a:latin typeface="+mn-lt"/>
                <a:cs typeface="Arial" panose="020B0604020202020204" pitchFamily="34" charset="0"/>
              </a:rPr>
              <a:t>Particular focus</a:t>
            </a:r>
          </a:p>
        </p:txBody>
      </p:sp>
      <p:sp>
        <p:nvSpPr>
          <p:cNvPr id="6" name="Down Arrow 5"/>
          <p:cNvSpPr/>
          <p:nvPr/>
        </p:nvSpPr>
        <p:spPr>
          <a:xfrm>
            <a:off x="4067944" y="4005064"/>
            <a:ext cx="720080" cy="1584176"/>
          </a:xfrm>
          <a:prstGeom prst="downArrow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5373" name="TextBox 6"/>
          <p:cNvSpPr txBox="1">
            <a:spLocks noChangeArrowheads="1"/>
          </p:cNvSpPr>
          <p:nvPr/>
        </p:nvSpPr>
        <p:spPr bwMode="auto">
          <a:xfrm>
            <a:off x="2195513" y="5589588"/>
            <a:ext cx="55451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800">
                <a:latin typeface="+mn-lt"/>
                <a:cs typeface="Arial" panose="020B0604020202020204" pitchFamily="34" charset="0"/>
              </a:rPr>
              <a:t>Clear question and specific objectives</a:t>
            </a: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9758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816"/>
    </mc:Choice>
    <mc:Fallback xmlns="">
      <p:transition spd="slow" advTm="508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2|1.4|17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1|27.6|3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3051</TotalTime>
  <Words>343</Words>
  <Application>Microsoft Office PowerPoint</Application>
  <PresentationFormat>On-screen Show (4:3)</PresentationFormat>
  <Paragraphs>66</Paragraphs>
  <Slides>7</Slides>
  <Notes>0</Notes>
  <HiddenSlides>0</HiddenSlides>
  <MMClips>7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1_Office Theme</vt:lpstr>
      <vt:lpstr>The Dissertation:  Focusing your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Hull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26432</dc:title>
  <dc:creator>David Nicholas Tucker</dc:creator>
  <cp:lastModifiedBy>George Boak</cp:lastModifiedBy>
  <cp:revision>144</cp:revision>
  <cp:lastPrinted>2015-04-12T10:54:10Z</cp:lastPrinted>
  <dcterms:created xsi:type="dcterms:W3CDTF">2005-09-18T18:21:05Z</dcterms:created>
  <dcterms:modified xsi:type="dcterms:W3CDTF">2022-03-17T11:44:18Z</dcterms:modified>
</cp:coreProperties>
</file>