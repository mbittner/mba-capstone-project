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409" r:id="rId4"/>
    <p:sldId id="259" r:id="rId5"/>
    <p:sldId id="469" r:id="rId6"/>
    <p:sldId id="468" r:id="rId7"/>
    <p:sldId id="455" r:id="rId8"/>
    <p:sldId id="28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750D8-680B-4CF7-8E2D-CE4C2363BC62}" type="datetimeFigureOut">
              <a:rPr lang="en-GB" smtClean="0"/>
              <a:t>28/01/2022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9DDD0-BAA7-475F-BCBF-ED2C7F95D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700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8359-9CDA-4D9F-8827-1F3A9208B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230D5-1814-4125-8E3F-9F722228E2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B0357-6938-4A26-A284-06F403A5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DDEB5-D878-42A4-8315-7CE1CCF1BD1B}" type="datetime1">
              <a:rPr lang="en-GB" smtClean="0"/>
              <a:t>28/01/2022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095FF-1807-4AFA-9D8E-59DE7E05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4404A-0F22-4F31-99F8-6F57AFFC0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984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2A4B-4D4C-43BD-82C0-48037AF97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CA334-8DAF-4070-A715-2BE70EA90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9611-C875-429D-95B6-54E7AF212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4CBD3-1185-42F7-97CD-3D0681FCDA45}" type="datetime1">
              <a:rPr lang="en-GB" smtClean="0"/>
              <a:t>28/01/2022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7DEF0-977F-4E6F-BB2A-C8463A2E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36480-C6DA-456E-B960-045CA35C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137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A9247-100F-4DDC-BA8B-76C833A4C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9D859-6711-485B-956E-3FAA00466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25ADF-C30D-44F6-8C19-9567FBD5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0B417-FC5B-4D1B-99A2-BD36C2D4596E}" type="datetime1">
              <a:rPr lang="en-GB" smtClean="0"/>
              <a:t>28/01/2022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102C5-8D34-4CEE-9B2A-386C2A99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E3EBC-D754-4731-9AD8-99DA815B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06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C5D0D-3E53-40A4-96BA-589CF70E9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ABB78-4259-49F4-A884-009101A20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BE87D-0E33-49F0-AA32-B6F8C6E8A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9537A-EBD6-4022-91B6-E542C265E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7430-E0D0-410C-AA0D-2E2F810A2854}" type="datetime1">
              <a:rPr lang="en-GB" smtClean="0"/>
              <a:t>28/01/2022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D304C-F0DF-4C2A-BC6B-94EF51BC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EE960-E1BB-4B3C-A722-DA274385A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045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54AF5-3892-4954-81E0-6B2F36A0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AED80-CB11-4386-8B73-AB5E9B4AA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55364-E16A-4C41-BB66-986824254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B7DA5F-EEC4-46ED-94A1-3778CA8AF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02D264-169E-48D4-85E8-1345E0D684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B92AB3-76EE-4F44-AE2F-62F24F87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FFB7-7CDC-4CD6-BDB1-988650C9AC94}" type="datetime1">
              <a:rPr lang="en-GB" smtClean="0"/>
              <a:t>28/01/2022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62C8F-4E80-4FD9-96C2-54D96528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B9AC67-CED3-4369-8ADC-0F7AA6F2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119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FB99F-87CB-45A7-84B9-4219284D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0AAFBA-A2AD-4858-8473-6578F48AA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343F-E127-424A-8BFB-60E36BC394CA}" type="datetime1">
              <a:rPr lang="en-GB" smtClean="0"/>
              <a:t>28/01/2022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FEDAEA-3315-41BF-A5D4-9C4A183AE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C039C-69F9-427E-9CAD-2988E5024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334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BB619-EFAB-424E-9702-3378677D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27B4-A7D8-4191-89E8-CEA5BC92DB9E}" type="datetime1">
              <a:rPr lang="en-GB" smtClean="0"/>
              <a:t>28/01/2022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102ADA-54AA-4B21-B576-9F62B8B7E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E34DD-53EC-4F4B-A3A2-92ACD6BF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492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FFD04-5FA9-43D6-9933-EE021C47B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B23E4-AD2B-486D-A7D4-94525234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7934D-6D12-4EC5-A482-26E56ADE0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60404-A140-4311-8B08-1C8564EF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DD0E0-1F10-47A8-9324-B62CF5322A71}" type="datetime1">
              <a:rPr lang="en-GB" smtClean="0"/>
              <a:t>28/01/2022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64A99-185B-458D-9523-351ED7E8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365A3-5C03-4537-A79A-FA31A609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91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029AE-4F28-47B0-A79D-423AF4095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83DD1B-97D7-4DE3-96CA-457D2C502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3CF16-866D-4FBE-AB8B-67F0C9554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FB27C-9421-464B-8D01-18970C62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1EDD-E24D-425F-A420-ED01F035A647}" type="datetime1">
              <a:rPr lang="en-GB" smtClean="0"/>
              <a:t>28/01/2022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27397-CF4C-4BDC-B5C4-134DDE942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C16B7-B8C6-4CF1-805D-9A560DB3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49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CA51-F303-4D9A-9750-0A67191FC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94A9A-793C-4A7F-9DC6-07ECECC00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80ADF-9346-4E4B-989B-CE2927746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7B5A6-A79C-4AC7-A1FF-30462E0477B1}" type="datetime1">
              <a:rPr lang="en-GB" smtClean="0"/>
              <a:t>28/01/2022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18A25-14CE-43DD-823D-0DEDA60F8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F9193-9792-4A64-B16E-B36D5F10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627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F70C5E-A6F6-486C-A2EF-337AD0420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9D623-EFF0-4DDA-9F25-4C792B736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12A18-17AE-48FC-8B45-05AAFED8B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2CC05-7FBC-489C-8301-A9CED623BDA9}" type="datetime1">
              <a:rPr lang="en-GB" smtClean="0"/>
              <a:t>28/01/2022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3D6FF-E39C-4650-9407-9FC7AD5E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4DF3A-67A7-4F1B-96F6-E3BCCFCF0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7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363C5-9405-4F4F-80CB-65B62FC85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B354-322A-4935-B68B-8B4D90365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BB565-897F-4D13-8475-8AC3A8D56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228F2-20FC-47E0-A188-D08C94A51EAA}" type="datetime1">
              <a:rPr lang="en-GB" smtClean="0"/>
              <a:t>28/01/2022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5F368-681B-4229-8C2B-EF83E9434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D7946-E08F-4BCB-856E-109C265E0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46547-234A-4271-BB97-B6C1DF629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81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about:blank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about:blank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D780-8E65-4F98-9CCD-3EFFFC8822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Quantitative research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17E61-C5E7-4C7D-9141-A8666AFAFD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Collection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7002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4BEBF1-DDEE-4B62-9966-2CEF247A3FDA}"/>
              </a:ext>
            </a:extLst>
          </p:cNvPr>
          <p:cNvSpPr txBox="1"/>
          <p:nvPr/>
        </p:nvSpPr>
        <p:spPr>
          <a:xfrm>
            <a:off x="1006679" y="822121"/>
            <a:ext cx="95886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n-lt"/>
              </a:rPr>
              <a:t>The most common tool for gathering quantitative data is the questionnaire</a:t>
            </a:r>
          </a:p>
          <a:p>
            <a:endParaRPr lang="en-GB" sz="2800" dirty="0"/>
          </a:p>
          <a:p>
            <a:r>
              <a:rPr lang="en-GB" sz="2800" dirty="0"/>
              <a:t>See the video lecture ‘Questionnaires’</a:t>
            </a:r>
          </a:p>
        </p:txBody>
      </p:sp>
    </p:spTree>
    <p:extLst>
      <p:ext uri="{BB962C8B-B14F-4D97-AF65-F5344CB8AC3E}">
        <p14:creationId xmlns:p14="http://schemas.microsoft.com/office/powerpoint/2010/main" val="142975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78"/>
    </mc:Choice>
    <mc:Fallback xmlns="">
      <p:transition spd="slow" advTm="1337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882775"/>
            <a:ext cx="8219256" cy="4572000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standardised</a:t>
            </a:r>
            <a:r>
              <a:rPr lang="en-US" sz="2400" b="1" dirty="0"/>
              <a:t> information </a:t>
            </a:r>
          </a:p>
          <a:p>
            <a:r>
              <a:rPr lang="en-US" sz="2400" dirty="0"/>
              <a:t>Appropriate when…</a:t>
            </a:r>
          </a:p>
          <a:p>
            <a:pPr lvl="1">
              <a:buFont typeface="Calibri" pitchFamily="34" charset="0"/>
              <a:buChar char="⁻"/>
            </a:pPr>
            <a:r>
              <a:rPr lang="en-US" b="1" dirty="0"/>
              <a:t>collecting data from many people</a:t>
            </a:r>
          </a:p>
          <a:p>
            <a:pPr lvl="1">
              <a:buFont typeface="Calibri" pitchFamily="34" charset="0"/>
              <a:buChar char="⁻"/>
            </a:pPr>
            <a:r>
              <a:rPr lang="en-US" b="1" dirty="0"/>
              <a:t>some understanding of the topic</a:t>
            </a:r>
          </a:p>
          <a:p>
            <a:pPr lvl="1">
              <a:buFont typeface="Calibri" pitchFamily="34" charset="0"/>
              <a:buChar char="⁻"/>
            </a:pPr>
            <a:r>
              <a:rPr lang="en-US" b="1" dirty="0"/>
              <a:t>sensitive topic or</a:t>
            </a:r>
            <a:endParaRPr lang="en-US" dirty="0"/>
          </a:p>
          <a:p>
            <a:pPr lvl="1">
              <a:buFont typeface="Calibri" pitchFamily="34" charset="0"/>
              <a:buChar char="⁻"/>
            </a:pPr>
            <a:r>
              <a:rPr lang="en-US" b="1" dirty="0"/>
              <a:t>specific topic, familiar to the respondents </a:t>
            </a:r>
          </a:p>
          <a:p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286000" y="692696"/>
            <a:ext cx="7057330" cy="88012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When/why use a questionnaire:</a:t>
            </a:r>
            <a:br>
              <a:rPr lang="en-GB" sz="2800" b="1" dirty="0">
                <a:solidFill>
                  <a:srgbClr val="FF0000"/>
                </a:solidFill>
                <a:latin typeface="+mn-lt"/>
              </a:rPr>
            </a:br>
            <a:endParaRPr lang="en-GB" sz="28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Picture 7" descr="MCj0078711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330" y="692696"/>
            <a:ext cx="1073150" cy="260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758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608"/>
    </mc:Choice>
    <mc:Fallback xmlns="">
      <p:transition spd="slow" advTm="956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FD147E-B4A1-41C6-832F-9A65BE630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125" y="714375"/>
            <a:ext cx="8615188" cy="464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b="1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Designing a questionnaire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0070C0"/>
                </a:solidFill>
                <a:latin typeface="+mn-lt"/>
              </a:rPr>
              <a:t>What and why</a:t>
            </a:r>
            <a:r>
              <a:rPr lang="en-GB" altLang="en-US" sz="2400" dirty="0">
                <a:latin typeface="+mn-lt"/>
              </a:rPr>
              <a:t> - decide on aims of the questionnaire, and on the information you need, linked to the aims of the research, before you frame the questions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0070C0"/>
                </a:solidFill>
                <a:latin typeface="+mn-lt"/>
              </a:rPr>
              <a:t>Who</a:t>
            </a:r>
            <a:r>
              <a:rPr lang="en-GB" altLang="en-US" sz="2400" dirty="0">
                <a:latin typeface="+mn-lt"/>
              </a:rPr>
              <a:t> – decide on who you will design the questionnaire for - </a:t>
            </a:r>
            <a:r>
              <a:rPr lang="en-GB" altLang="en-US" sz="2400" dirty="0" err="1">
                <a:latin typeface="+mn-lt"/>
              </a:rPr>
              <a:t>eg</a:t>
            </a:r>
            <a:r>
              <a:rPr lang="en-GB" altLang="en-US" sz="2400" dirty="0">
                <a:latin typeface="+mn-lt"/>
              </a:rPr>
              <a:t> managers, employees, customers – this may affect the language you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0070C0"/>
                </a:solidFill>
                <a:latin typeface="+mn-lt"/>
              </a:rPr>
              <a:t>How</a:t>
            </a:r>
            <a:r>
              <a:rPr lang="en-GB" altLang="en-US" sz="2400" dirty="0">
                <a:latin typeface="+mn-lt"/>
              </a:rPr>
              <a:t> - decide on the method and the time frame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040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795"/>
    </mc:Choice>
    <mc:Fallback xmlns="">
      <p:transition spd="slow" advTm="1077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A41506-8213-4B27-82D9-6D7D47D07903}"/>
              </a:ext>
            </a:extLst>
          </p:cNvPr>
          <p:cNvSpPr txBox="1"/>
          <p:nvPr/>
        </p:nvSpPr>
        <p:spPr>
          <a:xfrm>
            <a:off x="1048624" y="713064"/>
            <a:ext cx="10008066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GB" altLang="en-US" sz="2800" b="1" dirty="0">
                <a:solidFill>
                  <a:srgbClr val="FF0000"/>
                </a:solidFill>
              </a:rPr>
              <a:t>Designing a questionnaire 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Make sure the answers to the questionnaire will answer your research question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Where possible, justify your questions in relation to relevant literature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Provide clear instructions to respondents 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Provide clear questions/statements that respondents can understand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Get advice from supervisor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Pre-test/pilot the questionnaire</a:t>
            </a:r>
          </a:p>
          <a:p>
            <a:pPr eaLnBrk="1" hangingPunct="1"/>
            <a:endParaRPr lang="en-GB" altLang="en-US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12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99BB15-A6F0-4B93-A22D-9A315BC55637}"/>
              </a:ext>
            </a:extLst>
          </p:cNvPr>
          <p:cNvSpPr txBox="1"/>
          <p:nvPr/>
        </p:nvSpPr>
        <p:spPr>
          <a:xfrm>
            <a:off x="998290" y="729842"/>
            <a:ext cx="9823508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Tips and techniques</a:t>
            </a:r>
          </a:p>
          <a:p>
            <a:endParaRPr lang="en-US" sz="2400" dirty="0"/>
          </a:p>
          <a:p>
            <a:r>
              <a:rPr lang="en-US" sz="2400" dirty="0"/>
              <a:t>See Gordon Aitken (2010) 10 Step Guide to Questionnaire Design, YouTube</a:t>
            </a:r>
          </a:p>
          <a:p>
            <a:endParaRPr lang="en-US" sz="2400" dirty="0"/>
          </a:p>
          <a:p>
            <a:r>
              <a:rPr lang="en-US" sz="2400" dirty="0">
                <a:cs typeface="Arial" pitchFamily="34" charset="0"/>
                <a:hlinkClick r:id="rId2"/>
              </a:rPr>
              <a:t>http://youtu.be/53mASVzGRF4</a:t>
            </a:r>
            <a:endParaRPr lang="en-US" sz="2400" dirty="0">
              <a:cs typeface="Arial" pitchFamily="34" charset="0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7555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Box 2"/>
          <p:cNvSpPr txBox="1">
            <a:spLocks noChangeArrowheads="1"/>
          </p:cNvSpPr>
          <p:nvPr/>
        </p:nvSpPr>
        <p:spPr bwMode="auto">
          <a:xfrm>
            <a:off x="2051298" y="566053"/>
            <a:ext cx="8208962" cy="357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b="1" dirty="0">
                <a:solidFill>
                  <a:schemeClr val="accent1"/>
                </a:solidFill>
                <a:latin typeface="+mn-lt"/>
              </a:rPr>
              <a:t>Exercise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Look at the survey in EXERCISE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+mn-lt"/>
              </a:rPr>
              <a:t>•	which questions do you think are good, and why?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+mn-lt"/>
              </a:rPr>
              <a:t>•	which questions are not so good? and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+mn-lt"/>
              </a:rPr>
              <a:t>•	how could they be improved?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 dirty="0"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 dirty="0"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6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33"/>
    </mc:Choice>
    <mc:Fallback xmlns="">
      <p:transition spd="slow" advTm="3193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7568" y="620689"/>
            <a:ext cx="7848872" cy="6252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alibri" pitchFamily="34" charset="0"/>
              </a:rPr>
              <a:t>References and further reading:</a:t>
            </a:r>
          </a:p>
          <a:p>
            <a:endParaRPr lang="en-GB" dirty="0">
              <a:latin typeface="Calibri" pitchFamily="34" charset="0"/>
            </a:endParaRPr>
          </a:p>
          <a:p>
            <a:pPr marL="355600" indent="-355600"/>
            <a:r>
              <a:rPr lang="en-GB" sz="2000" dirty="0" err="1"/>
              <a:t>Lietz</a:t>
            </a:r>
            <a:r>
              <a:rPr lang="en-GB" sz="2000" dirty="0"/>
              <a:t>, P. (2010) Research into questionnaire design – a summary of the </a:t>
            </a:r>
          </a:p>
          <a:p>
            <a:pPr marL="355600" indent="-355600"/>
            <a:r>
              <a:rPr lang="en-GB" sz="2000" dirty="0"/>
              <a:t>literature. </a:t>
            </a:r>
            <a:r>
              <a:rPr lang="en-GB" sz="2000" i="1" dirty="0"/>
              <a:t>International Journal of Market Research,</a:t>
            </a:r>
            <a:r>
              <a:rPr lang="en-GB" sz="2000" dirty="0"/>
              <a:t> Vol.52, No.2, pp. 249-</a:t>
            </a:r>
          </a:p>
          <a:p>
            <a:pPr marL="355600" indent="-355600"/>
            <a:r>
              <a:rPr lang="en-GB" sz="2000" dirty="0"/>
              <a:t>272 </a:t>
            </a:r>
          </a:p>
          <a:p>
            <a:pPr marL="355600" indent="-355600"/>
            <a:r>
              <a:rPr lang="en-GB" sz="2000" dirty="0">
                <a:hlinkClick r:id="rId2"/>
              </a:rPr>
              <a:t>https://pdfs.semanticscholar.org/3c20/d5e328a5c538cb638dd46222f</a:t>
            </a:r>
          </a:p>
          <a:p>
            <a:pPr marL="355600" indent="-355600"/>
            <a:r>
              <a:rPr lang="en-GB" sz="2000" dirty="0">
                <a:hlinkClick r:id="rId2"/>
              </a:rPr>
              <a:t>8de18af4164.pdf</a:t>
            </a:r>
            <a:endParaRPr lang="en-GB" sz="200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O’Leary, Z. (2017) </a:t>
            </a:r>
            <a:r>
              <a:rPr lang="en-GB" sz="2000" i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Essential Guide to doing your research project,</a:t>
            </a:r>
            <a:r>
              <a:rPr lang="en-GB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Sage </a:t>
            </a:r>
            <a:r>
              <a:rPr lang="en-GB" sz="20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ch</a:t>
            </a:r>
            <a:r>
              <a:rPr lang="en-GB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12 ‘Primary Data: Surveys, Interviews and Observation’ pp. 223-262 </a:t>
            </a:r>
            <a:r>
              <a:rPr lang="en-GB" sz="2000" u="none" strike="noStrike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https://contentstore.cla.co.uk/secure/link?id=f868be39-e00e-eb11-80cd-005056af4099</a:t>
            </a:r>
            <a:endParaRPr lang="en-GB" sz="2000" dirty="0"/>
          </a:p>
          <a:p>
            <a:pPr marL="355600" indent="-355600"/>
            <a:r>
              <a:rPr lang="en-GB" sz="2000" dirty="0"/>
              <a:t>Rowley, J. (2014) Designing and using research questionnaires, </a:t>
            </a:r>
          </a:p>
          <a:p>
            <a:pPr marL="355600" indent="-355600"/>
            <a:r>
              <a:rPr lang="en-GB" sz="2000" i="1" dirty="0"/>
              <a:t>Management Research Review,</a:t>
            </a:r>
            <a:r>
              <a:rPr lang="en-GB" sz="2000" dirty="0"/>
              <a:t> Vol. 37 </a:t>
            </a:r>
            <a:r>
              <a:rPr lang="en-GB" sz="2000" dirty="0" err="1"/>
              <a:t>Iss</a:t>
            </a:r>
            <a:r>
              <a:rPr lang="en-GB" sz="2000" dirty="0"/>
              <a:t> 3 pp. 308 – 330.</a:t>
            </a:r>
          </a:p>
          <a:p>
            <a:pPr marL="355600" indent="-355600"/>
            <a:endParaRPr lang="en-GB" sz="2000" dirty="0"/>
          </a:p>
          <a:p>
            <a:pPr marL="355600" indent="-355600"/>
            <a:r>
              <a:rPr lang="en-GB" sz="2000" dirty="0"/>
              <a:t>Saunders, M. N. K., Lewis, P. &amp; </a:t>
            </a:r>
            <a:r>
              <a:rPr lang="en-GB" sz="2000" dirty="0" err="1"/>
              <a:t>Thornhill</a:t>
            </a:r>
            <a:r>
              <a:rPr lang="en-GB" sz="2000" dirty="0"/>
              <a:t>, A. (2019), </a:t>
            </a:r>
            <a:r>
              <a:rPr lang="en-GB" sz="2000" i="1" dirty="0"/>
              <a:t>Research Methods for </a:t>
            </a:r>
          </a:p>
          <a:p>
            <a:pPr marL="355600" indent="-355600"/>
            <a:r>
              <a:rPr lang="en-GB" sz="2000" i="1" dirty="0"/>
              <a:t>Business Students, </a:t>
            </a:r>
            <a:r>
              <a:rPr lang="en-GB" sz="2000" dirty="0"/>
              <a:t>Prentice Hall.</a:t>
            </a:r>
          </a:p>
          <a:p>
            <a:pPr marL="355600" indent="-355600"/>
            <a:endParaRPr lang="en-GB" sz="2000" dirty="0"/>
          </a:p>
          <a:p>
            <a:pPr marL="355600" indent="-355600"/>
            <a:endParaRPr lang="en-GB" sz="1600" dirty="0">
              <a:latin typeface="Calibri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002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23"/>
    </mc:Choice>
    <mc:Fallback xmlns="">
      <p:transition spd="slow" advTm="8823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27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38.4|2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399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Quantitative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research</dc:title>
  <dc:creator>George Boak</dc:creator>
  <cp:lastModifiedBy>George Boak</cp:lastModifiedBy>
  <cp:revision>19</cp:revision>
  <dcterms:created xsi:type="dcterms:W3CDTF">2021-01-22T12:52:18Z</dcterms:created>
  <dcterms:modified xsi:type="dcterms:W3CDTF">2022-01-28T15:51:32Z</dcterms:modified>
</cp:coreProperties>
</file>