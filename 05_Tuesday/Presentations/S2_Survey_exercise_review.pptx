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08" r:id="rId1"/>
  </p:sldMasterIdLst>
  <p:notesMasterIdLst>
    <p:notesMasterId r:id="rId7"/>
  </p:notesMasterIdLst>
  <p:sldIdLst>
    <p:sldId id="264" r:id="rId2"/>
    <p:sldId id="463" r:id="rId3"/>
    <p:sldId id="464" r:id="rId4"/>
    <p:sldId id="465" r:id="rId5"/>
    <p:sldId id="466" r:id="rId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8" d="100"/>
          <a:sy n="108" d="100"/>
        </p:scale>
        <p:origin x="1704" y="10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589A67F-1469-4535-98D6-F1F5BC671E68}" type="datetimeFigureOut">
              <a:rPr lang="en-GB" smtClean="0"/>
              <a:t>04/02/2021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BEEA9D2-B54D-4D19-B876-5FCD114EB5A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903643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EAF3A5-C229-4CAE-A557-2ABE7ECFED4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F784354-4796-4A86-A0BF-9C852B2AC6E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1B85CE-7B9D-4E1E-99B3-FD3505B217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BA074D-A8A1-4B0D-AA78-3A6A5D1B2E06}" type="datetimeFigureOut">
              <a:rPr lang="en-GB" smtClean="0"/>
              <a:t>04/02/2021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907A38-A1CB-4139-A4E2-3BA02C5E40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AFF90C-9333-4E4D-ADEE-54152CA5AB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BD5EF5-EEF9-488C-8BE1-88C0250ADEF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409955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BCC260-81BC-458C-88C6-2D86559425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6C1CCD-7538-44C2-B69B-AF75935CC3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B27065-C7BF-451D-8687-6F332A987B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BA074D-A8A1-4B0D-AA78-3A6A5D1B2E06}" type="datetimeFigureOut">
              <a:rPr lang="en-GB" smtClean="0"/>
              <a:t>04/02/2021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C7CFA2-A100-423A-8954-F7E8112750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C6968D-1834-45C9-B765-F474044ED2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BD5EF5-EEF9-488C-8BE1-88C0250ADEF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836463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B43FC1-82BA-4055-AB47-4429F47C43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BFB74B6-8F5D-4D88-8290-DBD297C6A1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0A3A6D-5CD4-4030-B9C1-D87912B6E0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DD95CA-8192-4699-A810-203814ABB9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4C47B1-9540-4983-B141-40F186E147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BD5EF5-EEF9-488C-8BE1-88C0250ADEF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468916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6A5CEA-880E-4618-9032-BE8A847F1E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4C29E4-9ABC-4643-AC2E-5F05EEE8029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7273A26-4D10-4463-859B-F00C81F0E9D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8C97357-30E1-4EA5-8162-2B71D6E6C7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44D2E84-F152-476B-9E3B-46E02F1D4F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06335A6-E011-474F-B5CE-62F4A21331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BD5EF5-EEF9-488C-8BE1-88C0250ADEF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352712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4D5AE1-CC0A-413B-85AA-38D00951E4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6CA9EA-F895-4C3C-8F63-9344721CC3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957DB85-E475-4208-917B-52C98B97875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8E159E7-C2A3-4B02-969D-4C03CB0D29F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7B20B31-E8A2-4E68-A9E0-8F4139C75DE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A9AC2A2-5FCA-4362-8E3C-6F74154378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416D13E-71A4-4373-83CE-9F9A0CCDE9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59239EA-6771-4341-8707-C64DD7EB3D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BD5EF5-EEF9-488C-8BE1-88C0250ADEF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54314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F08FA1-C216-4D6C-892D-C8024782A8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5C5213D-9E7B-4DC8-8A41-07F782F24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A49BE5B-D860-4342-B8EC-BC234FD3A3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DA7F536-9910-4073-B4CB-E8E28EE5B8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BD5EF5-EEF9-488C-8BE1-88C0250ADEF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454815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951BA77-B7F0-4B1A-828A-34A03653BB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F79EF72-6D0B-4201-B68D-F6E95FD72E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893D52-733E-4F0C-91AB-D0D157B2E3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BD5EF5-EEF9-488C-8BE1-88C0250ADEF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793602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9EEBD4-9332-454D-B958-AD1E49CD4B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99A609-A067-4A0C-91B4-D06DC0AC0C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64B5455-BFD2-437F-A08B-C70B1DF511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7E56AAD-A09D-419F-83AA-9C8625E631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442ED41-95FB-480D-BAA6-BD02DEEBD7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FB31AB7-6389-471D-94AE-1F7D77325D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BD5EF5-EEF9-488C-8BE1-88C0250ADEF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413231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14F169-D7D2-4087-B789-56FA8EA5D0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CC52169-32AE-4A3D-9097-250FE44FF16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5842BD4-C41F-40B7-83AD-76B7ED63A76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075E3FD-2300-4A12-A365-23C330AA47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BD506F5-AE6C-40E4-8E82-31662769CE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9353859-B39B-462A-AC7A-0DC3A28211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BD5EF5-EEF9-488C-8BE1-88C0250ADEF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212754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F51A03-5E11-416E-B3CD-6453124055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58E0AFA-1DE2-4DE2-A1D2-0254055EAB8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EE9A85-2339-4DBE-87AB-7C9CC337CD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9683F3-7710-4523-8B02-7DCB07F61B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ADD452-A671-4748-98CB-09AD12BF7B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BD5EF5-EEF9-488C-8BE1-88C0250ADEF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268302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1CB7523-2577-4358-BF81-3E01080994A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1B50EC4-9B60-4A3E-AAB3-328375539C3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462464-CD5F-463B-8E32-440C9736E5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B38339-9071-4D46-A805-60847A982E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F832E8-F621-4DF6-98F5-35AA3D526C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BD5EF5-EEF9-488C-8BE1-88C0250ADEF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221767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8892295-C582-49E3-AF8C-43C322D847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04EB07-61C0-4525-87DA-369949C3B7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6024A1-E0D6-4009-8649-0C349CA7C39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9ECFBF-8663-4B19-9074-636665B5129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DE4A4A-1DC6-4B3D-B499-B44E9D1B09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DBD5EF5-EEF9-488C-8BE1-88C0250ADEF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70915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hf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11560" y="836712"/>
            <a:ext cx="8202488" cy="1524000"/>
          </a:xfrm>
        </p:spPr>
        <p:txBody>
          <a:bodyPr>
            <a:normAutofit/>
          </a:bodyPr>
          <a:lstStyle/>
          <a:p>
            <a:r>
              <a:rPr lang="en-GB" sz="3600" dirty="0">
                <a:latin typeface="+mn-lt"/>
              </a:rPr>
              <a:t>Survey exercise – </a:t>
            </a:r>
            <a:br>
              <a:rPr lang="en-GB" sz="3600" dirty="0">
                <a:latin typeface="+mn-lt"/>
              </a:rPr>
            </a:br>
            <a:r>
              <a:rPr lang="en-GB" sz="3600" dirty="0">
                <a:latin typeface="+mn-lt"/>
              </a:rPr>
              <a:t>review</a:t>
            </a:r>
          </a:p>
        </p:txBody>
      </p:sp>
    </p:spTree>
    <p:extLst>
      <p:ext uri="{BB962C8B-B14F-4D97-AF65-F5344CB8AC3E}">
        <p14:creationId xmlns:p14="http://schemas.microsoft.com/office/powerpoint/2010/main" val="14297543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1F83C9-6DA1-48AA-A887-23BA5D02A7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b="1" dirty="0">
                <a:solidFill>
                  <a:srgbClr val="FF0000"/>
                </a:solidFill>
                <a:latin typeface="+mn-lt"/>
              </a:rPr>
              <a:t>Good points</a:t>
            </a:r>
            <a:endParaRPr lang="en-GB" sz="2800" b="1" dirty="0">
              <a:solidFill>
                <a:srgbClr val="FF0000"/>
              </a:solidFill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3921CF-3FEB-4078-848F-EE2C223523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/>
              <a:t>Quite short.</a:t>
            </a:r>
          </a:p>
          <a:p>
            <a:pPr marL="0" indent="0">
              <a:buNone/>
            </a:pPr>
            <a:r>
              <a:rPr lang="en-US" sz="2400" dirty="0" err="1"/>
              <a:t>Organised</a:t>
            </a:r>
            <a:r>
              <a:rPr lang="en-US" sz="2400" dirty="0"/>
              <a:t> into sections.</a:t>
            </a:r>
          </a:p>
          <a:p>
            <a:pPr marL="0" indent="0">
              <a:buNone/>
            </a:pPr>
            <a:r>
              <a:rPr lang="en-US" sz="2400" dirty="0"/>
              <a:t>Most questions are quite clear.</a:t>
            </a:r>
          </a:p>
          <a:p>
            <a:pPr marL="0" indent="0">
              <a:buNone/>
            </a:pPr>
            <a:r>
              <a:rPr lang="en-US" sz="2400" dirty="0"/>
              <a:t>Sections 2-5 are intended to follow the conceptual framework, which is good. You should be able to justify your survey design.</a:t>
            </a:r>
          </a:p>
          <a:p>
            <a:pPr marL="0" indent="0">
              <a:buNone/>
            </a:pPr>
            <a:r>
              <a:rPr lang="en-US" sz="2400" dirty="0"/>
              <a:t>Good to have an open question at the end – although respondents might have been given more direction about what kind of information to put in it.</a:t>
            </a:r>
          </a:p>
          <a:p>
            <a:pPr marL="0" indent="0">
              <a:buNone/>
            </a:pPr>
            <a:endParaRPr lang="en-GB" sz="2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6B6279-6E03-428D-B6D1-2A1D965681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BD5EF5-EEF9-488C-8BE1-88C0250ADEFF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071381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A683FA-EE0A-40EA-9031-8CFB3A02C7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b="1" dirty="0">
                <a:solidFill>
                  <a:srgbClr val="FF0000"/>
                </a:solidFill>
                <a:latin typeface="+mn-lt"/>
              </a:rPr>
              <a:t>Problems/queries</a:t>
            </a:r>
            <a:endParaRPr lang="en-GB" sz="2800" b="1" dirty="0">
              <a:solidFill>
                <a:srgbClr val="FF0000"/>
              </a:solidFill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E17FF3-90D4-4293-B207-E8FE97B379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400" dirty="0"/>
              <a:t>a) Will the answers to this survey actually enable the researcher to answer their research questions?</a:t>
            </a:r>
          </a:p>
          <a:p>
            <a:pPr marL="0" indent="0">
              <a:buNone/>
            </a:pPr>
            <a:endParaRPr lang="en-US" sz="2400" dirty="0"/>
          </a:p>
          <a:p>
            <a:pPr marL="342900" lvl="0" indent="-342900" algn="just">
              <a:buFont typeface="+mj-lt"/>
              <a:buAutoNum type="arabicPeriod"/>
            </a:pPr>
            <a:r>
              <a:rPr lang="en-US" sz="2400" dirty="0">
                <a:effectLst/>
                <a:ea typeface="Times New Roman" panose="02020603050405020304" pitchFamily="18" charset="0"/>
              </a:rPr>
              <a:t>What factors influence the effectiveness of cross-functional teams in [this sector and this location]?</a:t>
            </a:r>
            <a:endParaRPr lang="en-GB" sz="2400" dirty="0">
              <a:effectLst/>
              <a:ea typeface="Times New Roman" panose="02020603050405020304" pitchFamily="18" charset="0"/>
            </a:endParaRPr>
          </a:p>
          <a:p>
            <a:pPr marL="342900" lvl="0" indent="-342900" algn="just">
              <a:buFont typeface="+mj-lt"/>
              <a:buAutoNum type="arabicPeriod"/>
            </a:pPr>
            <a:r>
              <a:rPr lang="en-US" sz="2400" dirty="0">
                <a:effectLst/>
                <a:ea typeface="Times New Roman" panose="02020603050405020304" pitchFamily="18" charset="0"/>
              </a:rPr>
              <a:t>Does the efficacy of cross-functional teams translate to value creation in [this sector]?</a:t>
            </a:r>
            <a:endParaRPr lang="en-GB" sz="2400" dirty="0">
              <a:effectLst/>
              <a:ea typeface="Times New Roman" panose="02020603050405020304" pitchFamily="18" charset="0"/>
            </a:endParaRPr>
          </a:p>
          <a:p>
            <a:pPr marL="342900" lvl="0" indent="-342900" algn="just">
              <a:buFont typeface="+mj-lt"/>
              <a:buAutoNum type="arabicPeriod"/>
            </a:pPr>
            <a:r>
              <a:rPr lang="en-US" sz="2400" dirty="0">
                <a:effectLst/>
                <a:ea typeface="Times New Roman" panose="02020603050405020304" pitchFamily="18" charset="0"/>
              </a:rPr>
              <a:t>What characteristics of cross-functional teams generate most value for stakeholders for [this sector and this location]?</a:t>
            </a:r>
            <a:endParaRPr lang="en-GB" sz="2400" dirty="0">
              <a:effectLst/>
              <a:ea typeface="Times New Roman" panose="02020603050405020304" pitchFamily="18" charset="0"/>
            </a:endParaRPr>
          </a:p>
          <a:p>
            <a:pPr marL="0" indent="0">
              <a:buNone/>
            </a:pP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4ACD93-8471-4F2A-9261-AF829D18B2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BD5EF5-EEF9-488C-8BE1-88C0250ADEFF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129283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A683FA-EE0A-40EA-9031-8CFB3A02C7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b="1" dirty="0">
                <a:solidFill>
                  <a:srgbClr val="FF0000"/>
                </a:solidFill>
                <a:latin typeface="+mn-lt"/>
              </a:rPr>
              <a:t>Problems/queries</a:t>
            </a:r>
            <a:endParaRPr lang="en-GB" sz="2800" b="1" dirty="0">
              <a:solidFill>
                <a:srgbClr val="FF0000"/>
              </a:solidFill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E17FF3-90D4-4293-B207-E8FE97B379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/>
              <a:t>b) What if a respondent is a member of more than one CFT? Suppose one CFT works well and the other doesn’t. How do they answer the questions?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/>
              <a:t>c) CFTs are not defined in the questionnaire – what if someone doesn’t know what they are?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/>
              <a:t>d) In sections 4 and 5, the ‘cross functional’ character of the teams is not mentioned. Might people answer in relation to in-department teams? </a:t>
            </a: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4ACD93-8471-4F2A-9261-AF829D18B2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BD5EF5-EEF9-488C-8BE1-88C0250ADEFF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07632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A683FA-EE0A-40EA-9031-8CFB3A02C7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b="1" dirty="0">
                <a:solidFill>
                  <a:srgbClr val="FF0000"/>
                </a:solidFill>
                <a:latin typeface="+mn-lt"/>
              </a:rPr>
              <a:t>Smaller points</a:t>
            </a:r>
            <a:endParaRPr lang="en-GB" sz="2800" b="1" dirty="0">
              <a:solidFill>
                <a:srgbClr val="FF0000"/>
              </a:solidFill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E17FF3-90D4-4293-B207-E8FE97B379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/>
              <a:t>It can be good to get demographic information, but these questions are usually placed at the end of a questionnaire, not the beginning</a:t>
            </a:r>
          </a:p>
          <a:p>
            <a:pPr marL="0" indent="0">
              <a:buNone/>
            </a:pPr>
            <a:r>
              <a:rPr lang="en-US" sz="2400" dirty="0"/>
              <a:t>On gender (Q1.1) </a:t>
            </a:r>
            <a:r>
              <a:rPr lang="en-GB" sz="2400" dirty="0"/>
              <a:t>in the UK, it would be usual to have more answer options, and/or to have an option of ‘prefer not to say’</a:t>
            </a:r>
          </a:p>
          <a:p>
            <a:pPr marL="0" indent="0">
              <a:buNone/>
            </a:pPr>
            <a:r>
              <a:rPr lang="en-GB" sz="2400" dirty="0"/>
              <a:t>Note the overlap of answers in 1.3 and 1.4 – what does someone tick if they have been working for 5 years?</a:t>
            </a:r>
          </a:p>
          <a:p>
            <a:pPr marL="0" indent="0">
              <a:buNone/>
            </a:pPr>
            <a:r>
              <a:rPr lang="en-GB" sz="2400" dirty="0"/>
              <a:t>How do you answer Q1.6?</a:t>
            </a:r>
          </a:p>
          <a:p>
            <a:pPr marL="0" indent="0">
              <a:buNone/>
            </a:pPr>
            <a:r>
              <a:rPr lang="en-GB" sz="2400" dirty="0"/>
              <a:t>What is the value of 2.1? 2.4?</a:t>
            </a:r>
          </a:p>
          <a:p>
            <a:pPr marL="0" indent="0">
              <a:buNone/>
            </a:pPr>
            <a:r>
              <a:rPr lang="en-GB" sz="2400" dirty="0"/>
              <a:t>What is meant by diversity? (2.5)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4ACD93-8471-4F2A-9261-AF829D18B2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BD5EF5-EEF9-488C-8BE1-88C0250ADEFF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485724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7828</TotalTime>
  <Words>337</Words>
  <Application>Microsoft Office PowerPoint</Application>
  <PresentationFormat>On-screen Show (4:3)</PresentationFormat>
  <Paragraphs>31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Survey exercise –  review</vt:lpstr>
      <vt:lpstr>Good points</vt:lpstr>
      <vt:lpstr>Problems/queries</vt:lpstr>
      <vt:lpstr>Problems/queries</vt:lpstr>
      <vt:lpstr>Smaller points</vt:lpstr>
    </vt:vector>
  </TitlesOfParts>
  <Company>York St John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n.waehning</dc:creator>
  <cp:lastModifiedBy>George Boak</cp:lastModifiedBy>
  <cp:revision>151</cp:revision>
  <dcterms:created xsi:type="dcterms:W3CDTF">2014-10-08T09:40:28Z</dcterms:created>
  <dcterms:modified xsi:type="dcterms:W3CDTF">2021-02-04T12:21:15Z</dcterms:modified>
</cp:coreProperties>
</file>